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12188952" cy="173736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FE0D6"/>
                </a:solidFill>
                <a:latin typeface="Calibri"/>
              </a:rPr>
              <a:t>ВЫПУСКНАЯ КВАЛИФИКАЦИОННАЯ РАБОТА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Визуализация науки на основе метаданных
публикаций и журналов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CFE0D6"/>
                </a:solidFill>
                <a:latin typeface="Calibri"/>
              </a:rPr>
              <a:t>OpenAlex  ·  PostgreSQL  ·  Python  ·  Plotly  ·  SVG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Цель и задачи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3613F"/>
                </a:solidFill>
                <a:latin typeface="Calibri"/>
              </a:rPr>
              <a:t>Цель: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22017"/>
                </a:solidFill>
                <a:latin typeface="Calibri"/>
              </a:rPr>
              <a:t>Разработать веб-приложение для анализа и интерактивной
визуализации научных публикаций на основе открытых метаданных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5146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3613F"/>
                </a:solidFill>
                <a:latin typeface="Calibri"/>
              </a:rPr>
              <a:t>Задачи: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26080"/>
            <a:ext cx="112471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600" b="0" i="0">
                <a:solidFill>
                  <a:srgbClr val="122017"/>
                </a:solidFill>
                <a:latin typeface="Calibri"/>
              </a:rPr>
              <a:t>• Загрузить метаданные 10 000 публикаций из API OpenAlex</a:t>
            </a:r>
          </a:p>
          <a:p>
            <a:pPr algn="l">
              <a:spcBef>
                <a:spcPts val="400"/>
              </a:spcBef>
            </a:pPr>
            <a:r>
              <a:rPr sz="1600" b="0" i="0">
                <a:solidFill>
                  <a:srgbClr val="122017"/>
                </a:solidFill>
                <a:latin typeface="Calibri"/>
              </a:rPr>
              <a:t>  • Спроектировать базу данных PostgreSQL (7 таблиц)</a:t>
            </a:r>
          </a:p>
          <a:p>
            <a:pPr algn="l">
              <a:spcBef>
                <a:spcPts val="400"/>
              </a:spcBef>
            </a:pPr>
            <a:r>
              <a:rPr sz="1600" b="0" i="0">
                <a:solidFill>
                  <a:srgbClr val="122017"/>
                </a:solidFill>
                <a:latin typeface="Calibri"/>
              </a:rPr>
              <a:t>  • Геокодировать аффилиации авторов</a:t>
            </a:r>
          </a:p>
          <a:p>
            <a:pPr algn="l">
              <a:spcBef>
                <a:spcPts val="400"/>
              </a:spcBef>
            </a:pPr>
            <a:r>
              <a:rPr sz="1600" b="0" i="0">
                <a:solidFill>
                  <a:srgbClr val="122017"/>
                </a:solidFill>
                <a:latin typeface="Calibri"/>
              </a:rPr>
              <a:t>  • Реализовать интерактивную карту (Plotly)</a:t>
            </a:r>
          </a:p>
          <a:p>
            <a:pPr algn="l">
              <a:spcBef>
                <a:spcPts val="400"/>
              </a:spcBef>
            </a:pPr>
            <a:r>
              <a:rPr sz="1600" b="0" i="0">
                <a:solidFill>
                  <a:srgbClr val="122017"/>
                </a:solidFill>
                <a:latin typeface="Calibri"/>
              </a:rPr>
              <a:t>  • Реализовать граф связей (SVG, 5 режимов)</a:t>
            </a:r>
          </a:p>
          <a:p>
            <a:pPr algn="l">
              <a:spcBef>
                <a:spcPts val="400"/>
              </a:spcBef>
            </a:pPr>
            <a:r>
              <a:rPr sz="1600" b="0" i="0">
                <a:solidFill>
                  <a:srgbClr val="122017"/>
                </a:solidFill>
                <a:latin typeface="Calibri"/>
              </a:rPr>
              <a:t>  • Разработать REST API и браузерный интерфейс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Актуальность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250 млн+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научных работ
в открытом доступе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9184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×2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каждые 9 лет
удваивается объём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публикаций
с 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9 994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статей
загружено в БД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39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22017"/>
                </a:solidFill>
                <a:latin typeface="Calibri"/>
              </a:rPr>
              <a:t>Традиционный поиск по ключевым словам находит конкретную статью,
но не отвечает на более широкие вопросы: кто с кем сотрудничает,
из каких стран приходят исследования, как менялась тематика со временем.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3035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3613F"/>
                </a:solidFill>
                <a:latin typeface="Calibri"/>
              </a:rPr>
              <a:t>Карта и граф превращают тысячи строк метаданных в наглядный научный ландшафт.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Архитектура системы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OpenAlex API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scripts/import.py
→ article_data.json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79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4612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7 таблиц
9 994 публикаций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Python-сервер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220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openalex_server.py
REST API + gzip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5256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5256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Браузер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5256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9828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VKR1.html
Карта · Граф · Фильтры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37033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Геокодирование аффилиаций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416052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Этап 1: OpenAlex /institutions API — батчи по 100 ID → 78% покрытие
Этап 2: Photon (OpenStreetMap) по строке названия → итого 80,8%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370332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Оптимизация производительности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4160520"/>
            <a:ext cx="5669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• requestAnimationFrame — карта и граф не блокируют UI
• ijson — потоковое чтение 200 МБ JSON без MemoryError
• gzip-сжатие ответов API — объём меньше в 5–10 раз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База данных PostgreSQL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7772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journals  </a:t>
            </a:r>
            <a:r>
              <a:rPr sz="1400">
                <a:solidFill>
                  <a:srgbClr val="122017"/>
                </a:solidFill>
                <a:latin typeface="Calibri"/>
              </a:rPr>
              <a:t>— Научные журналы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openalex_id, name, issn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publications  </a:t>
            </a:r>
            <a:r>
              <a:rPr sz="1400">
                <a:solidFill>
                  <a:srgbClr val="122017"/>
                </a:solidFill>
                <a:latin typeface="Calibri"/>
              </a:rPr>
              <a:t>— Публикации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title, doi, year, abstract, journal_id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persons  </a:t>
            </a:r>
            <a:r>
              <a:rPr sz="1400">
                <a:solidFill>
                  <a:srgbClr val="122017"/>
                </a:solidFill>
                <a:latin typeface="Calibri"/>
              </a:rPr>
              <a:t>— Авторы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openalex_id, full_name, orcid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affiliations  </a:t>
            </a:r>
            <a:r>
              <a:rPr sz="1400">
                <a:solidFill>
                  <a:srgbClr val="122017"/>
                </a:solidFill>
                <a:latin typeface="Calibri"/>
              </a:rPr>
              <a:t>— Организации + координаты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institution, latitude, longitude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publication_authors  </a:t>
            </a:r>
            <a:r>
              <a:rPr sz="1400">
                <a:solidFill>
                  <a:srgbClr val="122017"/>
                </a:solidFill>
                <a:latin typeface="Calibri"/>
              </a:rPr>
              <a:t>— Публикация ↔ Автор (N:M)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publication_id, person_id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publication_topics  </a:t>
            </a:r>
            <a:r>
              <a:rPr sz="1400">
                <a:solidFill>
                  <a:srgbClr val="122017"/>
                </a:solidFill>
                <a:latin typeface="Calibri"/>
              </a:rPr>
              <a:t>— Тематические классификаторы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topic_name, score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publication_keywords  </a:t>
            </a:r>
            <a:r>
              <a:rPr sz="1400">
                <a:solidFill>
                  <a:srgbClr val="122017"/>
                </a:solidFill>
                <a:latin typeface="Calibri"/>
              </a:rPr>
              <a:t>— Ключевые слова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keyword_name, score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143000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Конфигурация: pg_config.py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1600200"/>
            <a:ext cx="3566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22017"/>
                </a:solidFill>
                <a:latin typeface="Calibri"/>
              </a:rPr>
              <a:t>PG_CONFIG = {
  "host": "localhost",
  "port": 5432,
  "dbname": "openalex_db",
  "client_encoding": "utf8"
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370332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77166"/>
                </a:solidFill>
                <a:latin typeface="Calibri"/>
              </a:rPr>
              <a:t>client_encoding: utf8 — обязателен
на Windows (иначе UnicodeDecodeError)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989320"/>
            <a:ext cx="7772400" cy="5486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03504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Загрузка: ijson (потоковое чтение 200 МБ) + SAVEPOINT при конфликтах DOI → 9 994 публикаций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Географическая привязка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539496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Этап 1 — OpenAlex 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91640"/>
            <a:ext cx="52120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GET /institutions?filter=ids.openalex:I1|I2|...
• Батчи по 100 institution_id
• Пауза 0,5 сек между запросами
• Кэш: geo_cache.json
Результат: 7 822 / 9 994 публикаций (78%)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1828800"/>
            <a:ext cx="822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77166"/>
                </a:solidFill>
                <a:latin typeface="Calibri"/>
              </a:rPr>
              <a:t>→
не хватает
22%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0" y="1097280"/>
            <a:ext cx="502920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0" y="118872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Этап 2 — Photon (OpenStreetMap)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691640"/>
            <a:ext cx="48463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Для строк без institution_id:
GET photon.komoot.io/api/?q=&lt;название&gt;
Стратегия сокращения строки:
полная → последние 3 части → 2 части
Координаты GeoJSON: [lon, lat] → переставить
Результат: +255 публикаций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749039"/>
            <a:ext cx="11430000" cy="64008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822191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Итог: 8 077 из 9 994 публикаций с координатами — 80,8% покрытие карты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5262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77166"/>
                </a:solidFill>
                <a:latin typeface="Calibri"/>
              </a:rPr>
              <a:t>Примечание: Nominatim заблокировал IP (HTTP 403) после нескольких прогонов — переключились на Photon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1663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Приоритизация: первыми обрабатываются организации, которые «разблокируют» наибольшее число публикаций без координат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Граф связей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Как построен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• Данные уже в браузере — сервер не нужен
• Рисуется в SVG без внешних библиотек
• Колоночная раскладка: каждый тип узла — своя колонка
• Высота SVG = 150 + кол-во узлов × 68px
• Рёбра — кривые Безье между центрами узлов
• Клик на статью → подсветка + детали в панели
• Лимит: 70 статей одновременно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09728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5 режимов отображения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554480"/>
            <a:ext cx="5669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Полный граф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 → Автор → Аффилиация</a:t>
            </a:r>
          </a:p>
          <a:p>
            <a:pPr>
              <a:spcBef>
                <a:spcPts val="5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Годы + журналы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</a:t>
            </a:r>
          </a:p>
          <a:p>
            <a:pPr>
              <a:spcBef>
                <a:spcPts val="5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Авторы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Автор</a:t>
            </a:r>
          </a:p>
          <a:p>
            <a:pPr>
              <a:spcBef>
                <a:spcPts val="5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Аффилиации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Аффилиация</a:t>
            </a:r>
          </a:p>
          <a:p>
            <a:pPr>
              <a:spcBef>
                <a:spcPts val="5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Похожие статьи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— Статья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937760"/>
            <a:ext cx="114300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5029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Типы узлов: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8880" y="5074920"/>
            <a:ext cx="1645920" cy="4572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6888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Год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5074920"/>
            <a:ext cx="1645920" cy="4572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Журнал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5074920"/>
            <a:ext cx="1645920" cy="457200"/>
          </a:xfrm>
          <a:prstGeom prst="rect">
            <a:avLst/>
          </a:prstGeom>
          <a:solidFill>
            <a:srgbClr val="577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Статья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5074920"/>
            <a:ext cx="1645920" cy="457200"/>
          </a:xfrm>
          <a:prstGeom prst="rect">
            <a:avLst/>
          </a:prstGeom>
          <a:solidFill>
            <a:srgbClr val="C1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Автор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49840" y="5074920"/>
            <a:ext cx="1645920" cy="457200"/>
          </a:xfrm>
          <a:prstGeom prst="rect">
            <a:avLst/>
          </a:prstGeom>
          <a:solidFill>
            <a:srgbClr val="8BB2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Аффилиация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Поиск похожих статей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Алгоритм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303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22017"/>
                </a:solidFill>
                <a:latin typeface="Calibri"/>
              </a:rPr>
              <a:t>Для каждой выбранной статьи перебираются все остальные.
Считается балл сходства по 5 признакам:
score =
  общих авторов × 4
+ общих тем × 3
+ общих ключевых слов × 2
+ общих аффилиаций × 2
+ одинаковый журнал → +2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1097280"/>
            <a:ext cx="5943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b="1" sz="1800">
                <a:solidFill>
                  <a:srgbClr val="23613F"/>
                </a:solidFill>
                <a:latin typeface="Calibri"/>
              </a:rPr>
              <a:t>× 4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авторы — Один автор — тематически связанные работы</a:t>
            </a:r>
          </a:p>
          <a:p>
            <a:pPr>
              <a:spcBef>
                <a:spcPts val="600"/>
              </a:spcBef>
            </a:pPr>
            <a:r>
              <a:rPr b="1" sz="1800">
                <a:solidFill>
                  <a:srgbClr val="23613F"/>
                </a:solidFill>
                <a:latin typeface="Calibri"/>
              </a:rPr>
              <a:t>× 3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темы — Главный признак содержательной близости</a:t>
            </a:r>
          </a:p>
          <a:p>
            <a:pPr>
              <a:spcBef>
                <a:spcPts val="600"/>
              </a:spcBef>
            </a:pPr>
            <a:r>
              <a:rPr b="1" sz="1800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Ключевые слова — Уточняющий признак</a:t>
            </a:r>
          </a:p>
          <a:p>
            <a:pPr>
              <a:spcBef>
                <a:spcPts val="600"/>
              </a:spcBef>
            </a:pPr>
            <a:r>
              <a:rPr b="1" sz="1800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Аффилиации — Соавторство из одной организации</a:t>
            </a:r>
          </a:p>
          <a:p>
            <a:pPr>
              <a:spcBef>
                <a:spcPts val="600"/>
              </a:spcBef>
            </a:pPr>
            <a:r>
              <a:rPr b="1" sz="1800">
                <a:solidFill>
                  <a:srgbClr val="23613F"/>
                </a:solidFill>
                <a:latin typeface="Calibri"/>
              </a:rPr>
              <a:t>+2  </a:t>
            </a:r>
            <a:r>
              <a:rPr sz="1300">
                <a:solidFill>
                  <a:srgbClr val="122017"/>
                </a:solidFill>
                <a:latin typeface="Calibri"/>
              </a:rPr>
              <a:t>Один журнал — Публикуются в одном издании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5120640"/>
            <a:ext cx="114300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212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Нормализация: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577840"/>
            <a:ext cx="7315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Перед сравнением — lowercase + trim пробелов.
«MIT» и «mit» = одно и то же. score = 0 → статья не показывается.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5212080"/>
            <a:ext cx="3931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Где видно:
Правая панель + режим графа «Похожие статьи»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Веб-интерфейс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Левая панель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Фильтры (год, журнал,
автор, аффилиация)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Список статей (до 200)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Кнопки: Карта / Граф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База данных (внизу)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Центр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Карта — Plotly scatter_geo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Граф — SVG, 5 режимов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Переключение кнопками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Правая панель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Детали статьи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Авторы, аффилиации,
темы, ключевые слова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Аннотация (по запросу)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Похожие статьи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89788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77166"/>
                </a:solidFill>
                <a:latin typeface="Calibri"/>
              </a:rPr>
              <a:t>Фасетные фильтры: каждый список показывает только доступные варианты с учётом остальных фильтров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589788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3613F"/>
                </a:solidFill>
                <a:latin typeface="Calibri"/>
              </a:rPr>
              <a:t>Тёмная / светлая тема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Проблемы и решения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114300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Файл 201 МБ:  </a:t>
            </a:r>
            <a:r>
              <a:rPr sz="1400">
                <a:solidFill>
                  <a:srgbClr val="122017"/>
                </a:solidFill>
                <a:latin typeface="Calibri"/>
              </a:rPr>
              <a:t>GitHub отклонял push  →  git filter-branch + .gitignore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MemoryError:  </a:t>
            </a:r>
            <a:r>
              <a:rPr sz="1400">
                <a:solidFill>
                  <a:srgbClr val="122017"/>
                </a:solidFill>
                <a:latin typeface="Calibri"/>
              </a:rPr>
              <a:t>JSON не помещался в RAM  →  ijson — потоковое чтение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Браузер обрывал соединение:  </a:t>
            </a:r>
            <a:r>
              <a:rPr sz="1400">
                <a:solidFill>
                  <a:srgbClr val="122017"/>
                </a:solidFill>
                <a:latin typeface="Calibri"/>
              </a:rPr>
              <a:t>Большой JSON-ответ API  →  gzip-сжатие в сервере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Страница зависала:  </a:t>
            </a:r>
            <a:r>
              <a:rPr sz="1400">
                <a:solidFill>
                  <a:srgbClr val="122017"/>
                </a:solidFill>
                <a:latin typeface="Calibri"/>
              </a:rPr>
              <a:t>O(n²) подсчёт связей  →  Вычисление только по запросу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IP заблокирован:  </a:t>
            </a:r>
            <a:r>
              <a:rPr sz="1400">
                <a:solidFill>
                  <a:srgbClr val="122017"/>
                </a:solidFill>
                <a:latin typeface="Calibri"/>
              </a:rPr>
              <a:t>Nominatim HTTP 403  →  Переход на Photon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UnicodeDecodeError:  </a:t>
            </a:r>
            <a:r>
              <a:rPr sz="1400">
                <a:solidFill>
                  <a:srgbClr val="122017"/>
                </a:solidFill>
                <a:latin typeface="Calibri"/>
              </a:rPr>
              <a:t>cp1251 на Windows  →  client_encoding: utf8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Нет места на диске:  </a:t>
            </a:r>
            <a:r>
              <a:rPr sz="1400">
                <a:solidFill>
                  <a:srgbClr val="122017"/>
                </a:solidFill>
                <a:latin typeface="Calibri"/>
              </a:rPr>
              <a:t>git операции падали  →  Очистка %temp%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Результаты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9 994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
загружено из OpenAlex</a:t>
            </a:r>
          </a:p>
        </p:txBody>
      </p:sp>
      <p:sp>
        <p:nvSpPr>
          <p:cNvPr id="8" name="Rectangle 7"/>
          <p:cNvSpPr/>
          <p:nvPr/>
        </p:nvSpPr>
        <p:spPr>
          <a:xfrm>
            <a:off x="269747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199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7 таблиц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199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реляционная БД
PostgreSQL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7492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 с
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6091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режимов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графа связей
(SVG, без библиотек)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9264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3836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признаков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3836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алгоритм поиска
похожих статей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47472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Разработанная система позволяет перейти от плоского списка статей
к структурированному представлению научного ландшафта:
карте с географией исследований и графу авторских и тематических связей.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029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FE0D6"/>
                </a:solidFill>
                <a:latin typeface="Calibri"/>
              </a:rPr>
              <a:t>REST API  ·  Фасетные фильтры  ·  Тёмная тема  ·  gzip-сжатие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5943600"/>
            <a:ext cx="12188952" cy="9144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03504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Веб-приложение: http://127.0.0.1:8000  |  Запуск: python openalex_server.py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