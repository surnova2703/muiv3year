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1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1" name="pb11"/>
          <p:cNvSpPr txBox="1"/>
          <p:nvPr/>
        </p:nvSpPr>
        <p:spPr>
          <a:xfrm>
            <a:off x="0" y="6660000"/>
            <a:ext cx="870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2" name="pb12"/>
          <p:cNvSpPr txBox="1"/>
          <p:nvPr/>
        </p:nvSpPr>
        <p:spPr>
          <a:xfrm>
            <a:off x="330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3" name="pbn13"/>
          <p:cNvSpPr txBox="1"/>
          <p:nvPr/>
        </p:nvSpPr>
        <p:spPr>
          <a:xfrm>
            <a:off x="222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2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1" name="pb21"/>
          <p:cNvSpPr txBox="1"/>
          <p:nvPr/>
        </p:nvSpPr>
        <p:spPr>
          <a:xfrm>
            <a:off x="0" y="6660000"/>
            <a:ext cx="1741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2" name="pb22"/>
          <p:cNvSpPr txBox="1"/>
          <p:nvPr/>
        </p:nvSpPr>
        <p:spPr>
          <a:xfrm>
            <a:off x="1201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3" name="pbn23"/>
          <p:cNvSpPr txBox="1"/>
          <p:nvPr/>
        </p:nvSpPr>
        <p:spPr>
          <a:xfrm>
            <a:off x="1093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1" name="pb31"/>
          <p:cNvSpPr txBox="1"/>
          <p:nvPr/>
        </p:nvSpPr>
        <p:spPr>
          <a:xfrm>
            <a:off x="0" y="6660000"/>
            <a:ext cx="2612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2" name="pb32"/>
          <p:cNvSpPr txBox="1"/>
          <p:nvPr/>
        </p:nvSpPr>
        <p:spPr>
          <a:xfrm>
            <a:off x="2072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3" name="pbn33"/>
          <p:cNvSpPr txBox="1"/>
          <p:nvPr/>
        </p:nvSpPr>
        <p:spPr>
          <a:xfrm>
            <a:off x="1964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2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1" name="pb41"/>
          <p:cNvSpPr txBox="1"/>
          <p:nvPr/>
        </p:nvSpPr>
        <p:spPr>
          <a:xfrm>
            <a:off x="0" y="6660000"/>
            <a:ext cx="3483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2" name="pb42"/>
          <p:cNvSpPr txBox="1"/>
          <p:nvPr/>
        </p:nvSpPr>
        <p:spPr>
          <a:xfrm>
            <a:off x="2943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43" name="pbn43"/>
          <p:cNvSpPr txBox="1"/>
          <p:nvPr/>
        </p:nvSpPr>
        <p:spPr>
          <a:xfrm>
            <a:off x="2835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1" name="pb51"/>
          <p:cNvSpPr txBox="1"/>
          <p:nvPr/>
        </p:nvSpPr>
        <p:spPr>
          <a:xfrm>
            <a:off x="0" y="6660000"/>
            <a:ext cx="4354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2" name="pb52"/>
          <p:cNvSpPr txBox="1"/>
          <p:nvPr/>
        </p:nvSpPr>
        <p:spPr>
          <a:xfrm>
            <a:off x="3814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53" name="pbn53"/>
          <p:cNvSpPr txBox="1"/>
          <p:nvPr/>
        </p:nvSpPr>
        <p:spPr>
          <a:xfrm>
            <a:off x="3706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060" name="pb6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1" name="pb61"/>
          <p:cNvSpPr txBox="1"/>
          <p:nvPr/>
        </p:nvSpPr>
        <p:spPr>
          <a:xfrm>
            <a:off x="0" y="6660000"/>
            <a:ext cx="5225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2" name="pb62"/>
          <p:cNvSpPr txBox="1"/>
          <p:nvPr/>
        </p:nvSpPr>
        <p:spPr>
          <a:xfrm>
            <a:off x="4685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63" name="pbn63"/>
          <p:cNvSpPr txBox="1"/>
          <p:nvPr/>
        </p:nvSpPr>
        <p:spPr>
          <a:xfrm>
            <a:off x="4577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1" name="pb71"/>
          <p:cNvSpPr txBox="1"/>
          <p:nvPr/>
        </p:nvSpPr>
        <p:spPr>
          <a:xfrm>
            <a:off x="0" y="6660000"/>
            <a:ext cx="609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2" name="pb7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73" name="pbn7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  <p:sp>
        <p:nvSpPr>
          <p:cNvPr id="2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1" name="pb91"/>
          <p:cNvSpPr txBox="1"/>
          <p:nvPr/>
        </p:nvSpPr>
        <p:spPr>
          <a:xfrm>
            <a:off x="0" y="6660000"/>
            <a:ext cx="7837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2" name="pb92"/>
          <p:cNvSpPr txBox="1"/>
          <p:nvPr/>
        </p:nvSpPr>
        <p:spPr>
          <a:xfrm>
            <a:off x="7297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93" name="pbn93"/>
          <p:cNvSpPr txBox="1"/>
          <p:nvPr/>
        </p:nvSpPr>
        <p:spPr>
          <a:xfrm>
            <a:off x="7189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ACCFF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2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1" name="pb101"/>
          <p:cNvSpPr txBox="1"/>
          <p:nvPr/>
        </p:nvSpPr>
        <p:spPr>
          <a:xfrm>
            <a:off x="0" y="6660000"/>
            <a:ext cx="8708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2" name="pb102"/>
          <p:cNvSpPr txBox="1"/>
          <p:nvPr/>
        </p:nvSpPr>
        <p:spPr>
          <a:xfrm>
            <a:off x="8168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03" name="pbn103"/>
          <p:cNvSpPr txBox="1"/>
          <p:nvPr/>
        </p:nvSpPr>
        <p:spPr>
          <a:xfrm>
            <a:off x="8060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  <p:sp>
        <p:nvSpPr>
          <p:cNvPr id="2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1" name="pb111"/>
          <p:cNvSpPr txBox="1"/>
          <p:nvPr/>
        </p:nvSpPr>
        <p:spPr>
          <a:xfrm>
            <a:off x="0" y="6660000"/>
            <a:ext cx="9579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2" name="pb112"/>
          <p:cNvSpPr txBox="1"/>
          <p:nvPr/>
        </p:nvSpPr>
        <p:spPr>
          <a:xfrm>
            <a:off x="9039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13" name="pbn113"/>
          <p:cNvSpPr txBox="1"/>
          <p:nvPr/>
        </p:nvSpPr>
        <p:spPr>
          <a:xfrm>
            <a:off x="8931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2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1" name="pb121"/>
          <p:cNvSpPr txBox="1"/>
          <p:nvPr/>
        </p:nvSpPr>
        <p:spPr>
          <a:xfrm>
            <a:off x="0" y="6660000"/>
            <a:ext cx="10450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2" name="pb122"/>
          <p:cNvSpPr txBox="1"/>
          <p:nvPr/>
        </p:nvSpPr>
        <p:spPr>
          <a:xfrm>
            <a:off x="9910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23" name="pbn123"/>
          <p:cNvSpPr txBox="1"/>
          <p:nvPr/>
        </p:nvSpPr>
        <p:spPr>
          <a:xfrm>
            <a:off x="9802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2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1" name="pb131"/>
          <p:cNvSpPr txBox="1"/>
          <p:nvPr/>
        </p:nvSpPr>
        <p:spPr>
          <a:xfrm>
            <a:off x="0" y="6660000"/>
            <a:ext cx="11321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2" name="pb132"/>
          <p:cNvSpPr txBox="1"/>
          <p:nvPr/>
        </p:nvSpPr>
        <p:spPr>
          <a:xfrm>
            <a:off x="10781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33" name="pbn133"/>
          <p:cNvSpPr txBox="1"/>
          <p:nvPr/>
        </p:nvSpPr>
        <p:spPr>
          <a:xfrm>
            <a:off x="10673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27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27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54360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54360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7D3C98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7D3C98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93511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935116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8AACC"/>
                </a:solidFill>
              </a:rPr>
              <a:t>1 : N</a:t>
            </a:r>
          </a:p>
        </p:txBody>
      </p:sp>
      <p:sp>
        <p:nvSpPr>
          <p:cNvPr id="2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1" name="pb81"/>
          <p:cNvSpPr txBox="1"/>
          <p:nvPr/>
        </p:nvSpPr>
        <p:spPr>
          <a:xfrm>
            <a:off x="0" y="6660000"/>
            <a:ext cx="6966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2" name="pb82"/>
          <p:cNvSpPr txBox="1"/>
          <p:nvPr/>
        </p:nvSpPr>
        <p:spPr>
          <a:xfrm>
            <a:off x="6426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83" name="pbn83"/>
          <p:cNvSpPr txBox="1"/>
          <p:nvPr/>
        </p:nvSpPr>
        <p:spPr>
          <a:xfrm>
            <a:off x="6318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Результаты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60000" y="1152000"/>
            <a:ext cx="2808000" cy="208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9 994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публикаций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загружено из OpenAlex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311999" y="1152000"/>
            <a:ext cx="2808000" cy="2088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419999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7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3419999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таблиц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в базе данных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6263999" y="1152000"/>
            <a:ext cx="2808000" cy="208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6371999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80,8%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6371999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публикаций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с геокоординатами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(порог — 75%)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9216000" y="1152000"/>
            <a:ext cx="2808000" cy="2088000"/>
          </a:xfrm>
          <a:prstGeom prst="rect">
            <a:avLst/>
          </a:prstGeom>
          <a:solidFill>
            <a:srgbClr val="7D3C98"/>
          </a:solidFill>
          <a:ln>
            <a:noFill/>
          </a:ln>
        </p:spPr>
        <p:txBody>
          <a:bodyPr wrap="square" anchor="ctr"/>
          <a:lstStyle/>
          <a:p>
            <a:pPr algn="l"/>
            <a:r>
              <a:rPr lang="ru-RU" sz="1400" b="0">
                <a:solidFill>
                  <a:srgbClr val="FFFFFF"/>
                </a:solidFill>
              </a:rPr>
              <a:t/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9324000" y="1296000"/>
            <a:ext cx="2592000" cy="86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3600" b="1">
                <a:solidFill>
                  <a:srgbClr val="FFFFFF"/>
                </a:solidFill>
              </a:rPr>
              <a:t>5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9324000" y="2160000"/>
            <a:ext cx="2592000" cy="1007999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0">
                <a:solidFill>
                  <a:srgbClr val="CFE0D6"/>
                </a:solidFill>
              </a:rPr>
              <a:t>режимов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отображения</a:t>
            </a:r>
            <a:br>
              <a:rPr lang="ru-RU"/>
            </a:br>
            <a:r>
              <a:rPr lang="ru-RU" sz="1200" b="0">
                <a:solidFill>
                  <a:srgbClr val="CFE0D6"/>
                </a:solidFill>
              </a:rPr>
              <a:t>в графе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3528000"/>
            <a:ext cx="11232000" cy="126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1300" b="0">
                <a:solidFill>
                  <a:srgbClr val="E8F5ED"/>
                </a:solidFill>
              </a:rPr>
              <a:t>Система переводит плоский список статей в два визуальных представления — карту с географией исследований и граф с авторскими связями.</a:t>
            </a:r>
            <a:br>
              <a:rPr lang="ru-RU"/>
            </a:br>
            <a:r>
              <a:rPr lang="ru-RU" sz="1300" b="0">
                <a:solidFill>
                  <a:srgbClr val="E8F5ED"/>
                </a:solidFill>
              </a:rPr>
              <a:t>В отличие от рассмотренных аналогов (VOSviewer, Connected Papers, ResearchRabbit) сочетает карту, граф и поиск похожих в одной браузерной среде без установки ПО.</a:t>
            </a:r>
            <a:br>
              <a:rPr lang="ru-RU"/>
            </a:br>
          </a:p>
        </p:txBody>
      </p:sp>
      <p:sp>
        <p:nvSpPr>
          <p:cNvPr id="99" name="TextBox"/>
          <p:cNvSpPr txBox="1"/>
          <p:nvPr/>
        </p:nvSpPr>
        <p:spPr>
          <a:xfrm>
            <a:off x="468000" y="4896000"/>
            <a:ext cx="11232000" cy="792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1200" b="0">
                <a:solidFill>
                  <a:srgbClr val="8BB29A"/>
                </a:solidFill>
              </a:rPr>
              <a:t>Алгоритм поиска похожих статей: авторы (×4) · темы (×3) · ключевые слова (×2) · аффилиации (×2) · журнал (×2)</a:t>
            </a:r>
            <a:br>
              <a:rPr lang="ru-RU"/>
            </a:br>
          </a:p>
        </p:txBody>
      </p:sp>
      <p:sp>
        <p:nvSpPr>
          <p:cNvPr id="2140" name="pb1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41" name="pb14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42" name="pb14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43" name="pbn14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