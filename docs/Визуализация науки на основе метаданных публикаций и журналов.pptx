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70" r:id="rId20"/>
    <p:sldId id="274" r:id="rId21"/>
    <p:sldId id="257" r:id="rId4"/>
    <p:sldId id="269" r:id="rId5"/>
    <p:sldId id="259" r:id="rId7"/>
    <p:sldId id="260" r:id="rId8"/>
    <p:sldId id="271" r:id="rId6"/>
    <p:sldId id="261" r:id="rId9"/>
    <p:sldId id="262" r:id="rId10"/>
    <p:sldId id="263" r:id="rId11"/>
    <p:sldId id="264" r:id="rId12"/>
    <p:sldId id="265" r:id="rId13"/>
    <p:sldId id="272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700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5.xml"/><Relationship Id="rId5" Type="http://schemas.openxmlformats.org/officeDocument/2006/relationships/slide" Target="slides/slide6.xml"/><Relationship Id="rId6" Type="http://schemas.openxmlformats.org/officeDocument/2006/relationships/slide" Target="slides/slide9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200" b="1"/>
              <a:t>Охват геокодирования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Публикации (%)</c:v>
                </c:pt>
              </c:strCache>
            </c:strRef>
          </c:tx>
          <c:dPt>
            <c:idx val="0"/>
            <c:spPr>
              <a:solidFill>
                <a:srgbClr val="276FBF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BDC3C7"/>
              </a:solidFill>
            </c:spPr>
          </c:dPt>
          <c:cat>
            <c:strRef>
              <c:f>Sheet1!$A$2:$A$4</c:f>
              <c:strCache>
                <c:ptCount val="3"/>
                <c:pt idx="0">
                  <c:v>Этап 1: OpenAlex API</c:v>
                </c:pt>
                <c:pt idx="1">
                  <c:v>Этап 2: Photon (OSM)</c:v>
                </c:pt>
                <c:pt idx="2">
                  <c:v>Без координат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78.0</c:v>
                </c:pt>
                <c:pt idx="1">
                  <c:v>2.8</c:v>
                </c:pt>
                <c:pt idx="2">
                  <c:v>19.2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/>
              <a:t>Динамика публикационной активности (из базы данных)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E86250-218A-4567-829C-67771F89BC3F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447653-886A-468A-A7B0-2EF8A3D8AF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742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FE0D6"/>
                </a:solidFill>
                <a:latin typeface="Calibri"/>
              </a:rPr>
              <a:t>OpenAlex  ·  PostgreSQL  ·  Python  ·  Plotly  ·  SVG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9010" name="pb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1" name="pb11"/>
          <p:cNvSpPr txBox="1"/>
          <p:nvPr/>
        </p:nvSpPr>
        <p:spPr>
          <a:xfrm>
            <a:off x="0" y="6660000"/>
            <a:ext cx="8128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2" name="pb12"/>
          <p:cNvSpPr txBox="1"/>
          <p:nvPr/>
        </p:nvSpPr>
        <p:spPr>
          <a:xfrm>
            <a:off x="2728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3" name="pb13"/>
          <p:cNvSpPr txBox="1"/>
          <p:nvPr/>
        </p:nvSpPr>
        <p:spPr>
          <a:xfrm>
            <a:off x="1648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  <p:sp>
        <p:nvSpPr>
          <p:cNvPr id="9020" name="pb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1" name="pb21"/>
          <p:cNvSpPr txBox="1"/>
          <p:nvPr/>
        </p:nvSpPr>
        <p:spPr>
          <a:xfrm>
            <a:off x="0" y="6660000"/>
            <a:ext cx="16256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2" name="pb22"/>
          <p:cNvSpPr txBox="1"/>
          <p:nvPr/>
        </p:nvSpPr>
        <p:spPr>
          <a:xfrm>
            <a:off x="10856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3" name="pb23"/>
          <p:cNvSpPr txBox="1"/>
          <p:nvPr/>
        </p:nvSpPr>
        <p:spPr>
          <a:xfrm>
            <a:off x="9776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Динамика публикационной активности (данные OpenAlex)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180000" y="1007999"/>
          <a:ext cx="11880000" cy="56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030" name="pb3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1" name="pb31"/>
          <p:cNvSpPr txBox="1"/>
          <p:nvPr/>
        </p:nvSpPr>
        <p:spPr>
          <a:xfrm>
            <a:off x="0" y="6660000"/>
            <a:ext cx="24384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2" name="pb32"/>
          <p:cNvSpPr txBox="1"/>
          <p:nvPr/>
        </p:nvSpPr>
        <p:spPr>
          <a:xfrm>
            <a:off x="18984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3" name="pb33"/>
          <p:cNvSpPr txBox="1"/>
          <p:nvPr/>
        </p:nvSpPr>
        <p:spPr>
          <a:xfrm>
            <a:off x="17904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s2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Почему публикации после 2020 хуже представлены в базах?</a:t>
            </a:r>
          </a:p>
        </p:txBody>
      </p:sp>
      <p:sp>
        <p:nvSpPr>
          <p:cNvPr id="121" name="s21"/>
          <p:cNvSpPr txBox="1"/>
          <p:nvPr/>
        </p:nvSpPr>
        <p:spPr>
          <a:xfrm>
            <a:off x="360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3A2A"/>
                </a:solidFill>
              </a:rPr>
              <a:t>2022</a:t>
            </a:r>
          </a:p>
        </p:txBody>
      </p:sp>
      <p:sp>
        <p:nvSpPr>
          <p:cNvPr id="122" name="s22"/>
          <p:cNvSpPr txBox="1"/>
          <p:nvPr/>
        </p:nvSpPr>
        <p:spPr>
          <a:xfrm>
            <a:off x="360000" y="1692000"/>
            <a:ext cx="2808000" cy="792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Санкции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международных баз</a:t>
            </a:r>
          </a:p>
        </p:txBody>
      </p:sp>
      <p:sp>
        <p:nvSpPr>
          <p:cNvPr id="123" name="s23"/>
          <p:cNvSpPr txBox="1"/>
          <p:nvPr/>
        </p:nvSpPr>
        <p:spPr>
          <a:xfrm>
            <a:off x="360000" y="2484000"/>
            <a:ext cx="2808000" cy="244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Scopus и Web of Science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приостановили индексацию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российских журналов.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~500 изданий удалено из Scopus.</a:t>
            </a:r>
          </a:p>
        </p:txBody>
      </p:sp>
      <p:sp>
        <p:nvSpPr>
          <p:cNvPr id="124" name="s24"/>
          <p:cNvSpPr txBox="1"/>
          <p:nvPr/>
        </p:nvSpPr>
        <p:spPr>
          <a:xfrm>
            <a:off x="3311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5C3A"/>
                </a:solidFill>
              </a:rPr>
              <a:t>6–18 мес</a:t>
            </a:r>
          </a:p>
        </p:txBody>
      </p:sp>
      <p:sp>
        <p:nvSpPr>
          <p:cNvPr id="125" name="s25"/>
          <p:cNvSpPr txBox="1"/>
          <p:nvPr/>
        </p:nvSpPr>
        <p:spPr>
          <a:xfrm>
            <a:off x="3311999" y="1692000"/>
            <a:ext cx="2808000" cy="792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Задержка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индексации OpenAlex</a:t>
            </a:r>
          </a:p>
        </p:txBody>
      </p:sp>
      <p:sp>
        <p:nvSpPr>
          <p:cNvPr id="126" name="s26"/>
          <p:cNvSpPr txBox="1"/>
          <p:nvPr/>
        </p:nvSpPr>
        <p:spPr>
          <a:xfrm>
            <a:off x="3311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Новые статьи появляются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в OpenAlex через 6–18 месяцев.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Данные за 2023–2024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заведомо неполные.</a:t>
            </a:r>
          </a:p>
        </p:txBody>
      </p:sp>
      <p:sp>
        <p:nvSpPr>
          <p:cNvPr id="127" name="s27"/>
          <p:cNvSpPr txBox="1"/>
          <p:nvPr/>
        </p:nvSpPr>
        <p:spPr>
          <a:xfrm>
            <a:off x="6263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2D5544"/>
                </a:solidFill>
              </a:rPr>
              <a:t>РИНЦ</a:t>
            </a:r>
          </a:p>
        </p:txBody>
      </p:sp>
      <p:sp>
        <p:nvSpPr>
          <p:cNvPr id="128" name="s28"/>
          <p:cNvSpPr txBox="1"/>
          <p:nvPr/>
        </p:nvSpPr>
        <p:spPr>
          <a:xfrm>
            <a:off x="6263999" y="1692000"/>
            <a:ext cx="2808000" cy="792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Уход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в отечественные базы</a:t>
            </a:r>
          </a:p>
        </p:txBody>
      </p:sp>
      <p:sp>
        <p:nvSpPr>
          <p:cNvPr id="129" name="s29"/>
          <p:cNvSpPr txBox="1"/>
          <p:nvPr/>
        </p:nvSpPr>
        <p:spPr>
          <a:xfrm>
            <a:off x="6263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Часть российских журналов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переориентировалась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на eLIBRARY/РИНЦ,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который не связан с OpenAlex.</a:t>
            </a:r>
          </a:p>
        </p:txBody>
      </p:sp>
      <p:sp>
        <p:nvSpPr>
          <p:cNvPr id="130" name="s30"/>
          <p:cNvSpPr txBox="1"/>
          <p:nvPr/>
        </p:nvSpPr>
        <p:spPr>
          <a:xfrm>
            <a:off x="9216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3A6B55"/>
                </a:solidFill>
              </a:rPr>
              <a:t>↓ ID</a:t>
            </a:r>
          </a:p>
        </p:txBody>
      </p:sp>
      <p:sp>
        <p:nvSpPr>
          <p:cNvPr id="131" name="s31"/>
          <p:cNvSpPr txBox="1"/>
          <p:nvPr/>
        </p:nvSpPr>
        <p:spPr>
          <a:xfrm>
            <a:off x="9216000" y="1692000"/>
            <a:ext cx="2808000" cy="792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Фрагментация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аффилиаций</a:t>
            </a:r>
          </a:p>
        </p:txBody>
      </p:sp>
      <p:sp>
        <p:nvSpPr>
          <p:cNvPr id="132" name="s32"/>
          <p:cNvSpPr txBox="1"/>
          <p:nvPr/>
        </p:nvSpPr>
        <p:spPr>
          <a:xfrm>
            <a:off x="9216000" y="2484000"/>
            <a:ext cx="2808000" cy="2448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Авторы меняют или не указывают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российскую принадлежность.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Идентификаторы организаций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пропадают из метаданных.</a:t>
            </a:r>
          </a:p>
        </p:txBody>
      </p:sp>
      <p:sp>
        <p:nvSpPr>
          <p:cNvPr id="133" name="s33"/>
          <p:cNvSpPr txBox="1"/>
          <p:nvPr/>
        </p:nvSpPr>
        <p:spPr>
          <a:xfrm>
            <a:off x="360000" y="4824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0">
                <a:solidFill>
                  <a:srgbClr val="E8F5ED"/>
                </a:solidFill>
              </a:rPr>
              <a:t>Спад после 2020 на графике — не падение науки, а ограничения индексации и санкционное давление.</a:t>
            </a:r>
          </a:p>
        </p:txBody>
      </p:sp>
      <p:sp>
        <p:nvSpPr>
          <p:cNvPr id="9040" name="pb4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1" name="pb41"/>
          <p:cNvSpPr txBox="1"/>
          <p:nvPr/>
        </p:nvSpPr>
        <p:spPr>
          <a:xfrm>
            <a:off x="0" y="6660000"/>
            <a:ext cx="32512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2" name="pb42"/>
          <p:cNvSpPr txBox="1"/>
          <p:nvPr/>
        </p:nvSpPr>
        <p:spPr>
          <a:xfrm>
            <a:off x="27112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3" name="pb43"/>
          <p:cNvSpPr txBox="1"/>
          <p:nvPr/>
        </p:nvSpPr>
        <p:spPr>
          <a:xfrm>
            <a:off x="26032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Загрузить 9 994 публикаций из API OpenAlex (cursor pagination, батчи по 200)</a:t>
            </a:r>
          </a:p>
          <a:p>
            <a:r>
              <a:rPr sz="1300"/>
              <a:t>• Спроектировать и заполнить БД PostgreSQL из 7 таблиц</a:t>
            </a:r>
          </a:p>
          <a:p>
            <a:r>
              <a:rPr sz="1300"/>
              <a:t>• Геокодировать аффилиации авторов двумя методами (целевое покрытие ≥ 75%)</a:t>
            </a:r>
          </a:p>
          <a:p>
            <a:r>
              <a:rPr sz="1300"/>
              <a:t>• Реализовать интерактивную карту (Plotly) с точными координатами организаций</a:t>
            </a:r>
          </a:p>
          <a:p>
            <a:r>
              <a:rPr sz="1300"/>
              <a:t>• Построить граф связей в SVG с 5 режимами без внешних библиотек</a:t>
            </a:r>
          </a:p>
          <a:p>
            <a:r>
              <a:rPr sz="1300"/>
              <a:t>• Разработать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  <p:sp>
        <p:nvSpPr>
          <p:cNvPr id="9050" name="pb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1" name="pb51"/>
          <p:cNvSpPr txBox="1"/>
          <p:nvPr/>
        </p:nvSpPr>
        <p:spPr>
          <a:xfrm>
            <a:off x="0" y="6660000"/>
            <a:ext cx="4064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2" name="pb52"/>
          <p:cNvSpPr txBox="1"/>
          <p:nvPr/>
        </p:nvSpPr>
        <p:spPr>
          <a:xfrm>
            <a:off x="3524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3" name="pb53"/>
          <p:cNvSpPr txBox="1"/>
          <p:nvPr/>
        </p:nvSpPr>
        <p:spPr>
          <a:xfrm>
            <a:off x="3416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000" y="680000"/>
          <a:ext cx="1198895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2024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
и другие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Импорт
файлов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225 млн
статей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Хороплет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Хороплет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Хороплет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Хороплет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000" name="pb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1" name="pb1"/>
          <p:cNvSpPr txBox="1"/>
          <p:nvPr/>
        </p:nvSpPr>
        <p:spPr>
          <a:xfrm>
            <a:off x="0" y="6660000"/>
            <a:ext cx="48768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2" name="pb2"/>
          <p:cNvSpPr txBox="1"/>
          <p:nvPr/>
        </p:nvSpPr>
        <p:spPr>
          <a:xfrm>
            <a:off x="43368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3" name="pb3"/>
          <p:cNvSpPr txBox="1"/>
          <p:nvPr/>
        </p:nvSpPr>
        <p:spPr>
          <a:xfrm>
            <a:off x="42288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9070" name="pb7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1" name="pb71"/>
          <p:cNvSpPr txBox="1"/>
          <p:nvPr/>
        </p:nvSpPr>
        <p:spPr>
          <a:xfrm>
            <a:off x="0" y="6660000"/>
            <a:ext cx="56896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2" name="pb72"/>
          <p:cNvSpPr txBox="1"/>
          <p:nvPr/>
        </p:nvSpPr>
        <p:spPr>
          <a:xfrm>
            <a:off x="51496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3" name="pb73"/>
          <p:cNvSpPr txBox="1"/>
          <p:nvPr/>
        </p:nvSpPr>
        <p:spPr>
          <a:xfrm>
            <a:off x="50416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База данных PostgreSQL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43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Конфигурация: pg_config.py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2017"/>
                </a:solidFill>
                <a:latin typeface="Calibri"/>
              </a:rPr>
              <a:t>PG_CONFIG = {
  "host": "localhost",
  "port": 5432,
  "dbname": "openalex_db",
  "client_encoding": "utf8"
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7166"/>
                </a:solidFill>
                <a:latin typeface="Calibri"/>
              </a:rPr>
              <a:t>client_encoding: utf8 — обязателен
на Windows (иначе UnicodeDecodeError)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989320"/>
            <a:ext cx="7772400" cy="5486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" y="6035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Загрузка: ijson (потоковое чтение 200 МБ) + SAVEPOINT при конфликтах DOI → 9 994 публикаций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88000" y="1080000"/>
          <a:ext cx="7920000" cy="48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75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Таблица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Назначение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Ключевые поля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journals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Научные журналы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name, issn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publications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Статьи и метаданные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title, doi, year, journal_id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persons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Авторы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full_name, orcid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affiliations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Организации + координаты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institution, latitude, longitude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publication_authors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Публикация ↔ Автор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publication_id, person_id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publication_topics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Тематические классификаторы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topic_name, score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publication_keywords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Ключевые слова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keyword_name, score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080" name="pb8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81" name="pb81"/>
          <p:cNvSpPr txBox="1"/>
          <p:nvPr/>
        </p:nvSpPr>
        <p:spPr>
          <a:xfrm>
            <a:off x="0" y="6660000"/>
            <a:ext cx="65024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82" name="pb82"/>
          <p:cNvSpPr txBox="1"/>
          <p:nvPr/>
        </p:nvSpPr>
        <p:spPr>
          <a:xfrm>
            <a:off x="59624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83" name="pb83"/>
          <p:cNvSpPr txBox="1"/>
          <p:nvPr/>
        </p:nvSpPr>
        <p:spPr>
          <a:xfrm>
            <a:off x="58544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sp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База данных — схема связей (ER-диаграмма)</a:t>
            </a:r>
          </a:p>
        </p:txBody>
      </p:sp>
      <p:sp>
        <p:nvSpPr>
          <p:cNvPr id="101" name="sp1"/>
          <p:cNvSpPr txBox="1"/>
          <p:nvPr/>
        </p:nvSpPr>
        <p:spPr>
          <a:xfrm>
            <a:off x="4968000" y="108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journals</a:t>
            </a:r>
          </a:p>
        </p:txBody>
      </p:sp>
      <p:sp>
        <p:nvSpPr>
          <p:cNvPr id="102" name="sp2"/>
          <p:cNvSpPr txBox="1"/>
          <p:nvPr/>
        </p:nvSpPr>
        <p:spPr>
          <a:xfrm>
            <a:off x="4968000" y="135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openalex_id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name · issn</a:t>
            </a:r>
          </a:p>
        </p:txBody>
      </p:sp>
      <p:sp>
        <p:nvSpPr>
          <p:cNvPr id="103" name="sp3"/>
          <p:cNvSpPr txBox="1"/>
          <p:nvPr/>
        </p:nvSpPr>
        <p:spPr>
          <a:xfrm>
            <a:off x="4968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3A2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publications</a:t>
            </a:r>
          </a:p>
        </p:txBody>
      </p:sp>
      <p:sp>
        <p:nvSpPr>
          <p:cNvPr id="104" name="sp4"/>
          <p:cNvSpPr txBox="1"/>
          <p:nvPr/>
        </p:nvSpPr>
        <p:spPr>
          <a:xfrm>
            <a:off x="4968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3A2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id · title · doi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year · journal_id →</a:t>
            </a:r>
          </a:p>
        </p:txBody>
      </p:sp>
      <p:sp>
        <p:nvSpPr>
          <p:cNvPr id="105" name="sp5"/>
          <p:cNvSpPr txBox="1"/>
          <p:nvPr/>
        </p:nvSpPr>
        <p:spPr>
          <a:xfrm>
            <a:off x="8100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publication_authors</a:t>
            </a:r>
          </a:p>
        </p:txBody>
      </p:sp>
      <p:sp>
        <p:nvSpPr>
          <p:cNvPr id="106" name="sp6"/>
          <p:cNvSpPr txBox="1"/>
          <p:nvPr/>
        </p:nvSpPr>
        <p:spPr>
          <a:xfrm>
            <a:off x="8100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person_id →</a:t>
            </a:r>
          </a:p>
        </p:txBody>
      </p:sp>
      <p:sp>
        <p:nvSpPr>
          <p:cNvPr id="107" name="sp7"/>
          <p:cNvSpPr txBox="1"/>
          <p:nvPr/>
        </p:nvSpPr>
        <p:spPr>
          <a:xfrm>
            <a:off x="8100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persons</a:t>
            </a:r>
          </a:p>
        </p:txBody>
      </p:sp>
      <p:sp>
        <p:nvSpPr>
          <p:cNvPr id="108" name="sp8"/>
          <p:cNvSpPr txBox="1"/>
          <p:nvPr/>
        </p:nvSpPr>
        <p:spPr>
          <a:xfrm>
            <a:off x="8100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openalex_id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full_name · orcid</a:t>
            </a:r>
          </a:p>
        </p:txBody>
      </p:sp>
      <p:sp>
        <p:nvSpPr>
          <p:cNvPr id="109" name="sp9"/>
          <p:cNvSpPr txBox="1"/>
          <p:nvPr/>
        </p:nvSpPr>
        <p:spPr>
          <a:xfrm>
            <a:off x="10368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2D5544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affiliations</a:t>
            </a:r>
          </a:p>
        </p:txBody>
      </p:sp>
      <p:sp>
        <p:nvSpPr>
          <p:cNvPr id="110" name="sp10"/>
          <p:cNvSpPr txBox="1"/>
          <p:nvPr/>
        </p:nvSpPr>
        <p:spPr>
          <a:xfrm>
            <a:off x="10368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2D5544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institution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lat · lon</a:t>
            </a:r>
          </a:p>
        </p:txBody>
      </p:sp>
      <p:sp>
        <p:nvSpPr>
          <p:cNvPr id="111" name="sp11"/>
          <p:cNvSpPr txBox="1"/>
          <p:nvPr/>
        </p:nvSpPr>
        <p:spPr>
          <a:xfrm>
            <a:off x="1800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publication_topics</a:t>
            </a:r>
          </a:p>
        </p:txBody>
      </p:sp>
      <p:sp>
        <p:nvSpPr>
          <p:cNvPr id="112" name="sp12"/>
          <p:cNvSpPr txBox="1"/>
          <p:nvPr/>
        </p:nvSpPr>
        <p:spPr>
          <a:xfrm>
            <a:off x="1800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3A6B55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topic · score</a:t>
            </a:r>
          </a:p>
        </p:txBody>
      </p:sp>
      <p:sp>
        <p:nvSpPr>
          <p:cNvPr id="113" name="sp13"/>
          <p:cNvSpPr txBox="1"/>
          <p:nvPr/>
        </p:nvSpPr>
        <p:spPr>
          <a:xfrm>
            <a:off x="1800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publication_keywords</a:t>
            </a:r>
          </a:p>
        </p:txBody>
      </p:sp>
      <p:sp>
        <p:nvSpPr>
          <p:cNvPr id="114" name="sp14"/>
          <p:cNvSpPr txBox="1"/>
          <p:nvPr/>
        </p:nvSpPr>
        <p:spPr>
          <a:xfrm>
            <a:off x="1800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3A6B55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keyword · score</a:t>
            </a:r>
          </a:p>
        </p:txBody>
      </p:sp>
      <p:sp>
        <p:nvSpPr>
          <p:cNvPr id="115" name="sp15"/>
          <p:cNvSpPr txBox="1"/>
          <p:nvPr/>
        </p:nvSpPr>
        <p:spPr>
          <a:xfrm>
            <a:off x="6048000" y="2232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116" name="sp16"/>
          <p:cNvSpPr txBox="1"/>
          <p:nvPr/>
        </p:nvSpPr>
        <p:spPr>
          <a:xfrm>
            <a:off x="7380000" y="3240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117" name="sp17"/>
          <p:cNvSpPr txBox="1"/>
          <p:nvPr/>
        </p:nvSpPr>
        <p:spPr>
          <a:xfrm>
            <a:off x="9180000" y="4031999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N : 1</a:t>
            </a:r>
          </a:p>
        </p:txBody>
      </p:sp>
      <p:sp>
        <p:nvSpPr>
          <p:cNvPr id="118" name="sp18"/>
          <p:cNvSpPr txBox="1"/>
          <p:nvPr/>
        </p:nvSpPr>
        <p:spPr>
          <a:xfrm>
            <a:off x="4068000" y="3240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119" name="sp19"/>
          <p:cNvSpPr txBox="1"/>
          <p:nvPr/>
        </p:nvSpPr>
        <p:spPr>
          <a:xfrm>
            <a:off x="4068000" y="4031999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9090" name="pb9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91" name="pb91"/>
          <p:cNvSpPr txBox="1"/>
          <p:nvPr/>
        </p:nvSpPr>
        <p:spPr>
          <a:xfrm>
            <a:off x="0" y="6660000"/>
            <a:ext cx="73152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92" name="pb92"/>
          <p:cNvSpPr txBox="1"/>
          <p:nvPr/>
        </p:nvSpPr>
        <p:spPr>
          <a:xfrm>
            <a:off x="67752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93" name="pb93"/>
          <p:cNvSpPr txBox="1"/>
          <p:nvPr/>
        </p:nvSpPr>
        <p:spPr>
          <a:xfrm>
            <a:off x="66672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s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200" b="1">
                <a:solidFill>
                  <a:srgbClr val="FFFFFF"/>
                </a:solidFill>
              </a:rPr>
              <a:t>Географическая привязка</a:t>
            </a:r>
          </a:p>
        </p:txBody>
      </p:sp>
      <p:sp>
        <p:nvSpPr>
          <p:cNvPr id="201" name="s1"/>
          <p:cNvSpPr txBox="1"/>
          <p:nvPr/>
        </p:nvSpPr>
        <p:spPr>
          <a:xfrm>
            <a:off x="360000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1 — Приоритизация</a:t>
            </a:r>
          </a:p>
        </p:txBody>
      </p:sp>
      <p:sp>
        <p:nvSpPr>
          <p:cNvPr id="202" name="s2"/>
          <p:cNvSpPr txBox="1"/>
          <p:nvPr/>
        </p:nvSpPr>
        <p:spPr>
          <a:xfrm>
            <a:off x="360000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Организации сортируются по числу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зависимых публикаций.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Первыми обрабатываются те,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что «разблокируют» наибольшее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количество записей без координат.</a:t>
            </a:r>
          </a:p>
        </p:txBody>
      </p:sp>
      <p:sp>
        <p:nvSpPr>
          <p:cNvPr id="203" name="s3"/>
          <p:cNvSpPr txBox="1"/>
          <p:nvPr/>
        </p:nvSpPr>
        <p:spPr>
          <a:xfrm>
            <a:off x="4211999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2 — OpenAlex API</a:t>
            </a:r>
          </a:p>
        </p:txBody>
      </p:sp>
      <p:sp>
        <p:nvSpPr>
          <p:cNvPr id="204" name="s4"/>
          <p:cNvSpPr txBox="1"/>
          <p:nvPr/>
        </p:nvSpPr>
        <p:spPr>
          <a:xfrm>
            <a:off x="4211999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Запрос координат по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идентификатору организации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через API OpenAlex.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78% публикаций с координатами.</a:t>
            </a:r>
          </a:p>
        </p:txBody>
      </p:sp>
      <p:sp>
        <p:nvSpPr>
          <p:cNvPr id="205" name="s5"/>
          <p:cNvSpPr txBox="1"/>
          <p:nvPr/>
        </p:nvSpPr>
        <p:spPr>
          <a:xfrm>
            <a:off x="8063998" y="1080000"/>
            <a:ext cx="3311999" cy="576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3 — Photon</a:t>
            </a:r>
          </a:p>
        </p:txBody>
      </p:sp>
      <p:sp>
        <p:nvSpPr>
          <p:cNvPr id="206" name="s6"/>
          <p:cNvSpPr txBox="1"/>
          <p:nvPr/>
        </p:nvSpPr>
        <p:spPr>
          <a:xfrm>
            <a:off x="8063998" y="1656000"/>
            <a:ext cx="3311999" cy="3204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Для аффилиаций без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идентификатора — геокодирование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по строке названия через Photon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(OpenStreetMap).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 +2,8% публикаций.</a:t>
            </a:r>
          </a:p>
        </p:txBody>
      </p:sp>
      <p:sp>
        <p:nvSpPr>
          <p:cNvPr id="207" name="s7"/>
          <p:cNvSpPr txBox="1"/>
          <p:nvPr/>
        </p:nvSpPr>
        <p:spPr>
          <a:xfrm>
            <a:off x="3743999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8" name="s8"/>
          <p:cNvSpPr txBox="1"/>
          <p:nvPr/>
        </p:nvSpPr>
        <p:spPr>
          <a:xfrm>
            <a:off x="7595998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9" name="s9"/>
          <p:cNvSpPr txBox="1"/>
          <p:nvPr/>
        </p:nvSpPr>
        <p:spPr>
          <a:xfrm>
            <a:off x="360000" y="5040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400" b="1">
                <a:solidFill>
                  <a:srgbClr val="FFFFFF"/>
                </a:solidFill>
              </a:rPr>
              <a:t>Итог: 80,8% публикаций с координатами (порог — 75%)</a:t>
            </a:r>
          </a:p>
        </p:txBody>
      </p:sp>
      <p:sp>
        <p:nvSpPr>
          <p:cNvPr id="9100" name="pb10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1" name="pb101"/>
          <p:cNvSpPr txBox="1"/>
          <p:nvPr/>
        </p:nvSpPr>
        <p:spPr>
          <a:xfrm>
            <a:off x="0" y="6660000"/>
            <a:ext cx="8128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2" name="pb102"/>
          <p:cNvSpPr txBox="1"/>
          <p:nvPr/>
        </p:nvSpPr>
        <p:spPr>
          <a:xfrm>
            <a:off x="7588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3" name="pb103"/>
          <p:cNvSpPr txBox="1"/>
          <p:nvPr/>
        </p:nvSpPr>
        <p:spPr>
          <a:xfrm>
            <a:off x="7480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557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00" y="5940000"/>
            <a:ext cx="115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FE0D6"/>
                </a:solidFill>
              </a:rPr>
              <a:t>Режим отображения — настройка типов узлов и связей, видимых на графе одновременно. Каждый режим показывает разный «срез» данных: например, режим «Авторы» скрывает годы и журналы и оставляет только связи статья → автор.</a:t>
            </a:r>
          </a:p>
        </p:txBody>
      </p:sp>
      <p:sp>
        <p:nvSpPr>
          <p:cNvPr id="9110" name="pb1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1" name="pb111"/>
          <p:cNvSpPr txBox="1"/>
          <p:nvPr/>
        </p:nvSpPr>
        <p:spPr>
          <a:xfrm>
            <a:off x="0" y="6660000"/>
            <a:ext cx="89408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2" name="pb112"/>
          <p:cNvSpPr txBox="1"/>
          <p:nvPr/>
        </p:nvSpPr>
        <p:spPr>
          <a:xfrm>
            <a:off x="84008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3" name="pb113"/>
          <p:cNvSpPr txBox="1"/>
          <p:nvPr/>
        </p:nvSpPr>
        <p:spPr>
          <a:xfrm>
            <a:off x="82928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2268000"/>
            <a:ext cx="5029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2736000"/>
            <a:ext cx="530352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8000" y="2268000"/>
            <a:ext cx="5943600" cy="3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1080000"/>
            <a:ext cx="1144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Этап 1 — Нормализация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512000"/>
            <a:ext cx="11448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все строки приводятся к нижнему регистру и обрезаются пробелы.
«MIT» и «mit» считаются одним значением. score = 0 — статья не показывается.</a:t>
            </a:r>
          </a:p>
        </p:txBody>
      </p:sp>
      <p:sp>
        <p:nvSpPr>
          <p:cNvPr id="9120" name="pb1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1" name="pb121"/>
          <p:cNvSpPr txBox="1"/>
          <p:nvPr/>
        </p:nvSpPr>
        <p:spPr>
          <a:xfrm>
            <a:off x="0" y="6660000"/>
            <a:ext cx="97536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2" name="pb122"/>
          <p:cNvSpPr txBox="1"/>
          <p:nvPr/>
        </p:nvSpPr>
        <p:spPr>
          <a:xfrm>
            <a:off x="92136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3" name="pb123"/>
          <p:cNvSpPr txBox="1"/>
          <p:nvPr/>
        </p:nvSpPr>
        <p:spPr>
          <a:xfrm>
            <a:off x="91056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Веб-интерфейс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Левая панель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Фильтры (год, журнал,
автор, аффилиация)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Список статей (до 200)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Кнопки: Карта / Граф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База данных (внизу)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Центр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Карта — Plotly scatter_geo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Граф — SVG, 5 режимов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Переключение кнопками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Правая панель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Детали статьи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Авторы, аффилиации,
темы, ключевые слова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Аннотация (по запросу)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Похожие статьи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897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77166"/>
                </a:solidFill>
                <a:latin typeface="Calibri"/>
              </a:rPr>
              <a:t>Фасетные фильтры: каждый список показывает только доступные варианты с учётом остальных фильтров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8978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3613F"/>
                </a:solidFill>
                <a:latin typeface="Calibri"/>
              </a:rPr>
              <a:t>Тёмная / светлая тема</a:t>
            </a:r>
          </a:p>
        </p:txBody>
      </p:sp>
      <p:sp>
        <p:nvSpPr>
          <p:cNvPr id="9130" name="pb13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31" name="pb131"/>
          <p:cNvSpPr txBox="1"/>
          <p:nvPr/>
        </p:nvSpPr>
        <p:spPr>
          <a:xfrm>
            <a:off x="0" y="6660000"/>
            <a:ext cx="105664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32" name="pb132"/>
          <p:cNvSpPr txBox="1"/>
          <p:nvPr/>
        </p:nvSpPr>
        <p:spPr>
          <a:xfrm>
            <a:off x="100264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33" name="pb133"/>
          <p:cNvSpPr txBox="1"/>
          <p:nvPr/>
        </p:nvSpPr>
        <p:spPr>
          <a:xfrm>
            <a:off x="99184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Проблемы и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Файл 201 МБ:  </a:t>
            </a:r>
            <a:r>
              <a:rPr sz="1400">
                <a:solidFill>
                  <a:srgbClr val="122017"/>
                </a:solidFill>
                <a:latin typeface="Calibri"/>
              </a:rPr>
              <a:t>GitHub отклонял push  →  git filter-branch + .gitignore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MemoryError:  </a:t>
            </a:r>
            <a:r>
              <a:rPr sz="1400">
                <a:solidFill>
                  <a:srgbClr val="122017"/>
                </a:solidFill>
                <a:latin typeface="Calibri"/>
              </a:rPr>
              <a:t>JSON не помещался в RAM  →  ijson — потоковое чтение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Браузер обрывал соединение:  </a:t>
            </a:r>
            <a:r>
              <a:rPr sz="1400">
                <a:solidFill>
                  <a:srgbClr val="122017"/>
                </a:solidFill>
                <a:latin typeface="Calibri"/>
              </a:rPr>
              <a:t>Большой JSON-ответ API  →  gzip-сжатие в сервере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Страница зависала:  </a:t>
            </a:r>
            <a:r>
              <a:rPr sz="1400">
                <a:solidFill>
                  <a:srgbClr val="122017"/>
                </a:solidFill>
                <a:latin typeface="Calibri"/>
              </a:rPr>
              <a:t>O(n²) подсчёт связей  →  Вычисление только по запросу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IP заблокирован:  </a:t>
            </a:r>
            <a:r>
              <a:rPr sz="1400">
                <a:solidFill>
                  <a:srgbClr val="122017"/>
                </a:solidFill>
                <a:latin typeface="Calibri"/>
              </a:rPr>
              <a:t>Nominatim HTTP 403  →  Переход на Photon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UnicodeDecodeError:  </a:t>
            </a:r>
            <a:r>
              <a:rPr sz="1400">
                <a:solidFill>
                  <a:srgbClr val="122017"/>
                </a:solidFill>
                <a:latin typeface="Calibri"/>
              </a:rPr>
              <a:t>cp1251 на Windows  →  client_encoding: utf8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Нет места на диске:  </a:t>
            </a:r>
            <a:r>
              <a:rPr sz="1400">
                <a:solidFill>
                  <a:srgbClr val="122017"/>
                </a:solidFill>
                <a:latin typeface="Calibri"/>
              </a:rPr>
              <a:t>git операции падали  →  Очистка %temp%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  <p:sp>
        <p:nvSpPr>
          <p:cNvPr id="9140" name="pb14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41" name="pb141"/>
          <p:cNvSpPr txBox="1"/>
          <p:nvPr/>
        </p:nvSpPr>
        <p:spPr>
          <a:xfrm>
            <a:off x="0" y="6660000"/>
            <a:ext cx="113792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42" name="pb142"/>
          <p:cNvSpPr txBox="1"/>
          <p:nvPr/>
        </p:nvSpPr>
        <p:spPr>
          <a:xfrm>
            <a:off x="108392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43" name="pb143"/>
          <p:cNvSpPr txBox="1"/>
          <p:nvPr/>
        </p:nvSpPr>
        <p:spPr>
          <a:xfrm>
            <a:off x="107312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Загружено 9 994 публикаций из OpenAlex
Создана реляционная БД из 7 таблиц PostgreSQL
Геокодировано 80,8% публикаций (точные координаты организаций)
Реализованы карта, граф с 5 режимами и фасетные фильтры
Разработан алгоритм поиска похожих статей по 5 признакам
Создан REST API с gzip-сжатием и веб-интерфейс с тёмной темой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  <p:sp>
        <p:nvSpPr>
          <p:cNvPr id="9150" name="pb1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1" name="pb151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2" name="pb152"/>
          <p:cNvSpPr txBox="1"/>
          <p:nvPr/>
        </p:nvSpPr>
        <p:spPr>
          <a:xfrm>
            <a:off x="1165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3" name="pb153"/>
          <p:cNvSpPr txBox="1"/>
          <p:nvPr/>
        </p:nvSpPr>
        <p:spPr>
          <a:xfrm>
            <a:off x="1154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913</Words>
  <Application>Microsoft Office PowerPoint</Application>
  <PresentationFormat>Произвольный</PresentationFormat>
  <Paragraphs>303</Paragraphs>
  <Slides>13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Varvara Surnova</cp:lastModifiedBy>
  <cp:revision>2</cp:revision>
  <dcterms:created xsi:type="dcterms:W3CDTF">2013-01-27T09:14:16Z</dcterms:created>
  <dcterms:modified xsi:type="dcterms:W3CDTF">2026-05-21T05:09:54Z</dcterms:modified>
  <cp:category/>
</cp:coreProperties>
</file>