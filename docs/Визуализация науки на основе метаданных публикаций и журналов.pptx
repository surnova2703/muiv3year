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1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0" y="6757200"/>
            <a:ext cx="870630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08630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0" y="6757200"/>
            <a:ext cx="1741260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579260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0" y="6757200"/>
            <a:ext cx="2611891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449891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0" y="6757200"/>
            <a:ext cx="3482521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20521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6757200"/>
            <a:ext cx="4353151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91151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0" y="6757200"/>
            <a:ext cx="5223782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61782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0" y="6757200"/>
            <a:ext cx="6094412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32412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0" y="6757200"/>
            <a:ext cx="7835673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73673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ACCFF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0" y="6757200"/>
            <a:ext cx="8706303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544303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0" y="6757200"/>
            <a:ext cx="9576933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414933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0" y="6757200"/>
            <a:ext cx="10447564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85564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0" y="6757200"/>
            <a:ext cx="11318194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156194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27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276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54360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54360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7D3C9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7D3C98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93511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935116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93511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935116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20" name="sp20"/>
          <p:cNvSpPr txBox="1"/>
          <p:nvPr/>
        </p:nvSpPr>
        <p:spPr>
          <a:xfrm>
            <a:off x="0" y="6757200"/>
            <a:ext cx="12192000" cy="100800"/>
          </a:xfrm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square" anchor="ctr"/>
          <a:lstStyle/>
          <a:p>
            <a:pPr algn="l"/>
            <a:r>
              <a:rPr lang="ru-RU"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1" name="sp21"/>
          <p:cNvSpPr txBox="1"/>
          <p:nvPr/>
        </p:nvSpPr>
        <p:spPr>
          <a:xfrm>
            <a:off x="0" y="6757200"/>
            <a:ext cx="6966857" cy="1008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l"/>
            <a:r>
              <a:rPr lang="ru-RU"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2" name="sp22"/>
          <p:cNvSpPr txBox="1"/>
          <p:nvPr/>
        </p:nvSpPr>
        <p:spPr>
          <a:xfrm>
            <a:off x="6804857" y="6645600"/>
            <a:ext cx="324000" cy="324000"/>
          </a:xfrm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9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Результаты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360000" y="1152000"/>
            <a:ext cx="2808000" cy="208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txBody>
          <a:bodyPr wrap="square" anchor="ctr"/>
          <a:lstStyle/>
          <a:p>
            <a:pPr algn="l"/>
            <a:r>
              <a:rPr lang="ru-RU" sz="1400" b="0">
                <a:solidFill>
                  <a:srgbClr val="FFFFFF"/>
                </a:solidFill>
              </a:rPr>
              <a:t/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468000" y="1296000"/>
            <a:ext cx="259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3600" b="1">
                <a:solidFill>
                  <a:srgbClr val="FFFFFF"/>
                </a:solidFill>
              </a:rPr>
              <a:t>9 994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468000" y="2160000"/>
            <a:ext cx="2592000" cy="1007999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0">
                <a:solidFill>
                  <a:srgbClr val="CFE0D6"/>
                </a:solidFill>
              </a:rPr>
              <a:t>публикаций</a:t>
            </a:r>
            <a:br>
              <a:rPr lang="ru-RU"/>
            </a:br>
            <a:r>
              <a:rPr lang="ru-RU" sz="1200" b="0">
                <a:solidFill>
                  <a:srgbClr val="CFE0D6"/>
                </a:solidFill>
              </a:rPr>
              <a:t>загружено из OpenAlex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3311999" y="1152000"/>
            <a:ext cx="2808000" cy="2088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l"/>
            <a:r>
              <a:rPr lang="ru-RU" sz="1400" b="0">
                <a:solidFill>
                  <a:srgbClr val="FFFFFF"/>
                </a:solidFill>
              </a:rPr>
              <a:t/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3419999" y="1296000"/>
            <a:ext cx="259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3600" b="1">
                <a:solidFill>
                  <a:srgbClr val="FFFFFF"/>
                </a:solidFill>
              </a:rPr>
              <a:t>7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3419999" y="2160000"/>
            <a:ext cx="2592000" cy="1007999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0">
                <a:solidFill>
                  <a:srgbClr val="CFE0D6"/>
                </a:solidFill>
              </a:rPr>
              <a:t>таблиц</a:t>
            </a:r>
            <a:br>
              <a:rPr lang="ru-RU"/>
            </a:br>
            <a:r>
              <a:rPr lang="ru-RU" sz="1200" b="0">
                <a:solidFill>
                  <a:srgbClr val="CFE0D6"/>
                </a:solidFill>
              </a:rPr>
              <a:t>в базе данных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6263999" y="1152000"/>
            <a:ext cx="2808000" cy="208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l"/>
            <a:r>
              <a:rPr lang="ru-RU" sz="1400" b="0">
                <a:solidFill>
                  <a:srgbClr val="FFFFFF"/>
                </a:solidFill>
              </a:rPr>
              <a:t/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6371999" y="1296000"/>
            <a:ext cx="259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3600" b="1">
                <a:solidFill>
                  <a:srgbClr val="FFFFFF"/>
                </a:solidFill>
              </a:rPr>
              <a:t>80,8%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6371999" y="2160000"/>
            <a:ext cx="2592000" cy="1007999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0">
                <a:solidFill>
                  <a:srgbClr val="CFE0D6"/>
                </a:solidFill>
              </a:rPr>
              <a:t>публикаций</a:t>
            </a:r>
            <a:br>
              <a:rPr lang="ru-RU"/>
            </a:br>
            <a:r>
              <a:rPr lang="ru-RU" sz="1200" b="0">
                <a:solidFill>
                  <a:srgbClr val="CFE0D6"/>
                </a:solidFill>
              </a:rPr>
              <a:t>с геокоординатами</a:t>
            </a:r>
            <a:br>
              <a:rPr lang="ru-RU"/>
            </a:br>
            <a:r>
              <a:rPr lang="ru-RU" sz="1200" b="0">
                <a:solidFill>
                  <a:srgbClr val="CFE0D6"/>
                </a:solidFill>
              </a:rPr>
              <a:t>(порог — 75%)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9216000" y="1152000"/>
            <a:ext cx="2808000" cy="208800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txBody>
          <a:bodyPr wrap="square" anchor="ctr"/>
          <a:lstStyle/>
          <a:p>
            <a:pPr algn="l"/>
            <a:r>
              <a:rPr lang="ru-RU" sz="1400" b="0">
                <a:solidFill>
                  <a:srgbClr val="FFFFFF"/>
                </a:solidFill>
              </a:rPr>
              <a:t/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9324000" y="1296000"/>
            <a:ext cx="259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3600" b="1">
                <a:solidFill>
                  <a:srgbClr val="FFFFFF"/>
                </a:solidFill>
              </a:rPr>
              <a:t>5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9324000" y="2160000"/>
            <a:ext cx="2592000" cy="1007999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0">
                <a:solidFill>
                  <a:srgbClr val="CFE0D6"/>
                </a:solidFill>
              </a:rPr>
              <a:t>режимов</a:t>
            </a:r>
            <a:br>
              <a:rPr lang="ru-RU"/>
            </a:br>
            <a:r>
              <a:rPr lang="ru-RU" sz="1200" b="0">
                <a:solidFill>
                  <a:srgbClr val="CFE0D6"/>
                </a:solidFill>
              </a:rPr>
              <a:t>отображения</a:t>
            </a:r>
            <a:br>
              <a:rPr lang="ru-RU"/>
            </a:br>
            <a:r>
              <a:rPr lang="ru-RU" sz="1200" b="0">
                <a:solidFill>
                  <a:srgbClr val="CFE0D6"/>
                </a:solidFill>
              </a:rPr>
              <a:t>в графе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468000" y="3528000"/>
            <a:ext cx="11232000" cy="12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1300" b="0">
                <a:solidFill>
                  <a:srgbClr val="E8F5ED"/>
                </a:solidFill>
              </a:rPr>
              <a:t>Система переводит плоский список статей в два визуальных представления — карту с географией исследований и граф с авторскими связями.</a:t>
            </a:r>
            <a:br>
              <a:rPr lang="ru-RU"/>
            </a:br>
            <a:r>
              <a:rPr lang="ru-RU" sz="1300" b="0">
                <a:solidFill>
                  <a:srgbClr val="E8F5ED"/>
                </a:solidFill>
              </a:rPr>
              <a:t>В отличие от рассмотренных аналогов (VOSviewer, Connected Papers, ResearchRabbit) сочетает карту, граф и поиск похожих в одной браузерной среде без установки ПО.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468000" y="4896000"/>
            <a:ext cx="11232000" cy="79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1200" b="0">
                <a:solidFill>
                  <a:srgbClr val="8BB29A"/>
                </a:solidFill>
              </a:rPr>
              <a:t>Алгоритм поиска похожих статей: авторы (×4) · темы (×3) · ключевые слова (×2) · аффилиации (×2) · журнал (×2)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0" y="6757200"/>
            <a:ext cx="12192000" cy="100800"/>
          </a:xfrm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square" anchor="ctr"/>
          <a:lstStyle/>
          <a:p>
            <a:pPr algn="l"/>
            <a:r>
              <a:rPr lang="ru-RU" sz="1400" b="0">
                <a:solidFill>
                  <a:srgbClr val="FFFFFF"/>
                </a:solidFill>
              </a:rPr>
              <a:t/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0" y="6757200"/>
            <a:ext cx="12192000" cy="1008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l"/>
            <a:r>
              <a:rPr lang="ru-RU" sz="1400" b="0">
                <a:solidFill>
                  <a:srgbClr val="FFFFFF"/>
                </a:solidFill>
              </a:rPr>
              <a:t/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11868000" y="6645600"/>
            <a:ext cx="324000" cy="3240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900" b="1">
                <a:solidFill>
                  <a:srgbClr val="FFFFFF"/>
                </a:solidFill>
              </a:rPr>
              <a:t>14</a:t>
            </a:r>
            <a:br>
              <a:rPr lang="ru-RU"/>
            </a:b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