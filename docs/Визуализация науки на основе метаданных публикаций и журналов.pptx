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6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Excel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AED6F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1EB-4DE0-AB85-FA15581D5D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27AE60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Нейронные сети</c:v>
                </c:pt>
                <c:pt idx="1">
                  <c:v>COVID-19</c:v>
                </c:pt>
                <c:pt idx="2">
                  <c:v>Доменная адаптация</c:v>
                </c:pt>
                <c:pt idx="3">
                  <c:v>Онко-скрининг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10</c:v>
                </c:pt>
                <c:pt idx="2">
                  <c:v>15</c:v>
                </c:pt>
                <c:pt idx="3">
                  <c:v>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61EB-4DE0-AB85-FA15581D5D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7.9519294743845684E-2"/>
          <c:y val="0.7265368773946359"/>
          <c:w val="0.22337491683300068"/>
          <c:h val="0.27072892720306518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2000–2012</c:v>
                </c:pt>
              </c:strCache>
            </c:strRef>
          </c:tx>
          <c:spPr>
            <a:solidFill>
              <a:srgbClr val="F5B7B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8</c:v>
                </c:pt>
                <c:pt idx="2">
                  <c:v>4</c:v>
                </c:pt>
                <c:pt idx="3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A758-4BAE-A51F-AA4B05D7D45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2013–2024</c:v>
                </c:pt>
              </c:strCache>
            </c:strRef>
          </c:tx>
          <c:spPr>
            <a:solidFill>
              <a:srgbClr val="C0392B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Хим. физика</c:v>
                </c:pt>
                <c:pt idx="1">
                  <c:v>Графен</c:v>
                </c:pt>
                <c:pt idx="2">
                  <c:v>Материалы АКБ</c:v>
                </c:pt>
                <c:pt idx="3">
                  <c:v>Геномика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A758-4BAE-A51F-AA4B05D7D4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layout>
        <c:manualLayout>
          <c:xMode val="edge"/>
          <c:yMode val="edge"/>
          <c:x val="2.773905723905724E-2"/>
          <c:y val="0.7022073754789272"/>
          <c:w val="0.23891077441077441"/>
          <c:h val="0.29505842911877395"/>
        </c:manualLayout>
      </c:layout>
      <c:overlay val="1"/>
    </c:legend>
    <c:plotVisOnly val="1"/>
    <c:dispBlanksAs val="gap"/>
    <c:showDLblsOverMax val="1"/>
  </c:chart>
  <c:txPr>
    <a:bodyPr/>
    <a:lstStyle/>
    <a:p>
      <a:pPr>
        <a:defRPr sz="1800"/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447653-886A-468A-A7B0-2EF8A3D8AF15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08306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30000"/>
            <a:ext cx="1178895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Анализ публикационной активности (данные OpenAlex, n=1000)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000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00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1 000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0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публикаций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412965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6965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444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965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журнала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59300" y="730000"/>
            <a:ext cx="3829650" cy="560000"/>
          </a:xfrm>
          <a:prstGeom prst="rect">
            <a:avLst/>
          </a:prstGeom>
          <a:solidFill>
            <a:srgbClr val="EE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9300" y="780000"/>
            <a:ext cx="374965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493D"/>
                </a:solidFill>
              </a:rPr>
              <a:t>2 594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9300" y="1070000"/>
            <a:ext cx="3749650" cy="1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7766"/>
                </a:solidFill>
              </a:rPr>
              <a:t>тем. записей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200000" y="1380000"/>
          <a:ext cx="10550000" cy="3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88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Журнал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Публ.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Устойчивые темы (≥20%)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Перифер.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CA Cancer Journal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Global Cancer Incidence (100%), Colorectal Screening (79%)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Bioinformatics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Genomics &amp; Phylogenetic Studies (90%)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BMJ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Meta-analysis &amp; Systematic Reviews (91%)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Physical Review B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Advanced Chemical Physics Studies (85%)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J. Chemical 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Chemical Physics (62%), Spectroscopy (56%)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Nucleic Acids Res.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Genomics (54%), Bioinformatics Networks (31%)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888">
                <a:tc>
                  <a:txBody>
                    <a:bodyPr/>
                    <a:lstStyle/>
                    <a:p>
                      <a:r>
                        <a:rPr sz="850" b="0"/>
                        <a:t>Nature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850" b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896">
                <a:tc>
                  <a:txBody>
                    <a:bodyPr/>
                    <a:lstStyle/>
                    <a:p>
                      <a:r>
                        <a:rPr sz="850" b="0"/>
                        <a:t>Science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нет устойчивых тем — мультидисциплинарный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35</a:t>
                      </a:r>
                    </a:p>
                  </a:txBody>
                  <a:tcPr>
                    <a:solidFill>
                      <a:srgbClr val="EE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80000" y="4392000"/>
            <a:ext cx="594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7AE60"/>
                </a:solidFill>
              </a:rPr>
              <a:t>Растущие темы (2000–2012 vs 2013–2024)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2000" y="4392000"/>
            <a:ext cx="576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74C3C"/>
                </a:solidFill>
              </a:rPr>
              <a:t>Угасающие темы (2000–2012 vs 2013–2024)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42993"/>
              </p:ext>
            </p:extLst>
          </p:nvPr>
        </p:nvGraphicFramePr>
        <p:xfrm>
          <a:off x="108000" y="4644000"/>
          <a:ext cx="6012000" cy="20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Chart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411286"/>
              </p:ext>
            </p:extLst>
          </p:nvPr>
        </p:nvGraphicFramePr>
        <p:xfrm>
          <a:off x="6120000" y="4644000"/>
          <a:ext cx="5940000" cy="20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Геокодирование аффилиаций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1605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Этап 1: OpenAlex /institutions API — батчи по 100 ID → 78% покрытие
Этап 2: Photon (OpenStreetMap) по строке названия → итого 80,8%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3703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Оптимизация производительности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16052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/>
              <a:t>Обоснование технологий:
• PostgreSQL — реляционные связи и JOIN-запросы для фасетной фильтрации
• SVG без библиотек — нужна колоночная раскладка (force-directed даёт хаос при 70+ узлах)
• OpenAlex — единственный бесплатный источник с аффилиациями и API учреждений
• gzip — ответы API меньше в 5–10 раз; ijson — чтение 200 МБ без MemoryError
• requestAnimationFrame — отрисовка не блокирует интерфейс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A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94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Географическая привязка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39496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1 — OpenAlex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GET /institutions?filter=ids.openalex:I1|I2|...
• Батчи по 100 institution_id
• Пауза 0,5 сек между запросами
• Кэш: geo_cache.json
Результат: 7 822 / 9 994 публикаций (78%)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828800"/>
            <a:ext cx="822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77166"/>
                </a:solidFill>
                <a:latin typeface="Calibri"/>
              </a:rPr>
              <a:t>→
не хватает
22%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188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Photon (OpenStreetMap)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6916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Для строк без institution_id:
GET photon.komoot.io/api/?q=&lt;название&gt;
Стратегия сокращения строки:
полная → последние 3 части → 2 части
Координаты GeoJSON: [lon, lat] → переставить
Результат: +255 публикаций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49039"/>
            <a:ext cx="11430000" cy="64008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822191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Итог: 8 077 из 9 994 публикаций с координатами — 80,8% покрытие карты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5262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77166"/>
                </a:solidFill>
                <a:latin typeface="Calibri"/>
              </a:rPr>
              <a:t>Примечание: Nominatim заблокировал IP (HTTP 403) после нескольких прогонов — переключились на Photon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663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Приоритизация: первыми обрабатываются организации, которые «разблокируют» наибольшее число публикаций без координат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C1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0972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120640"/>
            <a:ext cx="114300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212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Нормализация: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— lowercase + trim пробелов.
«MIT» и «mit» = одно и то же. score = 0 → статья не показывается.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21208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Где видно:
Правая панель + режим графа «Похожие статьи»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