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70" r:id="rId20"/>
    <p:sldId id="274" r:id="rId21"/>
    <p:sldId id="257" r:id="rId4"/>
    <p:sldId id="269" r:id="rId5"/>
    <p:sldId id="259" r:id="rId7"/>
    <p:sldId id="260" r:id="rId8"/>
    <p:sldId id="271" r:id="rId6"/>
    <p:sldId id="261" r:id="rId9"/>
    <p:sldId id="262" r:id="rId10"/>
    <p:sldId id="263" r:id="rId11"/>
    <p:sldId id="272" r:id="rId14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700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9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200" b="1"/>
              <a:t>Охват геокодирования</a:t>
            </a:r>
          </a:p>
        </c:rich>
      </c:tx>
      <c:layout/>
      <c:overlay val="0"/>
    </c:title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Публикации (%)</c:v>
                </c:pt>
              </c:strCache>
            </c:strRef>
          </c:tx>
          <c:dPt>
            <c:idx val="0"/>
            <c:spPr>
              <a:solidFill>
                <a:srgbClr val="276FBF"/>
              </a:solidFill>
            </c:spPr>
          </c:dPt>
          <c:dPt>
            <c:idx val="1"/>
            <c:spPr>
              <a:solidFill>
                <a:srgbClr val="27AE60"/>
              </a:solidFill>
            </c:spPr>
          </c:dPt>
          <c:dPt>
            <c:idx val="2"/>
            <c:spPr>
              <a:solidFill>
                <a:srgbClr val="BDC3C7"/>
              </a:solidFill>
            </c:spPr>
          </c:dPt>
          <c:cat>
            <c:strRef>
              <c:f>Sheet1!$A$2:$A$4</c:f>
              <c:strCache>
                <c:ptCount val="3"/>
                <c:pt idx="0">
                  <c:v>Этап 1: OpenAlex API</c:v>
                </c:pt>
                <c:pt idx="1">
                  <c:v>Этап 2: Photon (OSM)</c:v>
                </c:pt>
                <c:pt idx="2">
                  <c:v>Без координат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78.0</c:v>
                </c:pt>
                <c:pt idx="1">
                  <c:v>2.8</c:v>
                </c:pt>
                <c:pt idx="2">
                  <c:v>19.2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/>
              <a:t>Динамика публикационной активности (из базы данных)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Публикаций</c:v>
                </c:pt>
              </c:strCache>
            </c:strRef>
          </c:tx>
          <c:spPr>
            <a:solidFill>
              <a:srgbClr val="276FBF"/>
            </a:solidFill>
          </c:spPr>
          <c:cat>
            <c:strRef>
              <c:f>Sheet1!$A$2:$A$26</c:f>
              <c:strCache>
                <c:ptCount val="25"/>
                <c:pt idx="0">
                  <c:v>2000</c:v>
                </c:pt>
                <c:pt idx="1">
                  <c:v>2001</c:v>
                </c:pt>
                <c:pt idx="2">
                  <c:v>2002</c:v>
                </c:pt>
                <c:pt idx="3">
                  <c:v>2003</c:v>
                </c:pt>
                <c:pt idx="4">
                  <c:v>2004</c:v>
                </c:pt>
                <c:pt idx="5">
                  <c:v>2005</c:v>
                </c:pt>
                <c:pt idx="6">
                  <c:v>2006</c:v>
                </c:pt>
                <c:pt idx="7">
                  <c:v>2007</c:v>
                </c:pt>
                <c:pt idx="8">
                  <c:v>2008</c:v>
                </c:pt>
                <c:pt idx="9">
                  <c:v>2009</c:v>
                </c:pt>
                <c:pt idx="10">
                  <c:v>2010</c:v>
                </c:pt>
                <c:pt idx="11">
                  <c:v>2011</c:v>
                </c:pt>
                <c:pt idx="12">
                  <c:v>2012</c:v>
                </c:pt>
                <c:pt idx="13">
                  <c:v>2013</c:v>
                </c:pt>
                <c:pt idx="14">
                  <c:v>2014</c:v>
                </c:pt>
                <c:pt idx="15">
                  <c:v>2015</c:v>
                </c:pt>
                <c:pt idx="16">
                  <c:v>2016</c:v>
                </c:pt>
                <c:pt idx="17">
                  <c:v>2017</c:v>
                </c:pt>
                <c:pt idx="18">
                  <c:v>2018</c:v>
                </c:pt>
                <c:pt idx="19">
                  <c:v>2019</c:v>
                </c:pt>
                <c:pt idx="20">
                  <c:v>2020</c:v>
                </c:pt>
                <c:pt idx="21">
                  <c:v>2021</c:v>
                </c:pt>
                <c:pt idx="22">
                  <c:v>2022</c:v>
                </c:pt>
                <c:pt idx="23">
                  <c:v>2023</c:v>
                </c:pt>
                <c:pt idx="24">
                  <c:v>2024</c:v>
                </c:pt>
              </c:strCache>
            </c:strRef>
          </c:cat>
          <c:val>
            <c:numRef>
              <c:f>Sheet1!$B$2:$B$26</c:f>
              <c:numCache>
                <c:formatCode>General</c:formatCode>
                <c:ptCount val="25"/>
                <c:pt idx="0">
                  <c:v>25</c:v>
                </c:pt>
                <c:pt idx="1">
                  <c:v>21</c:v>
                </c:pt>
                <c:pt idx="2">
                  <c:v>18</c:v>
                </c:pt>
                <c:pt idx="3">
                  <c:v>16</c:v>
                </c:pt>
                <c:pt idx="4">
                  <c:v>16</c:v>
                </c:pt>
                <c:pt idx="5">
                  <c:v>28</c:v>
                </c:pt>
                <c:pt idx="6">
                  <c:v>13</c:v>
                </c:pt>
                <c:pt idx="7">
                  <c:v>30</c:v>
                </c:pt>
                <c:pt idx="8">
                  <c:v>21</c:v>
                </c:pt>
                <c:pt idx="9">
                  <c:v>39</c:v>
                </c:pt>
                <c:pt idx="10">
                  <c:v>19</c:v>
                </c:pt>
                <c:pt idx="11">
                  <c:v>23</c:v>
                </c:pt>
                <c:pt idx="12">
                  <c:v>23</c:v>
                </c:pt>
                <c:pt idx="13">
                  <c:v>17</c:v>
                </c:pt>
                <c:pt idx="14">
                  <c:v>23</c:v>
                </c:pt>
                <c:pt idx="15">
                  <c:v>25</c:v>
                </c:pt>
                <c:pt idx="16">
                  <c:v>22</c:v>
                </c:pt>
                <c:pt idx="17">
                  <c:v>25</c:v>
                </c:pt>
                <c:pt idx="18">
                  <c:v>16</c:v>
                </c:pt>
                <c:pt idx="19">
                  <c:v>11</c:v>
                </c:pt>
                <c:pt idx="20">
                  <c:v>21</c:v>
                </c:pt>
                <c:pt idx="21">
                  <c:v>7</c:v>
                </c:pt>
                <c:pt idx="22">
                  <c:v>3</c:v>
                </c:pt>
                <c:pt idx="23">
                  <c:v>4</c:v>
                </c:pt>
                <c:pt idx="24">
                  <c:v>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7E86250-218A-4567-829C-67771F89BC3F}" type="datetimeFigureOut">
              <a:rPr lang="ru-RU" smtClean="0"/>
              <a:t>21.05.2026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8447653-886A-468A-A7B0-2EF8A3D8AF1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87426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120640"/>
            <a:ext cx="12188952" cy="173736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CFE0D6"/>
                </a:solidFill>
                <a:latin typeface="Calibri"/>
              </a:rPr>
              <a:t>ВЫПУСКНАЯ КВАЛИФИКАЦИОННАЯ РАБОТА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Визуализация науки на основе метаданных
публикаций и журналов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CFE0D6"/>
                </a:solidFill>
                <a:latin typeface="Calibri"/>
              </a:rPr>
              <a:t>OpenAlex  ·  PostgreSQL  ·  Python  ·  Plotly  ·  SVG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48640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9010" name="pb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1" name="pb11"/>
          <p:cNvSpPr txBox="1"/>
          <p:nvPr/>
        </p:nvSpPr>
        <p:spPr>
          <a:xfrm>
            <a:off x="0" y="6660000"/>
            <a:ext cx="812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2" name="pb12"/>
          <p:cNvSpPr txBox="1"/>
          <p:nvPr/>
        </p:nvSpPr>
        <p:spPr>
          <a:xfrm>
            <a:off x="272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13" name="pb13"/>
          <p:cNvSpPr txBox="1"/>
          <p:nvPr/>
        </p:nvSpPr>
        <p:spPr>
          <a:xfrm>
            <a:off x="164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Актуальность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250 млн+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научных работ
в открытом доступе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29184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×2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каждые 9 лет
удваивается объём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21792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1792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публикаций
с 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1188720"/>
            <a:ext cx="2743200" cy="228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144000" y="1371600"/>
            <a:ext cx="2743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3613F"/>
                </a:solidFill>
                <a:latin typeface="Calibri"/>
              </a:rPr>
              <a:t>9 994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0" y="2423160"/>
            <a:ext cx="2743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577166"/>
                </a:solidFill>
                <a:latin typeface="Calibri"/>
              </a:rPr>
              <a:t>статей
загружено в БД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3749039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22017"/>
                </a:solidFill>
                <a:latin typeface="Calibri"/>
              </a:rPr>
              <a:t>Традиционный поиск по ключевым словам находит конкретную статью,
но не отвечает на более широкие вопросы: кто с кем сотрудничает,
из каких стран приходят исследования, как менялась тематика со временем.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303520"/>
            <a:ext cx="112471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23613F"/>
                </a:solidFill>
                <a:latin typeface="Calibri"/>
              </a:rPr>
              <a:t>Карта и граф превращают тысячи строк метаданных в наглядный научный ландшафт.</a:t>
            </a:r>
          </a:p>
        </p:txBody>
      </p:sp>
      <p:sp>
        <p:nvSpPr>
          <p:cNvPr id="9020" name="pb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1" name="pb21"/>
          <p:cNvSpPr txBox="1"/>
          <p:nvPr/>
        </p:nvSpPr>
        <p:spPr>
          <a:xfrm>
            <a:off x="0" y="6660000"/>
            <a:ext cx="1625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2" name="pb22"/>
          <p:cNvSpPr txBox="1"/>
          <p:nvPr/>
        </p:nvSpPr>
        <p:spPr>
          <a:xfrm>
            <a:off x="1085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23" name="pb23"/>
          <p:cNvSpPr txBox="1"/>
          <p:nvPr/>
        </p:nvSpPr>
        <p:spPr>
          <a:xfrm>
            <a:off x="977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1">
                <a:solidFill>
                  <a:srgbClr val="FFFFFF"/>
                </a:solidFill>
              </a:rPr>
              <a:t>Динамика публикационной активности (данные OpenAlex)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180000" y="1007999"/>
          <a:ext cx="11880000" cy="5688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030" name="pb3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1" name="pb31"/>
          <p:cNvSpPr txBox="1"/>
          <p:nvPr/>
        </p:nvSpPr>
        <p:spPr>
          <a:xfrm>
            <a:off x="0" y="6660000"/>
            <a:ext cx="2438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2" name="pb32"/>
          <p:cNvSpPr txBox="1"/>
          <p:nvPr/>
        </p:nvSpPr>
        <p:spPr>
          <a:xfrm>
            <a:off x="1898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33" name="pb33"/>
          <p:cNvSpPr txBox="1"/>
          <p:nvPr/>
        </p:nvSpPr>
        <p:spPr>
          <a:xfrm>
            <a:off x="1790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s2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Почему публикации после 2020 хуже представлены в базах?</a:t>
            </a:r>
          </a:p>
        </p:txBody>
      </p:sp>
      <p:sp>
        <p:nvSpPr>
          <p:cNvPr id="121" name="s21"/>
          <p:cNvSpPr txBox="1"/>
          <p:nvPr/>
        </p:nvSpPr>
        <p:spPr>
          <a:xfrm>
            <a:off x="360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3A2A"/>
                </a:solidFill>
              </a:rPr>
              <a:t>2022</a:t>
            </a:r>
          </a:p>
        </p:txBody>
      </p:sp>
      <p:sp>
        <p:nvSpPr>
          <p:cNvPr id="122" name="s22"/>
          <p:cNvSpPr txBox="1"/>
          <p:nvPr/>
        </p:nvSpPr>
        <p:spPr>
          <a:xfrm>
            <a:off x="360000" y="1692000"/>
            <a:ext cx="2808000" cy="792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Санкции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международных баз</a:t>
            </a:r>
          </a:p>
        </p:txBody>
      </p:sp>
      <p:sp>
        <p:nvSpPr>
          <p:cNvPr id="123" name="s23"/>
          <p:cNvSpPr txBox="1"/>
          <p:nvPr/>
        </p:nvSpPr>
        <p:spPr>
          <a:xfrm>
            <a:off x="360000" y="2484000"/>
            <a:ext cx="2808000" cy="244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Scopus и Web of Science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приостановили индексацию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российских журналов.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~500 изданий удалено из Scopus.</a:t>
            </a:r>
          </a:p>
        </p:txBody>
      </p:sp>
      <p:sp>
        <p:nvSpPr>
          <p:cNvPr id="124" name="s24"/>
          <p:cNvSpPr txBox="1"/>
          <p:nvPr/>
        </p:nvSpPr>
        <p:spPr>
          <a:xfrm>
            <a:off x="3311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1A5C3A"/>
                </a:solidFill>
              </a:rPr>
              <a:t>6–18 мес</a:t>
            </a:r>
          </a:p>
        </p:txBody>
      </p:sp>
      <p:sp>
        <p:nvSpPr>
          <p:cNvPr id="125" name="s25"/>
          <p:cNvSpPr txBox="1"/>
          <p:nvPr/>
        </p:nvSpPr>
        <p:spPr>
          <a:xfrm>
            <a:off x="3311999" y="1692000"/>
            <a:ext cx="2808000" cy="792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Задержка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индексации OpenAlex</a:t>
            </a:r>
          </a:p>
        </p:txBody>
      </p:sp>
      <p:sp>
        <p:nvSpPr>
          <p:cNvPr id="126" name="s26"/>
          <p:cNvSpPr txBox="1"/>
          <p:nvPr/>
        </p:nvSpPr>
        <p:spPr>
          <a:xfrm>
            <a:off x="3311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Новые статьи появляются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в OpenAlex через 6–18 месяцев.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Данные за 2023–2024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заведомо неполные.</a:t>
            </a:r>
          </a:p>
        </p:txBody>
      </p:sp>
      <p:sp>
        <p:nvSpPr>
          <p:cNvPr id="127" name="s27"/>
          <p:cNvSpPr txBox="1"/>
          <p:nvPr/>
        </p:nvSpPr>
        <p:spPr>
          <a:xfrm>
            <a:off x="6263999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2D5544"/>
                </a:solidFill>
              </a:rPr>
              <a:t>РИНЦ</a:t>
            </a:r>
          </a:p>
        </p:txBody>
      </p:sp>
      <p:sp>
        <p:nvSpPr>
          <p:cNvPr id="128" name="s28"/>
          <p:cNvSpPr txBox="1"/>
          <p:nvPr/>
        </p:nvSpPr>
        <p:spPr>
          <a:xfrm>
            <a:off x="6263999" y="1692000"/>
            <a:ext cx="2808000" cy="792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Уход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в отечественные базы</a:t>
            </a:r>
          </a:p>
        </p:txBody>
      </p:sp>
      <p:sp>
        <p:nvSpPr>
          <p:cNvPr id="129" name="s29"/>
          <p:cNvSpPr txBox="1"/>
          <p:nvPr/>
        </p:nvSpPr>
        <p:spPr>
          <a:xfrm>
            <a:off x="6263999" y="2484000"/>
            <a:ext cx="2808000" cy="2448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Часть российских журналов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переориентировалась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на eLIBRARY/РИНЦ,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который не связан с OpenAlex.</a:t>
            </a:r>
          </a:p>
        </p:txBody>
      </p:sp>
      <p:sp>
        <p:nvSpPr>
          <p:cNvPr id="130" name="s30"/>
          <p:cNvSpPr txBox="1"/>
          <p:nvPr/>
        </p:nvSpPr>
        <p:spPr>
          <a:xfrm>
            <a:off x="9216000" y="1080000"/>
            <a:ext cx="2808000" cy="64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600" b="1">
                <a:solidFill>
                  <a:srgbClr val="3A6B55"/>
                </a:solidFill>
              </a:rPr>
              <a:t>↓ ID</a:t>
            </a:r>
          </a:p>
        </p:txBody>
      </p:sp>
      <p:sp>
        <p:nvSpPr>
          <p:cNvPr id="131" name="s31"/>
          <p:cNvSpPr txBox="1"/>
          <p:nvPr/>
        </p:nvSpPr>
        <p:spPr>
          <a:xfrm>
            <a:off x="9216000" y="1692000"/>
            <a:ext cx="2808000" cy="792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200" b="1">
                <a:solidFill>
                  <a:srgbClr val="FFFFFF"/>
                </a:solidFill>
              </a:rPr>
              <a:t>Фрагментация</a:t>
            </a:r>
          </a:p>
          <a:p>
            <a:pPr algn="ctr"/>
            <a:r>
              <a:rPr lang="ru-RU" sz="1200" b="1">
                <a:solidFill>
                  <a:srgbClr val="FFFFFF"/>
                </a:solidFill>
              </a:rPr>
              <a:t>аффилиаций</a:t>
            </a:r>
          </a:p>
        </p:txBody>
      </p:sp>
      <p:sp>
        <p:nvSpPr>
          <p:cNvPr id="132" name="s32"/>
          <p:cNvSpPr txBox="1"/>
          <p:nvPr/>
        </p:nvSpPr>
        <p:spPr>
          <a:xfrm>
            <a:off x="9216000" y="2484000"/>
            <a:ext cx="2808000" cy="2448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200" b="0">
                <a:solidFill>
                  <a:srgbClr val="CFE0D6"/>
                </a:solidFill>
              </a:rPr>
              <a:t>Авторы меняют или не указывают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российскую принадлежность.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Идентификаторы организаций</a:t>
            </a:r>
          </a:p>
          <a:p>
            <a:pPr algn="l"/>
            <a:r>
              <a:rPr lang="ru-RU" sz="1200" b="0">
                <a:solidFill>
                  <a:srgbClr val="CFE0D6"/>
                </a:solidFill>
              </a:rPr>
              <a:t>пропадают из метаданных.</a:t>
            </a:r>
          </a:p>
        </p:txBody>
      </p:sp>
      <p:sp>
        <p:nvSpPr>
          <p:cNvPr id="133" name="s33"/>
          <p:cNvSpPr txBox="1"/>
          <p:nvPr/>
        </p:nvSpPr>
        <p:spPr>
          <a:xfrm>
            <a:off x="360000" y="4824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0">
                <a:solidFill>
                  <a:srgbClr val="E8F5ED"/>
                </a:solidFill>
              </a:rPr>
              <a:t>Спад после 2020 на графике — не падение науки, а ограничения индексации и санкционное давление.</a:t>
            </a:r>
          </a:p>
        </p:txBody>
      </p:sp>
      <p:sp>
        <p:nvSpPr>
          <p:cNvPr id="9040" name="pb4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1" name="pb41"/>
          <p:cNvSpPr txBox="1"/>
          <p:nvPr/>
        </p:nvSpPr>
        <p:spPr>
          <a:xfrm>
            <a:off x="0" y="6660000"/>
            <a:ext cx="3251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2" name="pb42"/>
          <p:cNvSpPr txBox="1"/>
          <p:nvPr/>
        </p:nvSpPr>
        <p:spPr>
          <a:xfrm>
            <a:off x="2711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43" name="pb43"/>
          <p:cNvSpPr txBox="1"/>
          <p:nvPr/>
        </p:nvSpPr>
        <p:spPr>
          <a:xfrm>
            <a:off x="2603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Цель и задачи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00000"/>
            <a:ext cx="1124712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Цель: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680000"/>
            <a:ext cx="11247120" cy="4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Разработать веб-приложение для анализа и интерактивной
визуализации научных публикаций на основе открытых метаданных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000"/>
            <a:ext cx="27432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3613F"/>
                </a:solidFill>
                <a:latin typeface="Calibri"/>
              </a:rPr>
              <a:t>Задачи: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500000"/>
            <a:ext cx="1124712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/>
              <a:t>• Загрузить 9 994 публикаций из API OpenAlex (cursor pagination, батчи по 200)</a:t>
            </a:r>
          </a:p>
          <a:p>
            <a:r>
              <a:rPr sz="1300"/>
              <a:t>• Спроектировать и заполнить БД PostgreSQL из 7 таблиц</a:t>
            </a:r>
          </a:p>
          <a:p>
            <a:r>
              <a:rPr sz="1300"/>
              <a:t>• Геокодировать аффилиации авторов двумя методами (целевое покрытие ≥ 75%)</a:t>
            </a:r>
          </a:p>
          <a:p>
            <a:r>
              <a:rPr sz="1300"/>
              <a:t>• Реализовать интерактивную карту (Plotly) с точными координатами организаций</a:t>
            </a:r>
          </a:p>
          <a:p>
            <a:r>
              <a:rPr sz="1300"/>
              <a:t>• Построить граф связей в SVG с 5 режимами без внешних библиотек</a:t>
            </a:r>
          </a:p>
          <a:p>
            <a:r>
              <a:rPr sz="1300"/>
              <a:t>• Разработать REST API с gzip-сжатием и браузерный интерфейс с фасетными фильтрами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08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Объект исследования: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340000"/>
            <a:ext cx="1124712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Система метаданных научных публикаций и журналов, представленных в открытых библиографических каталогах.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00000"/>
            <a:ext cx="1124712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83528"/>
                </a:solidFill>
              </a:rPr>
              <a:t>Предмет исследования: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60000"/>
            <a:ext cx="1124712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1A"/>
                </a:solidFill>
              </a:rPr>
              <a:t>Методы интерактивной визуализации метаданных научных публикаций: географической карты аффилиаций авторов и графа связей между публикациями, авторами, журналами и организациями.</a:t>
            </a:r>
          </a:p>
        </p:txBody>
      </p:sp>
      <p:sp>
        <p:nvSpPr>
          <p:cNvPr id="9050" name="pb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1" name="pb51"/>
          <p:cNvSpPr txBox="1"/>
          <p:nvPr/>
        </p:nvSpPr>
        <p:spPr>
          <a:xfrm>
            <a:off x="0" y="6660000"/>
            <a:ext cx="4064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2" name="pb52"/>
          <p:cNvSpPr txBox="1"/>
          <p:nvPr/>
        </p:nvSpPr>
        <p:spPr>
          <a:xfrm>
            <a:off x="3524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53" name="pb53"/>
          <p:cNvSpPr txBox="1"/>
          <p:nvPr/>
        </p:nvSpPr>
        <p:spPr>
          <a:xfrm>
            <a:off x="3416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50000"/>
          </a:xfrm>
          <a:prstGeom prst="rect">
            <a:avLst/>
          </a:prstGeom>
          <a:solidFill>
            <a:srgbClr val="1F49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200000" y="120000"/>
            <a:ext cx="11788952" cy="4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</a:rPr>
              <a:t>Обзор существующих решений (актуально на 2025 год)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000" y="680000"/>
          <a:ext cx="12092000" cy="61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60000">
                  <a:extLst>
                    <a:ext uri="{9D8B030D-6E8A-4147-A177-3AD203B41FA5}" cx="12092000">
                      <a16:colId xmlns:a16="http://schemas.microsoft.com/office/drawing/2014/main" val="20000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1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2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3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4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5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6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7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8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09"/>
                    </a:ext>
                  </a:extLst>
                </a:gridCol>
                <a:gridCol w="1083200">
                  <a:extLst>
                    <a:ext uri="{9D8B030D-6E8A-4147-A177-3AD203B41FA5}" cx="12092000">
                      <a16:colId xmlns:a16="http://schemas.microsoft.com/office/drawing/2014/main" val="20010"/>
                    </a:ext>
                  </a:extLst>
                </a:gridCol>
              </a:tblGrid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Критерий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VOSviewer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CiteSpace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Connected
Papers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Bibliometrix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Gephi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Lens.org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Research
Rabbit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Inciteful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Litmaps</a:t>
                      </a:r>
                    </a:p>
                  </a:txBody>
                  <a:tcPr>
                    <a:solidFill>
                      <a:srgbClr val="1F49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Наша
система</a:t>
                      </a:r>
                    </a:p>
                  </a:txBody>
                  <a:tcPr>
                    <a:solidFill>
                      <a:srgbClr val="23613F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0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Год / статус
(2025)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2006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2019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2017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2008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2018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2020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2021
активен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2024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1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Тип доступа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
+ Java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R-пакет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Десктоп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Веб
(freemium)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Веб
(локальный)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2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Бесплатно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Лимит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3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Установка
не нужна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4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Источник
данных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WoS,
Scopus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
и другие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Импорт
файлов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225 млн
статей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0">
                          <a:solidFill>
                            <a:srgbClr val="122017"/>
                          </a:solidFill>
                        </a:rPr>
                        <a:t>Semantic
Scholar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1F493D"/>
                          </a:solidFill>
                        </a:rPr>
                        <a:t>OpenAlex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5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Карта
аффилиаций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странам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По точкам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6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Граф
связей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7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Фасетные
фильтры</a:t>
                      </a:r>
                    </a:p>
                  </a:txBody>
                  <a:tcPr>
                    <a:solidFill>
                      <a:srgbClr val="3A6B5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Частично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8"/>
                  </a:ext>
                </a:extLst>
              </a:tr>
              <a:tr h="61280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</a:rPr>
                        <a:t>Поиск
похожих</a:t>
                      </a:r>
                    </a:p>
                  </a:txBody>
                  <a:tcPr>
                    <a:solidFill>
                      <a:srgbClr val="2D554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Нет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F4FAF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sz="900" b="0">
                          <a:solidFill>
                            <a:srgbClr val="FFFFFF"/>
                          </a:solidFill>
                        </a:rPr>
                        <a:t>Да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 cx="12092000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8000" name="pb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1" name="pb1"/>
          <p:cNvSpPr txBox="1"/>
          <p:nvPr/>
        </p:nvSpPr>
        <p:spPr>
          <a:xfrm>
            <a:off x="0" y="6660000"/>
            <a:ext cx="4876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2" name="pb2"/>
          <p:cNvSpPr txBox="1"/>
          <p:nvPr/>
        </p:nvSpPr>
        <p:spPr>
          <a:xfrm>
            <a:off x="4336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8003" name="pb3"/>
          <p:cNvSpPr txBox="1"/>
          <p:nvPr/>
        </p:nvSpPr>
        <p:spPr>
          <a:xfrm>
            <a:off x="4228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Архитектура системы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7432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OpenAlex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2004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scripts/import.py
→ article_data.json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79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0040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PostgreSQL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7 таблиц
9 994 публикаций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16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2648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Python-сервер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17220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openalex_server.py
REST API + gzip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2331720"/>
            <a:ext cx="274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23613F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1280160"/>
            <a:ext cx="2606040" cy="219456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0" y="1417320"/>
            <a:ext cx="2606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Браузер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52560" y="1965960"/>
            <a:ext cx="2606040" cy="14173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098280" y="2057400"/>
            <a:ext cx="25146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122017"/>
                </a:solidFill>
                <a:latin typeface="Calibri"/>
              </a:rPr>
              <a:t>VKR1.html
Карта · Граф · Фильтры</a:t>
            </a:r>
          </a:p>
        </p:txBody>
      </p:sp>
      <p:sp>
        <p:nvSpPr>
          <p:cNvPr id="9070" name="pb7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1" name="pb71"/>
          <p:cNvSpPr txBox="1"/>
          <p:nvPr/>
        </p:nvSpPr>
        <p:spPr>
          <a:xfrm>
            <a:off x="0" y="6660000"/>
            <a:ext cx="5689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2" name="pb72"/>
          <p:cNvSpPr txBox="1"/>
          <p:nvPr/>
        </p:nvSpPr>
        <p:spPr>
          <a:xfrm>
            <a:off x="5149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73" name="pb73"/>
          <p:cNvSpPr txBox="1"/>
          <p:nvPr/>
        </p:nvSpPr>
        <p:spPr>
          <a:xfrm>
            <a:off x="5041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База данных PostgreSQL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143000"/>
            <a:ext cx="3566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Конфигурация: pg_config.py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1600200"/>
            <a:ext cx="3566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22017"/>
                </a:solidFill>
                <a:latin typeface="Calibri"/>
              </a:rPr>
              <a:t>PG_CONFIG = {
  "host": "localhost",
  "port": 5432,
  "dbname": "openalex_db",
  "client_encoding": "utf8"
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0" y="3703320"/>
            <a:ext cx="3566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77166"/>
                </a:solidFill>
                <a:latin typeface="Calibri"/>
              </a:rPr>
              <a:t>client_encoding: utf8 — обязателен
на Windows (иначе UnicodeDecodeError)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989320"/>
            <a:ext cx="7772400" cy="5486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11480" y="603504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Загрузка: ijson (потоковое чтение 200 МБ) + SAVEPOINT при конфликтах DOI → 9 994 публикаций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88000" y="1080000"/>
          <a:ext cx="7920000" cy="48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0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075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Таблица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Назначение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Ключевые поля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journals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Научные журналы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name, issn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Статьи и метаданные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title, doi, year, journal_id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persons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Авторы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openalex_id, full_name, orcid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affiliations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Организации + координаты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institution, latitude, longitude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publication_authors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Публикация ↔ Автор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publication_id, person_id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publication_topics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Тематические классификаторы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/>
                        <a:t>topic_name, score</a:t>
                      </a:r>
                    </a:p>
                  </a:txBody>
                  <a:tcPr>
                    <a:solidFill>
                      <a:srgbClr val="E8F5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075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A5C3A"/>
                          </a:solidFill>
                        </a:rPr>
                        <a:t>publication_keywords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Ключевые слова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 b="0"/>
                        <a:t>keyword_name, score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080" name="pb8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1" name="pb81"/>
          <p:cNvSpPr txBox="1"/>
          <p:nvPr/>
        </p:nvSpPr>
        <p:spPr>
          <a:xfrm>
            <a:off x="0" y="6660000"/>
            <a:ext cx="65024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2" name="pb82"/>
          <p:cNvSpPr txBox="1"/>
          <p:nvPr/>
        </p:nvSpPr>
        <p:spPr>
          <a:xfrm>
            <a:off x="59624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83" name="pb83"/>
          <p:cNvSpPr txBox="1"/>
          <p:nvPr/>
        </p:nvSpPr>
        <p:spPr>
          <a:xfrm>
            <a:off x="58544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0" name="sp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000" b="1">
                <a:solidFill>
                  <a:srgbClr val="FFFFFF"/>
                </a:solidFill>
              </a:rPr>
              <a:t>База данных — схема связей (ER-диаграмма)</a:t>
            </a:r>
          </a:p>
        </p:txBody>
      </p:sp>
      <p:sp>
        <p:nvSpPr>
          <p:cNvPr id="101" name="sp1"/>
          <p:cNvSpPr txBox="1"/>
          <p:nvPr/>
        </p:nvSpPr>
        <p:spPr>
          <a:xfrm>
            <a:off x="4968000" y="108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journals</a:t>
            </a:r>
          </a:p>
        </p:txBody>
      </p:sp>
      <p:sp>
        <p:nvSpPr>
          <p:cNvPr id="102" name="sp2"/>
          <p:cNvSpPr txBox="1"/>
          <p:nvPr/>
        </p:nvSpPr>
        <p:spPr>
          <a:xfrm>
            <a:off x="4968000" y="135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name · issn</a:t>
            </a:r>
          </a:p>
        </p:txBody>
      </p:sp>
      <p:sp>
        <p:nvSpPr>
          <p:cNvPr id="103" name="sp3"/>
          <p:cNvSpPr txBox="1"/>
          <p:nvPr/>
        </p:nvSpPr>
        <p:spPr>
          <a:xfrm>
            <a:off x="4968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3A2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publications</a:t>
            </a:r>
          </a:p>
        </p:txBody>
      </p:sp>
      <p:sp>
        <p:nvSpPr>
          <p:cNvPr id="104" name="sp4"/>
          <p:cNvSpPr txBox="1"/>
          <p:nvPr/>
        </p:nvSpPr>
        <p:spPr>
          <a:xfrm>
            <a:off x="4968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3A2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id · title · doi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year · journal_id →</a:t>
            </a:r>
          </a:p>
        </p:txBody>
      </p:sp>
      <p:sp>
        <p:nvSpPr>
          <p:cNvPr id="105" name="sp5"/>
          <p:cNvSpPr txBox="1"/>
          <p:nvPr/>
        </p:nvSpPr>
        <p:spPr>
          <a:xfrm>
            <a:off x="81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publication_authors</a:t>
            </a:r>
          </a:p>
        </p:txBody>
      </p:sp>
      <p:sp>
        <p:nvSpPr>
          <p:cNvPr id="106" name="sp6"/>
          <p:cNvSpPr txBox="1"/>
          <p:nvPr/>
        </p:nvSpPr>
        <p:spPr>
          <a:xfrm>
            <a:off x="81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person_id →</a:t>
            </a:r>
          </a:p>
        </p:txBody>
      </p:sp>
      <p:sp>
        <p:nvSpPr>
          <p:cNvPr id="107" name="sp7"/>
          <p:cNvSpPr txBox="1"/>
          <p:nvPr/>
        </p:nvSpPr>
        <p:spPr>
          <a:xfrm>
            <a:off x="81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persons</a:t>
            </a:r>
          </a:p>
        </p:txBody>
      </p:sp>
      <p:sp>
        <p:nvSpPr>
          <p:cNvPr id="108" name="sp8"/>
          <p:cNvSpPr txBox="1"/>
          <p:nvPr/>
        </p:nvSpPr>
        <p:spPr>
          <a:xfrm>
            <a:off x="81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1A5C3A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openalex_id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full_name · orcid</a:t>
            </a:r>
          </a:p>
        </p:txBody>
      </p:sp>
      <p:sp>
        <p:nvSpPr>
          <p:cNvPr id="109" name="sp9"/>
          <p:cNvSpPr txBox="1"/>
          <p:nvPr/>
        </p:nvSpPr>
        <p:spPr>
          <a:xfrm>
            <a:off x="10368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2D5544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affiliations</a:t>
            </a:r>
          </a:p>
        </p:txBody>
      </p:sp>
      <p:sp>
        <p:nvSpPr>
          <p:cNvPr id="110" name="sp10"/>
          <p:cNvSpPr txBox="1"/>
          <p:nvPr/>
        </p:nvSpPr>
        <p:spPr>
          <a:xfrm>
            <a:off x="10368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2D5544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institution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lat · lon</a:t>
            </a:r>
          </a:p>
        </p:txBody>
      </p:sp>
      <p:sp>
        <p:nvSpPr>
          <p:cNvPr id="111" name="sp11"/>
          <p:cNvSpPr txBox="1"/>
          <p:nvPr/>
        </p:nvSpPr>
        <p:spPr>
          <a:xfrm>
            <a:off x="1800000" y="4392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publication_topics</a:t>
            </a:r>
          </a:p>
        </p:txBody>
      </p:sp>
      <p:sp>
        <p:nvSpPr>
          <p:cNvPr id="112" name="sp12"/>
          <p:cNvSpPr txBox="1"/>
          <p:nvPr/>
        </p:nvSpPr>
        <p:spPr>
          <a:xfrm>
            <a:off x="1800000" y="4662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topic · score</a:t>
            </a:r>
          </a:p>
        </p:txBody>
      </p:sp>
      <p:sp>
        <p:nvSpPr>
          <p:cNvPr id="113" name="sp13"/>
          <p:cNvSpPr txBox="1"/>
          <p:nvPr/>
        </p:nvSpPr>
        <p:spPr>
          <a:xfrm>
            <a:off x="1800000" y="2700000"/>
            <a:ext cx="2160000" cy="270000"/>
          </a:xfrm>
          <a:prstGeom prst="roundRect">
            <a:avLst>
              <a:gd name="adj" fmla="val 20000"/>
            </a:avLst>
          </a:prstGeom>
          <a:solidFill>
            <a:srgbClr val="3A6B55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000" b="1">
                <a:solidFill>
                  <a:srgbClr val="FFFFFF"/>
                </a:solidFill>
              </a:rPr>
              <a:t>publication_keywords</a:t>
            </a:r>
          </a:p>
        </p:txBody>
      </p:sp>
      <p:sp>
        <p:nvSpPr>
          <p:cNvPr id="114" name="sp14"/>
          <p:cNvSpPr txBox="1"/>
          <p:nvPr/>
        </p:nvSpPr>
        <p:spPr>
          <a:xfrm>
            <a:off x="1800000" y="2970000"/>
            <a:ext cx="2160000" cy="810000"/>
          </a:xfrm>
          <a:prstGeom prst="rect">
            <a:avLst/>
          </a:prstGeom>
          <a:solidFill>
            <a:srgbClr val="F0F4F8"/>
          </a:solidFill>
          <a:ln w="12700">
            <a:solidFill>
              <a:srgbClr val="3A6B55"/>
            </a:solidFill>
          </a:ln>
        </p:spPr>
        <p:txBody>
          <a:bodyPr wrap="square" anchor="ctr"/>
          <a:lstStyle/>
          <a:p>
            <a:pPr algn="l"/>
            <a:r>
              <a:rPr lang="ru-RU" sz="900" b="0">
                <a:solidFill>
                  <a:srgbClr val="222222"/>
                </a:solidFill>
              </a:rPr>
              <a:t>publication_id →</a:t>
            </a:r>
          </a:p>
          <a:p>
            <a:pPr algn="l"/>
            <a:r>
              <a:rPr lang="ru-RU" sz="900" b="0">
                <a:solidFill>
                  <a:srgbClr val="222222"/>
                </a:solidFill>
              </a:rPr>
              <a:t>keyword · score</a:t>
            </a:r>
          </a:p>
        </p:txBody>
      </p:sp>
      <p:sp>
        <p:nvSpPr>
          <p:cNvPr id="115" name="sp15"/>
          <p:cNvSpPr txBox="1"/>
          <p:nvPr/>
        </p:nvSpPr>
        <p:spPr>
          <a:xfrm>
            <a:off x="6048000" y="2232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6" name="sp16"/>
          <p:cNvSpPr txBox="1"/>
          <p:nvPr/>
        </p:nvSpPr>
        <p:spPr>
          <a:xfrm>
            <a:off x="7380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7" name="sp17"/>
          <p:cNvSpPr txBox="1"/>
          <p:nvPr/>
        </p:nvSpPr>
        <p:spPr>
          <a:xfrm>
            <a:off x="9180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N : 1</a:t>
            </a:r>
          </a:p>
        </p:txBody>
      </p:sp>
      <p:sp>
        <p:nvSpPr>
          <p:cNvPr id="118" name="sp18"/>
          <p:cNvSpPr txBox="1"/>
          <p:nvPr/>
        </p:nvSpPr>
        <p:spPr>
          <a:xfrm>
            <a:off x="4068000" y="3240000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119" name="sp19"/>
          <p:cNvSpPr txBox="1"/>
          <p:nvPr/>
        </p:nvSpPr>
        <p:spPr>
          <a:xfrm>
            <a:off x="4068000" y="4031999"/>
            <a:ext cx="540000" cy="180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800" b="0">
                <a:solidFill>
                  <a:srgbClr val="8BB29A"/>
                </a:solidFill>
              </a:rPr>
              <a:t>1 : N</a:t>
            </a:r>
          </a:p>
        </p:txBody>
      </p:sp>
      <p:sp>
        <p:nvSpPr>
          <p:cNvPr id="9090" name="pb9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1" name="pb91"/>
          <p:cNvSpPr txBox="1"/>
          <p:nvPr/>
        </p:nvSpPr>
        <p:spPr>
          <a:xfrm>
            <a:off x="0" y="6660000"/>
            <a:ext cx="73152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2" name="pb92"/>
          <p:cNvSpPr txBox="1"/>
          <p:nvPr/>
        </p:nvSpPr>
        <p:spPr>
          <a:xfrm>
            <a:off x="67752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093" name="pb93"/>
          <p:cNvSpPr txBox="1"/>
          <p:nvPr/>
        </p:nvSpPr>
        <p:spPr>
          <a:xfrm>
            <a:off x="66672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0" name="s0"/>
          <p:cNvSpPr txBox="1"/>
          <p:nvPr/>
        </p:nvSpPr>
        <p:spPr>
          <a:xfrm>
            <a:off x="360000" y="180000"/>
            <a:ext cx="11448000" cy="684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ru-RU" sz="2200" b="1">
                <a:solidFill>
                  <a:srgbClr val="FFFFFF"/>
                </a:solidFill>
              </a:rPr>
              <a:t>Географическая привязка</a:t>
            </a:r>
          </a:p>
        </p:txBody>
      </p:sp>
      <p:sp>
        <p:nvSpPr>
          <p:cNvPr id="201" name="s1"/>
          <p:cNvSpPr txBox="1"/>
          <p:nvPr/>
        </p:nvSpPr>
        <p:spPr>
          <a:xfrm>
            <a:off x="360000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1 — Приоритизация</a:t>
            </a:r>
          </a:p>
        </p:txBody>
      </p:sp>
      <p:sp>
        <p:nvSpPr>
          <p:cNvPr id="202" name="s2"/>
          <p:cNvSpPr txBox="1"/>
          <p:nvPr/>
        </p:nvSpPr>
        <p:spPr>
          <a:xfrm>
            <a:off x="360000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Организации сортируются по числу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зависимых публикаций.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Первыми обрабатываются те,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что «разблокируют» наибольшее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количество записей без координат.</a:t>
            </a:r>
          </a:p>
        </p:txBody>
      </p:sp>
      <p:sp>
        <p:nvSpPr>
          <p:cNvPr id="203" name="s3"/>
          <p:cNvSpPr txBox="1"/>
          <p:nvPr/>
        </p:nvSpPr>
        <p:spPr>
          <a:xfrm>
            <a:off x="4211999" y="1080000"/>
            <a:ext cx="3311999" cy="576000"/>
          </a:xfrm>
          <a:prstGeom prst="rect">
            <a:avLst/>
          </a:prstGeom>
          <a:solidFill>
            <a:srgbClr val="1A5C3A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2 — OpenAlex API</a:t>
            </a:r>
          </a:p>
        </p:txBody>
      </p:sp>
      <p:sp>
        <p:nvSpPr>
          <p:cNvPr id="204" name="s4"/>
          <p:cNvSpPr txBox="1"/>
          <p:nvPr/>
        </p:nvSpPr>
        <p:spPr>
          <a:xfrm>
            <a:off x="4211999" y="1656000"/>
            <a:ext cx="3311999" cy="3204000"/>
          </a:xfrm>
          <a:prstGeom prst="rect">
            <a:avLst/>
          </a:prstGeom>
          <a:solidFill>
            <a:srgbClr val="1A3A2A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Запрос координат по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идентификатору организации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через API OpenAlex.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78% публикаций с координатами.</a:t>
            </a:r>
          </a:p>
        </p:txBody>
      </p:sp>
      <p:sp>
        <p:nvSpPr>
          <p:cNvPr id="205" name="s5"/>
          <p:cNvSpPr txBox="1"/>
          <p:nvPr/>
        </p:nvSpPr>
        <p:spPr>
          <a:xfrm>
            <a:off x="8063998" y="1080000"/>
            <a:ext cx="3311999" cy="576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300" b="1">
                <a:solidFill>
                  <a:srgbClr val="FFFFFF"/>
                </a:solidFill>
              </a:rPr>
              <a:t>Этап 3 — Photon</a:t>
            </a:r>
          </a:p>
        </p:txBody>
      </p:sp>
      <p:sp>
        <p:nvSpPr>
          <p:cNvPr id="206" name="s6"/>
          <p:cNvSpPr txBox="1"/>
          <p:nvPr/>
        </p:nvSpPr>
        <p:spPr>
          <a:xfrm>
            <a:off x="8063998" y="1656000"/>
            <a:ext cx="3311999" cy="3204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square" anchor="t"/>
          <a:lstStyle/>
          <a:p>
            <a:pPr algn="l"/>
            <a:r>
              <a:rPr lang="ru-RU" sz="1300" b="0">
                <a:solidFill>
                  <a:srgbClr val="CFE0D6"/>
                </a:solidFill>
              </a:rPr>
              <a:t>Для аффилиаций без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идентификатора — геокодирование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по строке названия через Photon</a:t>
            </a:r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(OpenStreetMap).</a:t>
            </a:r>
          </a:p>
          <a:p>
            <a:pPr algn="l"/>
          </a:p>
          <a:p>
            <a:pPr algn="l"/>
            <a:r>
              <a:rPr lang="ru-RU" sz="1300" b="0">
                <a:solidFill>
                  <a:srgbClr val="CFE0D6"/>
                </a:solidFill>
              </a:rPr>
              <a:t>Результат: +2,8% публикаций.</a:t>
            </a:r>
          </a:p>
        </p:txBody>
      </p:sp>
      <p:sp>
        <p:nvSpPr>
          <p:cNvPr id="207" name="s7"/>
          <p:cNvSpPr txBox="1"/>
          <p:nvPr/>
        </p:nvSpPr>
        <p:spPr>
          <a:xfrm>
            <a:off x="3743999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8" name="s8"/>
          <p:cNvSpPr txBox="1"/>
          <p:nvPr/>
        </p:nvSpPr>
        <p:spPr>
          <a:xfrm>
            <a:off x="7595998" y="2826000"/>
            <a:ext cx="396000" cy="2880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ru-RU" sz="2200" b="1">
                <a:solidFill>
                  <a:srgbClr val="557766"/>
                </a:solidFill>
              </a:rPr>
              <a:t>→</a:t>
            </a:r>
          </a:p>
        </p:txBody>
      </p:sp>
      <p:sp>
        <p:nvSpPr>
          <p:cNvPr id="209" name="s9"/>
          <p:cNvSpPr txBox="1"/>
          <p:nvPr/>
        </p:nvSpPr>
        <p:spPr>
          <a:xfrm>
            <a:off x="360000" y="5040000"/>
            <a:ext cx="11520000" cy="540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square" anchor="ctr"/>
          <a:lstStyle/>
          <a:p>
            <a:pPr algn="ctr"/>
            <a:r>
              <a:rPr lang="ru-RU" sz="1400" b="1">
                <a:solidFill>
                  <a:srgbClr val="FFFFFF"/>
                </a:solidFill>
              </a:rPr>
              <a:t>Итог: 80,8% публикаций с координатами (порог — 75%)</a:t>
            </a:r>
          </a:p>
        </p:txBody>
      </p:sp>
      <p:sp>
        <p:nvSpPr>
          <p:cNvPr id="9100" name="pb10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1" name="pb101"/>
          <p:cNvSpPr txBox="1"/>
          <p:nvPr/>
        </p:nvSpPr>
        <p:spPr>
          <a:xfrm>
            <a:off x="0" y="6660000"/>
            <a:ext cx="8128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2" name="pb102"/>
          <p:cNvSpPr txBox="1"/>
          <p:nvPr/>
        </p:nvSpPr>
        <p:spPr>
          <a:xfrm>
            <a:off x="7588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03" name="pb103"/>
          <p:cNvSpPr txBox="1"/>
          <p:nvPr/>
        </p:nvSpPr>
        <p:spPr>
          <a:xfrm>
            <a:off x="7480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Граф связей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Как построен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• Данные уже в браузере — сервер не нужен
• Рисуется в SVG без внешних библиотек
• Колоночная раскладка: каждый тип узла — своя колонка
• Высота SVG = 150 + кол-во узлов × 68px
• Рёбра — кривые Безье между центрами узлов
• Клик на статью → подсветка + детали в панели
• Лимит: 70 статей одновременно</a:t>
            </a:r>
          </a:p>
          <a:p>
            <a:r>
              <a:rPr sz="1000">
                <a:solidFill>
                  <a:srgbClr val="557766"/>
                </a:solidFill>
              </a:rPr>
              <a:t>
Почему не D3/Cytoscape: стандартный force-directed при 70+ узлах даёт хаотичное расположение. Колоночная раскладка предсказуема и читаема при любом числе узлов.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097280"/>
            <a:ext cx="5669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5 режимов отображения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554480"/>
            <a:ext cx="566928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Полный граф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 → Автор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Годы + журналы  </a:t>
            </a:r>
            <a:r>
              <a:rPr sz="1300">
                <a:solidFill>
                  <a:srgbClr val="122017"/>
                </a:solidFill>
                <a:latin typeface="Calibri"/>
              </a:rPr>
              <a:t>Год → Журнал → Статья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Авторы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Автор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Аффилиации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→ Аффилиация</a:t>
            </a:r>
          </a:p>
          <a:p>
            <a:pPr>
              <a:spcBef>
                <a:spcPts val="500"/>
              </a:spcBef>
            </a:pPr>
            <a:r>
              <a:rPr sz="1400" b="1">
                <a:solidFill>
                  <a:srgbClr val="23613F"/>
                </a:solidFill>
                <a:latin typeface="Calibri"/>
              </a:rPr>
              <a:t>Похожие статьи  </a:t>
            </a:r>
            <a:r>
              <a:rPr sz="1300">
                <a:solidFill>
                  <a:srgbClr val="122017"/>
                </a:solidFill>
                <a:latin typeface="Calibri"/>
              </a:rPr>
              <a:t>Статья — Статья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937760"/>
            <a:ext cx="1143000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CFE0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8640" y="5029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Типы узлов: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68880" y="5074920"/>
            <a:ext cx="1645920" cy="4572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46888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Год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5074920"/>
            <a:ext cx="1645920" cy="4572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38912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Журнал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74920"/>
            <a:ext cx="1645920" cy="457200"/>
          </a:xfrm>
          <a:prstGeom prst="rect">
            <a:avLst/>
          </a:prstGeom>
          <a:solidFill>
            <a:srgbClr val="577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30936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Статья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5074920"/>
            <a:ext cx="1645920" cy="457200"/>
          </a:xfrm>
          <a:prstGeom prst="rect">
            <a:avLst/>
          </a:prstGeom>
          <a:solidFill>
            <a:srgbClr val="5577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Автор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149840" y="5074920"/>
            <a:ext cx="1645920" cy="457200"/>
          </a:xfrm>
          <a:prstGeom prst="rect">
            <a:avLst/>
          </a:prstGeom>
          <a:solidFill>
            <a:srgbClr val="8BB2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149840" y="51206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Аффилиация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8000" y="6083600"/>
            <a:ext cx="1152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CFE0D6"/>
                </a:solidFill>
              </a:rPr>
              <a:t>Режим отображения — настройка типов узлов и связей, видимых на графе одновременно. Каждый режим показывает разный «срез» данных: например, режим «Авторы» скрывает годы и журналы и оставляет только связи статья → автор.</a:t>
            </a:r>
          </a:p>
        </p:txBody>
      </p:sp>
      <p:sp>
        <p:nvSpPr>
          <p:cNvPr id="9110" name="pb11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1" name="pb111"/>
          <p:cNvSpPr txBox="1"/>
          <p:nvPr/>
        </p:nvSpPr>
        <p:spPr>
          <a:xfrm>
            <a:off x="0" y="6660000"/>
            <a:ext cx="89408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2" name="pb112"/>
          <p:cNvSpPr txBox="1"/>
          <p:nvPr/>
        </p:nvSpPr>
        <p:spPr>
          <a:xfrm>
            <a:off x="84008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13" name="pb113"/>
          <p:cNvSpPr txBox="1"/>
          <p:nvPr/>
        </p:nvSpPr>
        <p:spPr>
          <a:xfrm>
            <a:off x="82928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11</a:t>
            </a:r>
          </a:p>
        </p:txBody>
      </p:sp>
      <p:sp>
        <p:nvSpPr>
          <p:cNvPr id="9114" name="TextBox 9114"/>
          <p:cNvSpPr txBox="1"/>
          <p:nvPr/>
        </p:nvSpPr>
        <p:spPr>
          <a:xfrm>
            <a:off x="548640" y="55664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3613F"/>
                </a:solidFill>
                <a:latin typeface="Calibri"/>
              </a:rPr>
              <a:t>Типы связей:</a:t>
            </a:r>
          </a:p>
        </p:txBody>
      </p:sp>
      <p:sp>
        <p:nvSpPr>
          <p:cNvPr id="9115" name="TextBox 9115"/>
          <p:cNvSpPr txBox="1"/>
          <p:nvPr/>
        </p:nvSpPr>
        <p:spPr>
          <a:xfrm>
            <a:off x="246888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Год → Статья</a:t>
            </a:r>
          </a:p>
        </p:txBody>
      </p:sp>
      <p:sp>
        <p:nvSpPr>
          <p:cNvPr id="9116" name="TextBox 9116"/>
          <p:cNvSpPr txBox="1"/>
          <p:nvPr/>
        </p:nvSpPr>
        <p:spPr>
          <a:xfrm>
            <a:off x="438912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Журнал → Статья</a:t>
            </a:r>
          </a:p>
        </p:txBody>
      </p:sp>
      <p:sp>
        <p:nvSpPr>
          <p:cNvPr id="9117" name="TextBox 9117"/>
          <p:cNvSpPr txBox="1"/>
          <p:nvPr/>
        </p:nvSpPr>
        <p:spPr>
          <a:xfrm>
            <a:off x="630936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Статья → Автор</a:t>
            </a:r>
          </a:p>
        </p:txBody>
      </p:sp>
      <p:sp>
        <p:nvSpPr>
          <p:cNvPr id="9118" name="TextBox 9118"/>
          <p:cNvSpPr txBox="1"/>
          <p:nvPr/>
        </p:nvSpPr>
        <p:spPr>
          <a:xfrm>
            <a:off x="822960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Статья → Аффил.</a:t>
            </a:r>
          </a:p>
        </p:txBody>
      </p:sp>
      <p:sp>
        <p:nvSpPr>
          <p:cNvPr id="9119" name="TextBox 9119"/>
          <p:cNvSpPr txBox="1"/>
          <p:nvPr/>
        </p:nvSpPr>
        <p:spPr>
          <a:xfrm>
            <a:off x="10149840" y="56578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CFE0D6"/>
                </a:solidFill>
                <a:latin typeface="Calibri"/>
              </a:rPr>
              <a:t>Статья — Статья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7FB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Поиск похожих статей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0000" y="2268000"/>
            <a:ext cx="50292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3613F"/>
                </a:solidFill>
                <a:latin typeface="Calibri"/>
              </a:rPr>
              <a:t>Этап 2 — Алгоритм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0000" y="2736000"/>
            <a:ext cx="5303520" cy="30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22017"/>
                </a:solidFill>
                <a:latin typeface="Calibri"/>
              </a:rPr>
              <a:t>Для каждой выбранной статьи перебираются все остальные.
Считается балл сходства по 5 признакам:
score =
  общих авторов × 4
+ общих тем × 3
+ общих ключевых слов × 2
+ общих аффилиаций × 2
+ одинаковый журнал → +2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0" y="2268000"/>
            <a:ext cx="5943600" cy="3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4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авторы — Один автор — тематически связанные работы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3  </a:t>
            </a:r>
            <a:r>
              <a:rPr sz="1300">
                <a:solidFill>
                  <a:srgbClr val="122017"/>
                </a:solidFill>
                <a:latin typeface="Calibri"/>
              </a:rPr>
              <a:t>Общие темы — Главный признак содержательной близости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Ключевые слова — Уточняющий признак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× 2  </a:t>
            </a:r>
            <a:r>
              <a:rPr sz="1300">
                <a:solidFill>
                  <a:srgbClr val="122017"/>
                </a:solidFill>
                <a:latin typeface="Calibri"/>
              </a:rPr>
              <a:t>Аффилиации — Соавторство из одной организации</a:t>
            </a:r>
          </a:p>
          <a:p>
            <a:pPr>
              <a:spcBef>
                <a:spcPts val="600"/>
              </a:spcBef>
            </a:pPr>
            <a:r>
              <a:rPr sz="1800" b="1">
                <a:solidFill>
                  <a:srgbClr val="23613F"/>
                </a:solidFill>
                <a:latin typeface="Calibri"/>
              </a:rPr>
              <a:t>+2  </a:t>
            </a:r>
            <a:r>
              <a:rPr sz="1300">
                <a:solidFill>
                  <a:srgbClr val="122017"/>
                </a:solidFill>
                <a:latin typeface="Calibri"/>
              </a:rPr>
              <a:t>Один журнал — Публикуются в одном издании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1080000"/>
            <a:ext cx="114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3613F"/>
                </a:solidFill>
                <a:latin typeface="Calibri"/>
              </a:rPr>
              <a:t>Этап 1 — Нормализация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1512000"/>
            <a:ext cx="11448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22017"/>
                </a:solidFill>
                <a:latin typeface="Calibri"/>
              </a:rPr>
              <a:t>Перед сравнением все строки приводятся к нижнему регистру и обрезаются пробелы.
«MIT» и «mit» считаются одним значением. score = 0 — статья не показывается.</a:t>
            </a:r>
          </a:p>
        </p:txBody>
      </p:sp>
      <p:sp>
        <p:nvSpPr>
          <p:cNvPr id="9120" name="pb12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1" name="pb121"/>
          <p:cNvSpPr txBox="1"/>
          <p:nvPr/>
        </p:nvSpPr>
        <p:spPr>
          <a:xfrm>
            <a:off x="0" y="6660000"/>
            <a:ext cx="97536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2" name="pb122"/>
          <p:cNvSpPr txBox="1"/>
          <p:nvPr/>
        </p:nvSpPr>
        <p:spPr>
          <a:xfrm>
            <a:off x="92136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23" name="pb123"/>
          <p:cNvSpPr txBox="1"/>
          <p:nvPr/>
        </p:nvSpPr>
        <p:spPr>
          <a:xfrm>
            <a:off x="91056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631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11430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Результаты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9 994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
загружено из OpenAlex</a:t>
            </a:r>
          </a:p>
        </p:txBody>
      </p:sp>
      <p:sp>
        <p:nvSpPr>
          <p:cNvPr id="8" name="Rectangle 7"/>
          <p:cNvSpPr/>
          <p:nvPr/>
        </p:nvSpPr>
        <p:spPr>
          <a:xfrm>
            <a:off x="269747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743199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7 таблиц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199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реляционная БД
PostgreSQL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7492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80,8%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публикаций с
геокоординатами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19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режимов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графа связей
(SVG, без библиотек)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188720"/>
            <a:ext cx="2103120" cy="2011680"/>
          </a:xfrm>
          <a:prstGeom prst="rect">
            <a:avLst/>
          </a:prstGeom>
          <a:solidFill>
            <a:srgbClr val="1E2E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738360" y="1280160"/>
            <a:ext cx="2011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A8DDB8"/>
                </a:solidFill>
                <a:latin typeface="Calibri"/>
              </a:rPr>
              <a:t>5 признаков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38360" y="2148840"/>
            <a:ext cx="2011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FE0D6"/>
                </a:solidFill>
                <a:latin typeface="Calibri"/>
              </a:rPr>
              <a:t>алгоритм поиска
похожих статей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47472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/>
              <a:t>Загружено 9 994 публикаций из OpenAlex
Создана реляционная БД из 7 таблиц PostgreSQL
Геокодировано 80,8% публикаций (точные координаты организаций)
Реализованы карта, граф с 5 режимами и фасетные фильтры
Разработан алгоритм поиска похожих статей по 5 признакам
Создан REST API с gzip-сжатием и веб-интерфейс с тёмной темой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29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FE0D6"/>
                </a:solidFill>
                <a:latin typeface="Calibri"/>
              </a:rPr>
              <a:t>REST API  ·  Фасетные фильтры  ·  Тёмная тема  ·  gzip-сжатие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5943600"/>
            <a:ext cx="12188952" cy="9144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57200" y="6035040"/>
            <a:ext cx="11247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Веб-приложение: http://127.0.0.1:8000  |  Запуск: python openalex_server.py</a:t>
            </a:r>
          </a:p>
        </p:txBody>
      </p:sp>
      <p:sp>
        <p:nvSpPr>
          <p:cNvPr id="9150" name="pb150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0D1F1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1" name="pb151"/>
          <p:cNvSpPr txBox="1"/>
          <p:nvPr/>
        </p:nvSpPr>
        <p:spPr>
          <a:xfrm>
            <a:off x="0" y="6660000"/>
            <a:ext cx="12192000" cy="198000"/>
          </a:xfrm>
          <a:prstGeom prst="rect">
            <a:avLst/>
          </a:prstGeom>
          <a:solidFill>
            <a:srgbClr val="2D5544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2" name="pb152"/>
          <p:cNvSpPr txBox="1"/>
          <p:nvPr/>
        </p:nvSpPr>
        <p:spPr>
          <a:xfrm>
            <a:off x="11652000" y="6660000"/>
            <a:ext cx="540000" cy="198000"/>
          </a:xfrm>
          <a:prstGeom prst="rect">
            <a:avLst/>
          </a:prstGeom>
          <a:solidFill>
            <a:srgbClr val="3A6B55"/>
          </a:solidFill>
          <a:ln>
            <a:noFill/>
          </a:ln>
        </p:spPr>
        <p:txBody>
          <a:bodyPr wrap="none" anchor="ctr"/>
          <a:lstStyle/>
          <a:p/>
        </p:txBody>
      </p:sp>
      <p:sp>
        <p:nvSpPr>
          <p:cNvPr id="9153" name="pb153"/>
          <p:cNvSpPr txBox="1"/>
          <p:nvPr/>
        </p:nvSpPr>
        <p:spPr>
          <a:xfrm>
            <a:off x="11544000" y="6660000"/>
            <a:ext cx="648000" cy="198000"/>
          </a:xfrm>
          <a:prstGeom prst="rect">
            <a:avLst/>
          </a:prstGeom>
          <a:solidFill>
            <a:srgbClr val="23613F"/>
          </a:solidFill>
          <a:ln>
            <a:noFill/>
          </a:ln>
        </p:spPr>
        <p:txBody>
          <a:bodyPr wrap="none" anchor="ctr"/>
          <a:lstStyle/>
          <a:p>
            <a:pPr algn="ctr"/>
            <a:r>
              <a:rPr lang="ru-RU" sz="800" b="1">
                <a:solidFill>
                  <a:srgbClr val="FFFFFF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913</Words>
  <Application>Microsoft Office PowerPoint</Application>
  <PresentationFormat>Произвольный</PresentationFormat>
  <Paragraphs>303</Paragraphs>
  <Slides>13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Varvara Surnova</cp:lastModifiedBy>
  <cp:revision>2</cp:revision>
  <dcterms:created xsi:type="dcterms:W3CDTF">2013-01-27T09:14:16Z</dcterms:created>
  <dcterms:modified xsi:type="dcterms:W3CDTF">2026-05-21T05:09:54Z</dcterms:modified>
  <cp:category/>
</cp:coreProperties>
</file>