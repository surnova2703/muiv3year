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70" r:id="rId4"/>
    <p:sldId id="274" r:id="rId5"/>
    <p:sldId id="257" r:id="rId6"/>
    <p:sldId id="275" r:id="rId19"/>
    <p:sldId id="276" r:id="rId20"/>
    <p:sldId id="269" r:id="rId7"/>
    <p:sldId id="259" r:id="rId8"/>
    <p:sldId id="277" r:id="rId21"/>
    <p:sldId id="271" r:id="rId9"/>
    <p:sldId id="278" r:id="rId22"/>
    <p:sldId id="261" r:id="rId10"/>
    <p:sldId id="262" r:id="rId11"/>
    <p:sldId id="279" r:id="rId23"/>
    <p:sldId id="263" r:id="rId12"/>
    <p:sldId id="280" r:id="rId24"/>
    <p:sldId id="281" r:id="rId25"/>
    <p:sldId id="272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 snapToObjects="1">
      <p:cViewPr varScale="1">
        <p:scale>
          <a:sx n="38" d="100"/>
          <a:sy n="38" d="100"/>
        </p:scale>
        <p:origin x="68" y="7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1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6.xml"/><Relationship Id="rId13" Type="http://schemas.openxmlformats.org/officeDocument/2006/relationships/slide" Target="slides/slide19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10.xml"/><Relationship Id="rId22" Type="http://schemas.openxmlformats.org/officeDocument/2006/relationships/slide" Target="slides/slide12.xml"/><Relationship Id="rId23" Type="http://schemas.openxmlformats.org/officeDocument/2006/relationships/slide" Target="slides/slide15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marker>
            <c:symbol val="none"/>
          </c:marker>
          <c:dPt>
            <c:idx val="0"/>
            <c:bubble3D val="0"/>
            <c:spPr>
              <a:ln w="28575" cap="rnd" cmpd="sng" algn="ctr">
                <a:solidFill>
                  <a:schemeClr val="accent3">
                    <a:tint val="3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82-4A50-AFD3-889EA294D1C6}"/>
              </c:ext>
            </c:extLst>
          </c:dPt>
          <c:dPt>
            <c:idx val="1"/>
            <c:bubble3D val="0"/>
            <c:spPr>
              <a:ln w="28575" cap="rnd" cmpd="sng" algn="ctr">
                <a:solidFill>
                  <a:schemeClr val="accent3">
                    <a:tint val="4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82-4A50-AFD3-889EA294D1C6}"/>
              </c:ext>
            </c:extLst>
          </c:dPt>
          <c:dPt>
            <c:idx val="2"/>
            <c:bubble3D val="0"/>
            <c:spPr>
              <a:ln w="28575" cap="rnd" cmpd="sng" algn="ctr">
                <a:solidFill>
                  <a:schemeClr val="accent3">
                    <a:tint val="4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7C82-4A50-AFD3-889EA294D1C6}"/>
              </c:ext>
            </c:extLst>
          </c:dPt>
          <c:dPt>
            <c:idx val="3"/>
            <c:bubble3D val="0"/>
            <c:spPr>
              <a:ln w="28575" cap="rnd" cmpd="sng" algn="ctr">
                <a:solidFill>
                  <a:schemeClr val="accent3">
                    <a:tint val="5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7C82-4A50-AFD3-889EA294D1C6}"/>
              </c:ext>
            </c:extLst>
          </c:dPt>
          <c:dPt>
            <c:idx val="4"/>
            <c:bubble3D val="0"/>
            <c:spPr>
              <a:ln w="28575" cap="rnd" cmpd="sng" algn="ctr">
                <a:solidFill>
                  <a:schemeClr val="accent3">
                    <a:tint val="5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7C82-4A50-AFD3-889EA294D1C6}"/>
              </c:ext>
            </c:extLst>
          </c:dPt>
          <c:dPt>
            <c:idx val="5"/>
            <c:bubble3D val="0"/>
            <c:spPr>
              <a:ln w="28575" cap="rnd" cmpd="sng" algn="ctr">
                <a:solidFill>
                  <a:schemeClr val="accent3">
                    <a:tint val="6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B-7C82-4A50-AFD3-889EA294D1C6}"/>
              </c:ext>
            </c:extLst>
          </c:dPt>
          <c:dPt>
            <c:idx val="6"/>
            <c:bubble3D val="0"/>
            <c:spPr>
              <a:ln w="28575" cap="rnd" cmpd="sng" algn="ctr">
                <a:solidFill>
                  <a:schemeClr val="accent3">
                    <a:tint val="6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D-7C82-4A50-AFD3-889EA294D1C6}"/>
              </c:ext>
            </c:extLst>
          </c:dPt>
          <c:dPt>
            <c:idx val="7"/>
            <c:bubble3D val="0"/>
            <c:spPr>
              <a:ln w="28575" cap="rnd" cmpd="sng" algn="ctr">
                <a:solidFill>
                  <a:schemeClr val="accent3">
                    <a:tint val="7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F-7C82-4A50-AFD3-889EA294D1C6}"/>
              </c:ext>
            </c:extLst>
          </c:dPt>
          <c:dPt>
            <c:idx val="8"/>
            <c:bubble3D val="0"/>
            <c:spPr>
              <a:ln w="28575" cap="rnd" cmpd="sng" algn="ctr">
                <a:solidFill>
                  <a:schemeClr val="accent3">
                    <a:tint val="7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1-7C82-4A50-AFD3-889EA294D1C6}"/>
              </c:ext>
            </c:extLst>
          </c:dPt>
          <c:dPt>
            <c:idx val="9"/>
            <c:bubble3D val="0"/>
            <c:spPr>
              <a:ln w="28575" cap="rnd" cmpd="sng" algn="ctr">
                <a:solidFill>
                  <a:schemeClr val="accent3">
                    <a:tint val="8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3-7C82-4A50-AFD3-889EA294D1C6}"/>
              </c:ext>
            </c:extLst>
          </c:dPt>
          <c:dPt>
            <c:idx val="10"/>
            <c:bubble3D val="0"/>
            <c:spPr>
              <a:ln w="28575" cap="rnd" cmpd="sng" algn="ctr">
                <a:solidFill>
                  <a:schemeClr val="accent3">
                    <a:tint val="9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5-7C82-4A50-AFD3-889EA294D1C6}"/>
              </c:ext>
            </c:extLst>
          </c:dPt>
          <c:dPt>
            <c:idx val="11"/>
            <c:bubble3D val="0"/>
            <c:spPr>
              <a:ln w="28575" cap="rnd" cmpd="sng" algn="ctr">
                <a:solidFill>
                  <a:schemeClr val="accent3">
                    <a:tint val="9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7-7C82-4A50-AFD3-889EA294D1C6}"/>
              </c:ext>
            </c:extLst>
          </c:dPt>
          <c:dPt>
            <c:idx val="12"/>
            <c:bubble3D val="0"/>
            <c:spPr>
              <a:ln w="28575" cap="rnd" cmpd="sng" algn="ctr">
                <a:solidFill>
                  <a:schemeClr val="accent3"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9-7C82-4A50-AFD3-889EA294D1C6}"/>
              </c:ext>
            </c:extLst>
          </c:dPt>
          <c:dPt>
            <c:idx val="13"/>
            <c:bubble3D val="0"/>
            <c:spPr>
              <a:ln w="28575" cap="rnd" cmpd="sng" algn="ctr">
                <a:solidFill>
                  <a:schemeClr val="accent3">
                    <a:shade val="9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B-7C82-4A50-AFD3-889EA294D1C6}"/>
              </c:ext>
            </c:extLst>
          </c:dPt>
          <c:dPt>
            <c:idx val="14"/>
            <c:bubble3D val="0"/>
            <c:spPr>
              <a:ln w="28575" cap="rnd" cmpd="sng" algn="ctr">
                <a:solidFill>
                  <a:schemeClr val="accent3">
                    <a:shade val="8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D-7C82-4A50-AFD3-889EA294D1C6}"/>
              </c:ext>
            </c:extLst>
          </c:dPt>
          <c:dPt>
            <c:idx val="15"/>
            <c:bubble3D val="0"/>
            <c:spPr>
              <a:ln w="28575" cap="rnd" cmpd="sng" algn="ctr">
                <a:solidFill>
                  <a:schemeClr val="accent3">
                    <a:shade val="8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F-7C82-4A50-AFD3-889EA294D1C6}"/>
              </c:ext>
            </c:extLst>
          </c:dPt>
          <c:dPt>
            <c:idx val="16"/>
            <c:bubble3D val="0"/>
            <c:spPr>
              <a:ln w="28575" cap="rnd" cmpd="sng" algn="ctr">
                <a:solidFill>
                  <a:schemeClr val="accent3">
                    <a:shade val="7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1-7C82-4A50-AFD3-889EA294D1C6}"/>
              </c:ext>
            </c:extLst>
          </c:dPt>
          <c:dPt>
            <c:idx val="17"/>
            <c:bubble3D val="0"/>
            <c:spPr>
              <a:ln w="28575" cap="rnd" cmpd="sng" algn="ctr">
                <a:solidFill>
                  <a:schemeClr val="accent3">
                    <a:shade val="7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3-7C82-4A50-AFD3-889EA294D1C6}"/>
              </c:ext>
            </c:extLst>
          </c:dPt>
          <c:dPt>
            <c:idx val="18"/>
            <c:bubble3D val="0"/>
            <c:spPr>
              <a:ln w="28575" cap="rnd" cmpd="sng" algn="ctr">
                <a:solidFill>
                  <a:schemeClr val="accent3">
                    <a:shade val="6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5-7C82-4A50-AFD3-889EA294D1C6}"/>
              </c:ext>
            </c:extLst>
          </c:dPt>
          <c:dPt>
            <c:idx val="19"/>
            <c:bubble3D val="0"/>
            <c:spPr>
              <a:ln w="28575" cap="rnd" cmpd="sng" algn="ctr">
                <a:solidFill>
                  <a:schemeClr val="accent3">
                    <a:shade val="6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7-7C82-4A50-AFD3-889EA294D1C6}"/>
              </c:ext>
            </c:extLst>
          </c:dPt>
          <c:dPt>
            <c:idx val="20"/>
            <c:bubble3D val="0"/>
            <c:spPr>
              <a:ln w="28575" cap="rnd" cmpd="sng" algn="ctr">
                <a:solidFill>
                  <a:schemeClr val="accent3">
                    <a:shade val="5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9-7C82-4A50-AFD3-889EA294D1C6}"/>
              </c:ext>
            </c:extLst>
          </c:dPt>
          <c:dPt>
            <c:idx val="21"/>
            <c:bubble3D val="0"/>
            <c:spPr>
              <a:ln w="28575" cap="rnd" cmpd="sng" algn="ctr">
                <a:solidFill>
                  <a:schemeClr val="accent3">
                    <a:shade val="5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B-7C82-4A50-AFD3-889EA294D1C6}"/>
              </c:ext>
            </c:extLst>
          </c:dPt>
          <c:dPt>
            <c:idx val="22"/>
            <c:bubble3D val="0"/>
            <c:spPr>
              <a:ln w="28575" cap="rnd" cmpd="sng" algn="ctr">
                <a:solidFill>
                  <a:schemeClr val="accent3">
                    <a:shade val="4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D-7C82-4A50-AFD3-889EA294D1C6}"/>
              </c:ext>
            </c:extLst>
          </c:dPt>
          <c:dPt>
            <c:idx val="23"/>
            <c:bubble3D val="0"/>
            <c:spPr>
              <a:ln w="28575" cap="rnd" cmpd="sng" algn="ctr">
                <a:solidFill>
                  <a:schemeClr val="accent3">
                    <a:shade val="4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F-7C82-4A50-AFD3-889EA294D1C6}"/>
              </c:ext>
            </c:extLst>
          </c:dPt>
          <c:dPt>
            <c:idx val="24"/>
            <c:bubble3D val="0"/>
            <c:spPr>
              <a:ln w="28575" cap="rnd" cmpd="sng" algn="ctr">
                <a:solidFill>
                  <a:schemeClr val="accent3">
                    <a:shade val="3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1-7C82-4A50-AFD3-889EA294D1C6}"/>
              </c:ext>
            </c:extLst>
          </c:dPt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79-40F6-88DD-6E0EC8770D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 w="9525" cap="flat" cmpd="sng" algn="ctr">
      <a:noFill/>
      <a:prstDash val="solid"/>
    </a:ln>
    <a:effectLst/>
  </c:spPr>
  <c:txPr>
    <a:bodyPr/>
    <a:lstStyle/>
    <a:p>
      <a:pPr>
        <a:defRPr sz="18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3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0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260280"/>
              </p:ext>
            </p:extLst>
          </p:nvPr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664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с 2018 по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Научная новизна и практическая значимость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Научная новизна: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многоуровневого геокодирования с приоритизацией аффилиаций по частоте вхождения в публикации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оценки сходства статей по 5 признакам с весовыми коэффициентами (авторы ×4, темы ×3, ключевые слова ×2, аффилиации ×2, журнал +2)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Браузерный граф на чистом SVG с 5 режимами отображения без внешних зависимостей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Практическая значимость: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Система визуализирует 9 994 публикации в браузере без установки стороннего ПО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Открытый исходный код, локальный запуск, работа без постоянного подключения к интернету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Покрытие геокоординатами 80,8% при пороговом требовании 75%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Требования к системе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Функциональные: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5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Загрузка публикаций из OpenAlex API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Хранение метаданных в реляционной БД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Геокодирование аффилиаций (≥ 75%)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Интерактивная карта распределения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Граф связей в 5 режимах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Поиск похожих статей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Фасетные фильтры (год, журнал, тема)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Просмотр деталей статьи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108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Нефункциональные: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3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Локальная работа без интернета после загрузки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Только метаданные (не полные тексты)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графе, 200 в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Без внешних JS-зависимостей в интерфейсе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API-ответов (5–10×)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Обоснование выбора технологий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0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0" y="110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Стандартная библиотека + requests; не требует Node.js; широкая экосистема для работы с данными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08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JOIN-запросы для нормализованной схемы (7 таблиц); надёжные транзакции и savepoint-ы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6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Plotly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0000" y="306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scatter_geo — встроенные мировые карты, интерактивность без дополнительного сервера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0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4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SVG (не D3)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404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Граф рисуется в браузере без зависимостей; D3 и Cytoscape требуют npm или лицензии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8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02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OpenAlex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000" y="502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Бесплатный открытый источник, 250 млн+ работ; cursor pagination без ограничений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6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9094" name="Picture 9093" descr="er_v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1050000"/>
            <a:ext cx="11640000" cy="56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Загрузка данных: import.py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Технические особенности: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Cursor pagination: итерация по cursor=*, батчи по 200 публикаций за запрос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Потоковый парсинг через ijson — JSON не загружается целиком в память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Savepoint-ы при конфликтах ключей — транзакции не прерываются на дублях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Кэш-файл article_data.json — восстановление загрузки после прерывания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Нормализация на лету: данные сразу раскладываются в 7 таблиц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Результат: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9 994 публикации в таблице publications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~50 000 строк в publication_authors, ~30 000 в publication_topics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Координаты хранятся в таблице affiliations (latitude, longitude)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Интерфейс: структура и детали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Раскладка: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Три колонки: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Фильтры / Карта + Граф / Детали статьи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Фильтры применяются мгновенно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(без перезагрузки страницы)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0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Детали статьи: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7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Аннотация и DOI загружаются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ленивым запросом по клику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Основной список — только метаданные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(быстрый первоначальный рендеринг)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000" y="108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Тёмная / светлая тема: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000" y="135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CSS-переменные: --bg, --text, --accent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Тема меняется без перезагрузки страницы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Два предустановленных набора переменных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0000" y="350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Ограничения: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0000" y="377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 (производительность браузера)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статей в боковом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ответов сервера (5–10×)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311825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tIns="45720" rIns="91440" bIns="45720">
            <a:spAutoFit/>
          </a:bodyPr>
          <a:lstStyle/>
          <a:p>
            <a:pPr algn="l"/>
            <a:r>
              <a:rPr sz="1200" b="0" i="1" dirty="0" err="1">
                <a:solidFill>
                  <a:schemeClr val="bg1"/>
                </a:solidFill>
                <a:latin typeface="Calibri"/>
              </a:rPr>
              <a:t>Балл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сходства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(score)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целое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число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близости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двух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статей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5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признакам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;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выше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тем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ближе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 score = 0: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статья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не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показывается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Направления дальнейшего развития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1.  Полнотекстовый поиск по аннотациям — PostgreSQL Full-Text Search или ElasticSearch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2.  Экспорт графа в форматы VOSviewer (.net) и Gephi (.gexf) для дальнейшего анализа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3.  Серверный рендеринг графа для наборов данных &gt; 10 000 публикаций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4.  Расширение источников: РИНЦ / eLIBRARY, Semantic Scholar, Crossref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5.  Уведомления о новых публикациях по заданной теме или автору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dirty="0" err="1">
                <a:solidFill>
                  <a:schemeClr val="bg1"/>
                </a:solidFill>
              </a:rPr>
              <a:t>Загружено</a:t>
            </a:r>
            <a:r>
              <a:rPr sz="1300" dirty="0">
                <a:solidFill>
                  <a:schemeClr val="bg1"/>
                </a:solidFill>
              </a:rPr>
              <a:t> 9 994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OpenAlex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реляционная</a:t>
            </a:r>
            <a:r>
              <a:rPr sz="1300" dirty="0">
                <a:solidFill>
                  <a:schemeClr val="bg1"/>
                </a:solidFill>
              </a:rPr>
              <a:t> БД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7 </a:t>
            </a:r>
            <a:r>
              <a:rPr sz="1300" dirty="0" err="1">
                <a:solidFill>
                  <a:schemeClr val="bg1"/>
                </a:solidFill>
              </a:rPr>
              <a:t>таблиц</a:t>
            </a:r>
            <a:r>
              <a:rPr sz="1300" dirty="0">
                <a:solidFill>
                  <a:schemeClr val="bg1"/>
                </a:solidFill>
              </a:rPr>
              <a:t> PostgreSQL
</a:t>
            </a:r>
            <a:r>
              <a:rPr sz="1300" dirty="0" err="1">
                <a:solidFill>
                  <a:schemeClr val="bg1"/>
                </a:solidFill>
              </a:rPr>
              <a:t>Геокодировано</a:t>
            </a:r>
            <a:r>
              <a:rPr sz="1300" dirty="0">
                <a:solidFill>
                  <a:schemeClr val="bg1"/>
                </a:solidFill>
              </a:rPr>
              <a:t> 80,8%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(</a:t>
            </a:r>
            <a:r>
              <a:rPr sz="1300" dirty="0" err="1">
                <a:solidFill>
                  <a:schemeClr val="bg1"/>
                </a:solidFill>
              </a:rPr>
              <a:t>точные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координаты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организаций</a:t>
            </a:r>
            <a:r>
              <a:rPr sz="1300" dirty="0">
                <a:solidFill>
                  <a:schemeClr val="bg1"/>
                </a:solidFill>
              </a:rPr>
              <a:t>)
</a:t>
            </a:r>
            <a:r>
              <a:rPr sz="1300" dirty="0" err="1">
                <a:solidFill>
                  <a:schemeClr val="bg1"/>
                </a:solidFill>
              </a:rPr>
              <a:t>Реализованы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карта</a:t>
            </a:r>
            <a:r>
              <a:rPr sz="1300" dirty="0">
                <a:solidFill>
                  <a:schemeClr val="bg1"/>
                </a:solidFill>
              </a:rPr>
              <a:t>, </a:t>
            </a:r>
            <a:r>
              <a:rPr sz="1300" dirty="0" err="1">
                <a:solidFill>
                  <a:schemeClr val="bg1"/>
                </a:solidFill>
              </a:rPr>
              <a:t>граф</a:t>
            </a:r>
            <a:r>
              <a:rPr sz="1300" dirty="0">
                <a:solidFill>
                  <a:schemeClr val="bg1"/>
                </a:solidFill>
              </a:rPr>
              <a:t> с 5 </a:t>
            </a:r>
            <a:r>
              <a:rPr sz="1300" dirty="0" err="1">
                <a:solidFill>
                  <a:schemeClr val="bg1"/>
                </a:solidFill>
              </a:rPr>
              <a:t>режимами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фасетные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фильтры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Разработан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алгоритм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поиска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похожих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статей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</a:t>
            </a:r>
            <a:r>
              <a:rPr sz="1300" dirty="0">
                <a:solidFill>
                  <a:schemeClr val="bg1"/>
                </a:solidFill>
              </a:rPr>
              <a:t> 5 </a:t>
            </a:r>
            <a:r>
              <a:rPr sz="1300" dirty="0" err="1">
                <a:solidFill>
                  <a:schemeClr val="bg1"/>
                </a:solidFill>
              </a:rPr>
              <a:t>признакам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</a:t>
            </a:r>
            <a:r>
              <a:rPr sz="1300" dirty="0">
                <a:solidFill>
                  <a:schemeClr val="bg1"/>
                </a:solidFill>
              </a:rPr>
              <a:t> REST API с </a:t>
            </a:r>
            <a:r>
              <a:rPr sz="1300" dirty="0" err="1">
                <a:solidFill>
                  <a:schemeClr val="bg1"/>
                </a:solidFill>
              </a:rPr>
              <a:t>gzip-сжатием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веб-интерфейс</a:t>
            </a:r>
            <a:r>
              <a:rPr sz="1300" dirty="0">
                <a:solidFill>
                  <a:schemeClr val="bg1"/>
                </a:solidFill>
              </a:rPr>
              <a:t> с </a:t>
            </a:r>
            <a:r>
              <a:rPr sz="1300" dirty="0" err="1">
                <a:solidFill>
                  <a:schemeClr val="bg1"/>
                </a:solidFill>
              </a:rPr>
              <a:t>тёмной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темой</a:t>
            </a:r>
            <a:endParaRPr sz="1300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7200" y="6130416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CFE0D6"/>
                </a:solidFill>
                <a:latin typeface="Calibri"/>
              </a:rPr>
              <a:t>REST API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Фасетные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фильтры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Тёмная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тема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gzip-сжатие</a:t>
            </a:r>
            <a:endParaRPr sz="1600" b="0" i="0" dirty="0">
              <a:solidFill>
                <a:srgbClr val="CFE0D6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1544000" y="6660000"/>
            <a:ext cx="644825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806</Words>
  <Application>Microsoft Office PowerPoint</Application>
  <PresentationFormat>Произвольный</PresentationFormat>
  <Paragraphs>269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Varvara Surnova</dc:creator>
  <cp:keywords/>
  <dc:description>generated using python-pptx</dc:description>
  <cp:lastModifiedBy>Varvara Surnova</cp:lastModifiedBy>
  <cp:revision>5</cp:revision>
  <dcterms:created xsi:type="dcterms:W3CDTF">2013-01-27T09:14:16Z</dcterms:created>
  <dcterms:modified xsi:type="dcterms:W3CDTF">2026-06-07T07:32:47Z</dcterms:modified>
  <cp:category/>
</cp:coreProperties>
</file>