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15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8" r:id="rId3"/>
    <p:sldId id="270" r:id="rId20"/>
    <p:sldId id="257" r:id="rId4"/>
    <p:sldId id="269" r:id="rId5"/>
    <p:sldId id="259" r:id="rId7"/>
    <p:sldId id="260" r:id="rId8"/>
    <p:sldId id="271" r:id="rId6"/>
    <p:sldId id="261" r:id="rId9"/>
    <p:sldId id="262" r:id="rId10"/>
    <p:sldId id="263" r:id="rId11"/>
    <p:sldId id="264" r:id="rId12"/>
    <p:sldId id="265" r:id="rId13"/>
    <p:sldId id="272" r:id="rId14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5" d="100"/>
          <a:sy n="65" d="100"/>
        </p:scale>
        <p:origin x="700" y="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1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5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3.xml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200" b="1"/>
              <a:t>Охват геокодирования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Публикации (%)</c:v>
                </c:pt>
              </c:strCache>
            </c:strRef>
          </c:tx>
          <c:dPt>
            <c:idx val="0"/>
            <c:spPr>
              <a:solidFill>
                <a:srgbClr val="276FBF"/>
              </a:solidFill>
            </c:spPr>
          </c:dPt>
          <c:dPt>
            <c:idx val="1"/>
            <c:spPr>
              <a:solidFill>
                <a:srgbClr val="27AE60"/>
              </a:solidFill>
            </c:spPr>
          </c:dPt>
          <c:dPt>
            <c:idx val="2"/>
            <c:spPr>
              <a:solidFill>
                <a:srgbClr val="BDC3C7"/>
              </a:solidFill>
            </c:spPr>
          </c:dPt>
          <c:cat>
            <c:strRef>
              <c:f>Sheet1!$A$2:$A$4</c:f>
              <c:strCache>
                <c:ptCount val="3"/>
                <c:pt idx="0">
                  <c:v>Этап 1: OpenAlex API</c:v>
                </c:pt>
                <c:pt idx="1">
                  <c:v>Этап 2: Photon (OSM)</c:v>
                </c:pt>
                <c:pt idx="2">
                  <c:v>Без координат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78.0</c:v>
                </c:pt>
                <c:pt idx="1">
                  <c:v>2.8</c:v>
                </c:pt>
                <c:pt idx="2">
                  <c:v>19.2</c:v>
                </c:pt>
              </c:numCache>
            </c:numRef>
          </c:val>
        </c:ser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/>
              <a:t>Динамика публикационной активности (из базы данных)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Публикаций</c:v>
                </c:pt>
              </c:strCache>
            </c:strRef>
          </c:tx>
          <c:spPr>
            <a:solidFill>
              <a:srgbClr val="276FBF"/>
            </a:solidFill>
          </c:spPr>
          <c:cat>
            <c:strRef>
              <c:f>Sheet1!$A$2:$A$26</c:f>
              <c:strCache>
                <c:ptCount val="25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25</c:v>
                </c:pt>
                <c:pt idx="1">
                  <c:v>21</c:v>
                </c:pt>
                <c:pt idx="2">
                  <c:v>18</c:v>
                </c:pt>
                <c:pt idx="3">
                  <c:v>16</c:v>
                </c:pt>
                <c:pt idx="4">
                  <c:v>16</c:v>
                </c:pt>
                <c:pt idx="5">
                  <c:v>28</c:v>
                </c:pt>
                <c:pt idx="6">
                  <c:v>13</c:v>
                </c:pt>
                <c:pt idx="7">
                  <c:v>30</c:v>
                </c:pt>
                <c:pt idx="8">
                  <c:v>21</c:v>
                </c:pt>
                <c:pt idx="9">
                  <c:v>39</c:v>
                </c:pt>
                <c:pt idx="10">
                  <c:v>19</c:v>
                </c:pt>
                <c:pt idx="11">
                  <c:v>23</c:v>
                </c:pt>
                <c:pt idx="12">
                  <c:v>23</c:v>
                </c:pt>
                <c:pt idx="13">
                  <c:v>17</c:v>
                </c:pt>
                <c:pt idx="14">
                  <c:v>23</c:v>
                </c:pt>
                <c:pt idx="15">
                  <c:v>25</c:v>
                </c:pt>
                <c:pt idx="16">
                  <c:v>22</c:v>
                </c:pt>
                <c:pt idx="17">
                  <c:v>25</c:v>
                </c:pt>
                <c:pt idx="18">
                  <c:v>16</c:v>
                </c:pt>
                <c:pt idx="19">
                  <c:v>11</c:v>
                </c:pt>
                <c:pt idx="20">
                  <c:v>21</c:v>
                </c:pt>
                <c:pt idx="21">
                  <c:v>7</c:v>
                </c:pt>
                <c:pt idx="22">
                  <c:v>3</c:v>
                </c:pt>
                <c:pt idx="23">
                  <c:v>4</c:v>
                </c:pt>
                <c:pt idx="24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Публикаций</c:v>
                </c:pt>
              </c:strCache>
            </c:strRef>
          </c:tx>
          <c:spPr>
            <a:solidFill>
              <a:srgbClr val="276FBF"/>
            </a:solidFill>
          </c:spPr>
          <c:cat>
            <c:strRef>
              <c:f>Sheet1!$A$2:$A$26</c:f>
              <c:strCache>
                <c:ptCount val="25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25</c:v>
                </c:pt>
                <c:pt idx="1">
                  <c:v>21</c:v>
                </c:pt>
                <c:pt idx="2">
                  <c:v>18</c:v>
                </c:pt>
                <c:pt idx="3">
                  <c:v>16</c:v>
                </c:pt>
                <c:pt idx="4">
                  <c:v>16</c:v>
                </c:pt>
                <c:pt idx="5">
                  <c:v>28</c:v>
                </c:pt>
                <c:pt idx="6">
                  <c:v>13</c:v>
                </c:pt>
                <c:pt idx="7">
                  <c:v>30</c:v>
                </c:pt>
                <c:pt idx="8">
                  <c:v>21</c:v>
                </c:pt>
                <c:pt idx="9">
                  <c:v>39</c:v>
                </c:pt>
                <c:pt idx="10">
                  <c:v>19</c:v>
                </c:pt>
                <c:pt idx="11">
                  <c:v>23</c:v>
                </c:pt>
                <c:pt idx="12">
                  <c:v>23</c:v>
                </c:pt>
                <c:pt idx="13">
                  <c:v>17</c:v>
                </c:pt>
                <c:pt idx="14">
                  <c:v>23</c:v>
                </c:pt>
                <c:pt idx="15">
                  <c:v>25</c:v>
                </c:pt>
                <c:pt idx="16">
                  <c:v>22</c:v>
                </c:pt>
                <c:pt idx="17">
                  <c:v>25</c:v>
                </c:pt>
                <c:pt idx="18">
                  <c:v>16</c:v>
                </c:pt>
                <c:pt idx="19">
                  <c:v>11</c:v>
                </c:pt>
                <c:pt idx="20">
                  <c:v>21</c:v>
                </c:pt>
                <c:pt idx="21">
                  <c:v>7</c:v>
                </c:pt>
                <c:pt idx="22">
                  <c:v>3</c:v>
                </c:pt>
                <c:pt idx="23">
                  <c:v>4</c:v>
                </c:pt>
                <c:pt idx="24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E86250-218A-4567-829C-67771F89BC3F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447653-886A-468A-A7B0-2EF8A3D8AF1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8742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88952" cy="173736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FE0D6"/>
                </a:solidFill>
                <a:latin typeface="Calibri"/>
              </a:rPr>
              <a:t>ВЫПУСКНАЯ КВАЛИФИКАЦИОННАЯ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Визуализация науки на основе метаданных
публикаций и журналов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CFE0D6"/>
                </a:solidFill>
                <a:latin typeface="Calibri"/>
              </a:rPr>
              <a:t>OpenAlex  ·  PostgreSQL  ·  Python  ·  Plotly  ·  SVG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2026</a:t>
            </a:r>
          </a:p>
        </p:txBody>
      </p:sp>
      <p:sp>
        <p:nvSpPr>
          <p:cNvPr id="2010" name="pb1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11" name="pb11"/>
          <p:cNvSpPr txBox="1"/>
          <p:nvPr/>
        </p:nvSpPr>
        <p:spPr>
          <a:xfrm>
            <a:off x="0" y="6660000"/>
            <a:ext cx="870857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12" name="pb12"/>
          <p:cNvSpPr txBox="1"/>
          <p:nvPr/>
        </p:nvSpPr>
        <p:spPr>
          <a:xfrm>
            <a:off x="330857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113" name="pbn13"/>
          <p:cNvSpPr txBox="1"/>
          <p:nvPr/>
        </p:nvSpPr>
        <p:spPr>
          <a:xfrm>
            <a:off x="222857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Актуальность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250 млн+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научных работ
в открытом доступе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29184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×2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каждые 9 лет
удваивается объём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публикаций
с 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9 994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статей
загружено в БД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39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22017"/>
                </a:solidFill>
                <a:latin typeface="Calibri"/>
              </a:rPr>
              <a:t>Традиционный поиск по ключевым словам находит конкретную статью,
но не отвечает на более широкие вопросы: кто с кем сотрудничает,
из каких стран приходят исследования, как менялась тематика со временем.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3035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3613F"/>
                </a:solidFill>
                <a:latin typeface="Calibri"/>
              </a:rPr>
              <a:t>Карта и граф превращают тысячи строк метаданных в наглядный научный ландшафт.</a:t>
            </a:r>
          </a:p>
        </p:txBody>
      </p:sp>
      <p:sp>
        <p:nvSpPr>
          <p:cNvPr id="2020" name="pb2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21" name="pb21"/>
          <p:cNvSpPr txBox="1"/>
          <p:nvPr/>
        </p:nvSpPr>
        <p:spPr>
          <a:xfrm>
            <a:off x="0" y="6660000"/>
            <a:ext cx="1741714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22" name="pb22"/>
          <p:cNvSpPr txBox="1"/>
          <p:nvPr/>
        </p:nvSpPr>
        <p:spPr>
          <a:xfrm>
            <a:off x="1201714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123" name="pbn23"/>
          <p:cNvSpPr txBox="1"/>
          <p:nvPr/>
        </p:nvSpPr>
        <p:spPr>
          <a:xfrm>
            <a:off x="1093714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Динамика публикационной активности (данные OpenAlex)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180000" y="1007999"/>
          <a:ext cx="11880000" cy="5688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030" name="pb3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31" name="pb31"/>
          <p:cNvSpPr txBox="1"/>
          <p:nvPr/>
        </p:nvSpPr>
        <p:spPr>
          <a:xfrm>
            <a:off x="0" y="6660000"/>
            <a:ext cx="2612571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32" name="pb32"/>
          <p:cNvSpPr txBox="1"/>
          <p:nvPr/>
        </p:nvSpPr>
        <p:spPr>
          <a:xfrm>
            <a:off x="2072571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133" name="pbn33"/>
          <p:cNvSpPr txBox="1"/>
          <p:nvPr/>
        </p:nvSpPr>
        <p:spPr>
          <a:xfrm>
            <a:off x="1964571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Цель и задачи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00000"/>
            <a:ext cx="1124712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Цель: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80000"/>
            <a:ext cx="11247120" cy="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Разработать веб-приложение для анализа и интерактивной
визуализации научных публикаций на основе открытых метаданных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000"/>
            <a:ext cx="27432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Задачи: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00000"/>
            <a:ext cx="1124712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• Загрузить 9 994 публикаций из API OpenAlex (cursor pagination, батчи по 200)</a:t>
            </a:r>
          </a:p>
          <a:p>
            <a:r>
              <a:rPr sz="1300"/>
              <a:t>• Спроектировать и заполнить БД PostgreSQL из 7 таблиц</a:t>
            </a:r>
          </a:p>
          <a:p>
            <a:r>
              <a:rPr sz="1300"/>
              <a:t>• Геокодировать аффилиации авторов двумя методами (целевое покрытие ≥ 75%)</a:t>
            </a:r>
          </a:p>
          <a:p>
            <a:r>
              <a:rPr sz="1300"/>
              <a:t>• Реализовать интерактивную карту (Plotly) с точными координатами организаций</a:t>
            </a:r>
          </a:p>
          <a:p>
            <a:r>
              <a:rPr sz="1300"/>
              <a:t>• Построить граф связей в SVG с 5 режимами без внешних библиотек</a:t>
            </a:r>
          </a:p>
          <a:p>
            <a:r>
              <a:rPr sz="1300"/>
              <a:t>• Разработать REST API с gzip-сжатием и браузерный интерфейс с фасетными фильтрами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83528"/>
                </a:solidFill>
              </a:rPr>
              <a:t>Объект исследования: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40000"/>
            <a:ext cx="1124712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Система метаданных научных публикаций и журналов, представленных в открытых библиографических каталогах.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0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83528"/>
                </a:solidFill>
              </a:rPr>
              <a:t>Предмет исследования: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0000"/>
            <a:ext cx="1124712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Методы интерактивной визуализации метаданных научных публикаций: географической карты аффилиаций авторов и графа связей между публикациями, авторами, журналами и организациями.</a:t>
            </a:r>
          </a:p>
        </p:txBody>
      </p:sp>
      <p:sp>
        <p:nvSpPr>
          <p:cNvPr id="2040" name="pb4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41" name="pb41"/>
          <p:cNvSpPr txBox="1"/>
          <p:nvPr/>
        </p:nvSpPr>
        <p:spPr>
          <a:xfrm>
            <a:off x="0" y="6660000"/>
            <a:ext cx="3483428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42" name="pb42"/>
          <p:cNvSpPr txBox="1"/>
          <p:nvPr/>
        </p:nvSpPr>
        <p:spPr>
          <a:xfrm>
            <a:off x="2943428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143" name="pbn43"/>
          <p:cNvSpPr txBox="1"/>
          <p:nvPr/>
        </p:nvSpPr>
        <p:spPr>
          <a:xfrm>
            <a:off x="2835428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50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00000" y="120000"/>
            <a:ext cx="11788952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</a:rPr>
              <a:t>Обзор существующих решений (актуально на 2025 год)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0000" y="680000"/>
          <a:ext cx="11988950" cy="612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Критерий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VOSviewer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CiteSpace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Connected
Papers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Bibliometrix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Gephi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Lens.org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Research
Rabbit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Inciteful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Litmaps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Наша
система</a:t>
                      </a:r>
                    </a:p>
                  </a:txBody>
                  <a:tcPr>
                    <a:solidFill>
                      <a:srgbClr val="2361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Год / статус
(2025)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2010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2006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2019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2017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2008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2020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2024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Тип доступа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
+ Java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R-пакет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
(freemium)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Веб
(локальный)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Бесплатно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5 графов
в месяц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5 карт
в месяц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Установка
не нужна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Источник
данных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OpenAlex
и другие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Импорт
файлов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225 млн
статей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Карта
аффилиаций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Да,
координаты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Граф
связей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Да,
5 режимов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Фасетные
фильтры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Частично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Поиск
похожих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Да,
5 признаков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2050" name="pb5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51" name="pb51"/>
          <p:cNvSpPr txBox="1"/>
          <p:nvPr/>
        </p:nvSpPr>
        <p:spPr>
          <a:xfrm>
            <a:off x="0" y="6660000"/>
            <a:ext cx="4354285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52" name="pb52"/>
          <p:cNvSpPr txBox="1"/>
          <p:nvPr/>
        </p:nvSpPr>
        <p:spPr>
          <a:xfrm>
            <a:off x="3814285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153" name="pbn53"/>
          <p:cNvSpPr txBox="1"/>
          <p:nvPr/>
        </p:nvSpPr>
        <p:spPr>
          <a:xfrm>
            <a:off x="3706285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Архитектура системы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OpenAlex API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scripts/import.py
→ article_data.json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79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0040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4612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7 таблиц
9 994 публикаций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2648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Python-сервер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7220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openalex_server.py
REST API + gzip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5256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05256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Браузер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5256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09828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VKR1.html
Карта · Граф · Фильтры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37033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Геокодирование аффилиаций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416052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Этап 1: OpenAlex /institutions API — батчи по 100 ID → 78% покрытие
Этап 2: Photon (OpenStreetMap) по строке названия → итого 80,8%</a:t>
            </a:r>
          </a:p>
        </p:txBody>
      </p:sp>
      <p:sp>
        <p:nvSpPr>
          <p:cNvPr id="2060" name="pb6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61" name="pb61"/>
          <p:cNvSpPr txBox="1"/>
          <p:nvPr/>
        </p:nvSpPr>
        <p:spPr>
          <a:xfrm>
            <a:off x="0" y="6660000"/>
            <a:ext cx="5225142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62" name="pb62"/>
          <p:cNvSpPr txBox="1"/>
          <p:nvPr/>
        </p:nvSpPr>
        <p:spPr>
          <a:xfrm>
            <a:off x="4685142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163" name="pbn63"/>
          <p:cNvSpPr txBox="1"/>
          <p:nvPr/>
        </p:nvSpPr>
        <p:spPr>
          <a:xfrm>
            <a:off x="4577142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База данных PostgreSQL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14300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Конфигурация: pg_config.py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1600200"/>
            <a:ext cx="3566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22017"/>
                </a:solidFill>
                <a:latin typeface="Calibri"/>
              </a:rPr>
              <a:t>PG_CONFIG = {
  "host": "localhost",
  "port": 5432,
  "dbname": "openalex_db",
  "client_encoding": "utf8"
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370332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77166"/>
                </a:solidFill>
                <a:latin typeface="Calibri"/>
              </a:rPr>
              <a:t>client_encoding: utf8 — обязателен
на Windows (иначе UnicodeDecodeError)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989320"/>
            <a:ext cx="7772400" cy="5486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11480" y="603504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Загрузка: ijson (потоковое чтение 200 МБ) + SAVEPOINT при конфликтах DOI → 9 994 публикаций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88000" y="1080000"/>
          <a:ext cx="7920000" cy="48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75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Таблица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Назначение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Ключевые поля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journals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Научные журналы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openalex_id, name, issn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publications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Статьи и метаданные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title, doi, year, journal_id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persons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Авторы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openalex_id, full_name, orcid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affiliations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Организации + координаты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institution, latitude, longitude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publication_authors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Публикация ↔ Автор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publication_id, person_id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publication_topics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Тематические классификаторы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topic_name, score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publication_keywords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Ключевые слова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keyword_name, score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070" name="pb7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71" name="pb71"/>
          <p:cNvSpPr txBox="1"/>
          <p:nvPr/>
        </p:nvSpPr>
        <p:spPr>
          <a:xfrm>
            <a:off x="0" y="6660000"/>
            <a:ext cx="6096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72" name="pb72"/>
          <p:cNvSpPr txBox="1"/>
          <p:nvPr/>
        </p:nvSpPr>
        <p:spPr>
          <a:xfrm>
            <a:off x="5556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173" name="pbn73"/>
          <p:cNvSpPr txBox="1"/>
          <p:nvPr/>
        </p:nvSpPr>
        <p:spPr>
          <a:xfrm>
            <a:off x="5448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Географическая привязка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539496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Этап 1 — OpenAlex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52120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GET /institutions?filter=ids.openalex:I1|I2|...
• Батчи по 100 institution_id
• Пауза 0,5 сек между запросами
• Кэш: geo_cache.json
Результат: 7 822 / 9 994 публикаций (78%)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1828800"/>
            <a:ext cx="822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77166"/>
                </a:solidFill>
                <a:latin typeface="Calibri"/>
              </a:rPr>
              <a:t>→
не хватает
22%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0" y="1097280"/>
            <a:ext cx="502920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0" y="118872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Этап 2 — Photon (OpenStreetMap)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691640"/>
            <a:ext cx="48463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Для строк без institution_id:
GET photon.komoot.io/api/?q=&lt;название&gt;
Стратегия сокращения строки:
полная → последние 3 части → 2 части
Координаты GeoJSON: [lon, lat] → переставить
Результат: +255 публикаций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49039"/>
            <a:ext cx="11430000" cy="64008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3822191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Итог: 8 077 из 9 994 публикаций с координатами — 80,8% покрытие карты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5262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77166"/>
                </a:solidFill>
                <a:latin typeface="Calibri"/>
              </a:rPr>
              <a:t>Примечание: Nominatim заблокировал IP (HTTP 403) после нескольких прогонов — переключились на Photon</a:t>
            </a:r>
          </a:p>
          <a:p>
            <a:r>
              <a:rPr sz="1000">
                <a:solidFill>
                  <a:srgbClr val="557766"/>
                </a:solidFill>
              </a:rPr>
              <a:t>
Почему не 100%: часть аффилиаций — строки без топонима (напр. «Department of Physics»). Геокодер не может определить координаты без названия места.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1663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Приоритизация: первыми обрабатываются организации, которые «разблокируют» наибольшее число публикаций без координат</a:t>
            </a:r>
          </a:p>
        </p:txBody>
      </p:sp>
      <p:sp>
        <p:nvSpPr>
          <p:cNvPr id="2090" name="pb9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91" name="pb91"/>
          <p:cNvSpPr txBox="1"/>
          <p:nvPr/>
        </p:nvSpPr>
        <p:spPr>
          <a:xfrm>
            <a:off x="0" y="6660000"/>
            <a:ext cx="7837714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92" name="pb92"/>
          <p:cNvSpPr txBox="1"/>
          <p:nvPr/>
        </p:nvSpPr>
        <p:spPr>
          <a:xfrm>
            <a:off x="7297714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193" name="pbn93"/>
          <p:cNvSpPr txBox="1"/>
          <p:nvPr/>
        </p:nvSpPr>
        <p:spPr>
          <a:xfrm>
            <a:off x="7189714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Граф связей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Как построен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• Данные уже в браузере — сервер не нужен
• Рисуется в SVG без внешних библиотек
• Колоночная раскладка: каждый тип узла — своя колонка
• Высота SVG = 150 + кол-во узлов × 68px
• Рёбра — кривые Безье между центрами узлов
• Клик на статью → подсветка + детали в панели
• Лимит: 70 статей одновременно</a:t>
            </a:r>
          </a:p>
          <a:p>
            <a:r>
              <a:rPr sz="1000">
                <a:solidFill>
                  <a:srgbClr val="557766"/>
                </a:solidFill>
              </a:rPr>
              <a:t>
Почему не D3/Cytoscape: стандартный force-directed при 70+ узлах даёт хаотичное расположение. Колоночная раскладка предсказуема и читаема при любом числе узлов.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09728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5 режимов отображения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554480"/>
            <a:ext cx="5669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Полный граф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 → Автор → Аффилиация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Годы + журналы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Авторы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Автор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Аффилиации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Аффилиация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Похожие статьи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— Статья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937760"/>
            <a:ext cx="114300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5029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Типы узлов: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8880" y="5074920"/>
            <a:ext cx="1645920" cy="4572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6888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Год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5074920"/>
            <a:ext cx="1645920" cy="4572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8912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Журнал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5074920"/>
            <a:ext cx="1645920" cy="457200"/>
          </a:xfrm>
          <a:prstGeom prst="rect">
            <a:avLst/>
          </a:prstGeom>
          <a:solidFill>
            <a:srgbClr val="577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936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Статья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5074920"/>
            <a:ext cx="1645920" cy="457200"/>
          </a:xfrm>
          <a:prstGeom prst="rect">
            <a:avLst/>
          </a:prstGeom>
          <a:solidFill>
            <a:srgbClr val="C1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Автор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49840" y="5074920"/>
            <a:ext cx="1645920" cy="457200"/>
          </a:xfrm>
          <a:prstGeom prst="rect">
            <a:avLst/>
          </a:prstGeom>
          <a:solidFill>
            <a:srgbClr val="8BB2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14984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Аффилиация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00" y="5940000"/>
            <a:ext cx="1152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AACCFF"/>
                </a:solidFill>
              </a:rPr>
              <a:t>Режим отображения — настройка типов узлов и связей, видимых на графе одновременно. Каждый режим показывает разный «срез» данных: например, режим «Авторы» скрывает годы и журналы и оставляет только связи статья → автор.</a:t>
            </a:r>
          </a:p>
        </p:txBody>
      </p:sp>
      <p:sp>
        <p:nvSpPr>
          <p:cNvPr id="2100" name="pb10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101" name="pb101"/>
          <p:cNvSpPr txBox="1"/>
          <p:nvPr/>
        </p:nvSpPr>
        <p:spPr>
          <a:xfrm>
            <a:off x="0" y="6660000"/>
            <a:ext cx="8708571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102" name="pb102"/>
          <p:cNvSpPr txBox="1"/>
          <p:nvPr/>
        </p:nvSpPr>
        <p:spPr>
          <a:xfrm>
            <a:off x="8168571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203" name="pbn103"/>
          <p:cNvSpPr txBox="1"/>
          <p:nvPr/>
        </p:nvSpPr>
        <p:spPr>
          <a:xfrm>
            <a:off x="8060571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Поиск похожих статей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Алгоритм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303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22017"/>
                </a:solidFill>
                <a:latin typeface="Calibri"/>
              </a:rPr>
              <a:t>Для каждой выбранной статьи перебираются все остальные.
Считается балл сходства по 5 признакам:
score =
  общих авторов × 4
+ общих тем × 3
+ общих ключевых слов × 2
+ общих аффилиаций × 2
+ одинаковый журнал → +2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1097280"/>
            <a:ext cx="5943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4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авторы — Один автор — тематически связанные работы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3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темы — Главный признак содержательной близости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Ключевые слова — Уточняющий признак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Аффилиации — Соавторство из одной организации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+2  </a:t>
            </a:r>
            <a:r>
              <a:rPr sz="1300">
                <a:solidFill>
                  <a:srgbClr val="122017"/>
                </a:solidFill>
                <a:latin typeface="Calibri"/>
              </a:rPr>
              <a:t>Один журнал — Публикуются в одном издании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5120640"/>
            <a:ext cx="114300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5212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Нормализация: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577840"/>
            <a:ext cx="7315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Перед сравнением — lowercase + trim пробелов.
«MIT» и «mit» = одно и то же. score = 0 → статья не показывается.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5212080"/>
            <a:ext cx="3931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Где видно:
Правая панель + режим графа «Похожие статьи»</a:t>
            </a:r>
          </a:p>
        </p:txBody>
      </p:sp>
      <p:sp>
        <p:nvSpPr>
          <p:cNvPr id="2110" name="pb11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111" name="pb111"/>
          <p:cNvSpPr txBox="1"/>
          <p:nvPr/>
        </p:nvSpPr>
        <p:spPr>
          <a:xfrm>
            <a:off x="0" y="6660000"/>
            <a:ext cx="9579428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112" name="pb112"/>
          <p:cNvSpPr txBox="1"/>
          <p:nvPr/>
        </p:nvSpPr>
        <p:spPr>
          <a:xfrm>
            <a:off x="9039428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213" name="pbn113"/>
          <p:cNvSpPr txBox="1"/>
          <p:nvPr/>
        </p:nvSpPr>
        <p:spPr>
          <a:xfrm>
            <a:off x="8931428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Веб-интерфейс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Левая панель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Фильтры (год, журнал,
автор, аффилиация)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Список статей (до 200)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Кнопки: Карта / Граф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База данных (внизу)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38912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Центр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Карта — Plotly scatter_geo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Граф — SVG, 5 режимов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Переключение кнопками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2104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Правая панель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Детали статьи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Авторы, аффилиации,
темы, ключевые слова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Аннотация (по запросу)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Похожие статьи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89788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77166"/>
                </a:solidFill>
                <a:latin typeface="Calibri"/>
              </a:rPr>
              <a:t>Фасетные фильтры: каждый список показывает только доступные варианты с учётом остальных фильтров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589788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3613F"/>
                </a:solidFill>
                <a:latin typeface="Calibri"/>
              </a:rPr>
              <a:t>Тёмная / светлая тема</a:t>
            </a:r>
          </a:p>
        </p:txBody>
      </p:sp>
      <p:sp>
        <p:nvSpPr>
          <p:cNvPr id="2120" name="pb12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121" name="pb121"/>
          <p:cNvSpPr txBox="1"/>
          <p:nvPr/>
        </p:nvSpPr>
        <p:spPr>
          <a:xfrm>
            <a:off x="0" y="6660000"/>
            <a:ext cx="10450285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122" name="pb122"/>
          <p:cNvSpPr txBox="1"/>
          <p:nvPr/>
        </p:nvSpPr>
        <p:spPr>
          <a:xfrm>
            <a:off x="9910285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223" name="pbn123"/>
          <p:cNvSpPr txBox="1"/>
          <p:nvPr/>
        </p:nvSpPr>
        <p:spPr>
          <a:xfrm>
            <a:off x="9802285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Проблемы и решения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114300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Файл 201 МБ:  </a:t>
            </a:r>
            <a:r>
              <a:rPr sz="1400">
                <a:solidFill>
                  <a:srgbClr val="122017"/>
                </a:solidFill>
                <a:latin typeface="Calibri"/>
              </a:rPr>
              <a:t>GitHub отклонял push  →  git filter-branch + .gitignore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MemoryError:  </a:t>
            </a:r>
            <a:r>
              <a:rPr sz="1400">
                <a:solidFill>
                  <a:srgbClr val="122017"/>
                </a:solidFill>
                <a:latin typeface="Calibri"/>
              </a:rPr>
              <a:t>JSON не помещался в RAM  →  ijson — потоковое чтение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Браузер обрывал соединение:  </a:t>
            </a:r>
            <a:r>
              <a:rPr sz="1400">
                <a:solidFill>
                  <a:srgbClr val="122017"/>
                </a:solidFill>
                <a:latin typeface="Calibri"/>
              </a:rPr>
              <a:t>Большой JSON-ответ API  →  gzip-сжатие в сервере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Страница зависала:  </a:t>
            </a:r>
            <a:r>
              <a:rPr sz="1400">
                <a:solidFill>
                  <a:srgbClr val="122017"/>
                </a:solidFill>
                <a:latin typeface="Calibri"/>
              </a:rPr>
              <a:t>O(n²) подсчёт связей  →  Вычисление только по запросу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IP заблокирован:  </a:t>
            </a:r>
            <a:r>
              <a:rPr sz="1400">
                <a:solidFill>
                  <a:srgbClr val="122017"/>
                </a:solidFill>
                <a:latin typeface="Calibri"/>
              </a:rPr>
              <a:t>Nominatim HTTP 403  →  Переход на Photon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UnicodeDecodeError:  </a:t>
            </a:r>
            <a:r>
              <a:rPr sz="1400">
                <a:solidFill>
                  <a:srgbClr val="122017"/>
                </a:solidFill>
                <a:latin typeface="Calibri"/>
              </a:rPr>
              <a:t>cp1251 на Windows  →  client_encoding: utf8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Нет места на диске:  </a:t>
            </a:r>
            <a:r>
              <a:rPr sz="1400">
                <a:solidFill>
                  <a:srgbClr val="122017"/>
                </a:solidFill>
                <a:latin typeface="Calibri"/>
              </a:rPr>
              <a:t>git операции падали  →  Очистка %temp%</a:t>
            </a:r>
          </a:p>
          <a:p>
            <a:r>
              <a:rPr sz="1000">
                <a:solidFill>
                  <a:srgbClr val="557766"/>
                </a:solidFill>
              </a:rPr>
              <a:t>
Почему не 100%: часть аффилиаций — строки без топонима (напр. «Department of Physics»). Геокодер не может определить координаты без названия места.</a:t>
            </a:r>
          </a:p>
        </p:txBody>
      </p:sp>
      <p:sp>
        <p:nvSpPr>
          <p:cNvPr id="2130" name="pb13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131" name="pb131"/>
          <p:cNvSpPr txBox="1"/>
          <p:nvPr/>
        </p:nvSpPr>
        <p:spPr>
          <a:xfrm>
            <a:off x="0" y="6660000"/>
            <a:ext cx="11321142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132" name="pb132"/>
          <p:cNvSpPr txBox="1"/>
          <p:nvPr/>
        </p:nvSpPr>
        <p:spPr>
          <a:xfrm>
            <a:off x="10781142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233" name="pbn133"/>
          <p:cNvSpPr txBox="1"/>
          <p:nvPr/>
        </p:nvSpPr>
        <p:spPr>
          <a:xfrm>
            <a:off x="10673142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sp0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2000" b="1">
                <a:solidFill>
                  <a:srgbClr val="FFFFFF"/>
                </a:solidFill>
              </a:rPr>
              <a:t>База данных — схема связей (ER-диаграмма)</a:t>
            </a:r>
          </a:p>
        </p:txBody>
      </p:sp>
      <p:sp>
        <p:nvSpPr>
          <p:cNvPr id="101" name="sp1"/>
          <p:cNvSpPr txBox="1"/>
          <p:nvPr/>
        </p:nvSpPr>
        <p:spPr>
          <a:xfrm>
            <a:off x="4968000" y="1080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1A5276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journals</a:t>
            </a:r>
          </a:p>
        </p:txBody>
      </p:sp>
      <p:sp>
        <p:nvSpPr>
          <p:cNvPr id="102" name="sp2"/>
          <p:cNvSpPr txBox="1"/>
          <p:nvPr/>
        </p:nvSpPr>
        <p:spPr>
          <a:xfrm>
            <a:off x="4968000" y="1350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1A5276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openalex_id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name · issn</a:t>
            </a:r>
          </a:p>
        </p:txBody>
      </p:sp>
      <p:sp>
        <p:nvSpPr>
          <p:cNvPr id="103" name="sp3"/>
          <p:cNvSpPr txBox="1"/>
          <p:nvPr/>
        </p:nvSpPr>
        <p:spPr>
          <a:xfrm>
            <a:off x="4968000" y="2700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154360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publications</a:t>
            </a:r>
          </a:p>
        </p:txBody>
      </p:sp>
      <p:sp>
        <p:nvSpPr>
          <p:cNvPr id="104" name="sp4"/>
          <p:cNvSpPr txBox="1"/>
          <p:nvPr/>
        </p:nvSpPr>
        <p:spPr>
          <a:xfrm>
            <a:off x="4968000" y="2970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154360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id · title · doi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year · journal_id →</a:t>
            </a:r>
          </a:p>
        </p:txBody>
      </p:sp>
      <p:sp>
        <p:nvSpPr>
          <p:cNvPr id="105" name="sp5"/>
          <p:cNvSpPr txBox="1"/>
          <p:nvPr/>
        </p:nvSpPr>
        <p:spPr>
          <a:xfrm>
            <a:off x="8100000" y="2700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publication_authors</a:t>
            </a:r>
          </a:p>
        </p:txBody>
      </p:sp>
      <p:sp>
        <p:nvSpPr>
          <p:cNvPr id="106" name="sp6"/>
          <p:cNvSpPr txBox="1"/>
          <p:nvPr/>
        </p:nvSpPr>
        <p:spPr>
          <a:xfrm>
            <a:off x="8100000" y="2970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1A5C3A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publication_id →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person_id →</a:t>
            </a:r>
          </a:p>
        </p:txBody>
      </p:sp>
      <p:sp>
        <p:nvSpPr>
          <p:cNvPr id="107" name="sp7"/>
          <p:cNvSpPr txBox="1"/>
          <p:nvPr/>
        </p:nvSpPr>
        <p:spPr>
          <a:xfrm>
            <a:off x="8100000" y="4392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persons</a:t>
            </a:r>
          </a:p>
        </p:txBody>
      </p:sp>
      <p:sp>
        <p:nvSpPr>
          <p:cNvPr id="108" name="sp8"/>
          <p:cNvSpPr txBox="1"/>
          <p:nvPr/>
        </p:nvSpPr>
        <p:spPr>
          <a:xfrm>
            <a:off x="8100000" y="4662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1A5C3A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openalex_id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full_name · orcid</a:t>
            </a:r>
          </a:p>
        </p:txBody>
      </p:sp>
      <p:sp>
        <p:nvSpPr>
          <p:cNvPr id="109" name="sp9"/>
          <p:cNvSpPr txBox="1"/>
          <p:nvPr/>
        </p:nvSpPr>
        <p:spPr>
          <a:xfrm>
            <a:off x="10368000" y="4392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7D3C98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affiliations</a:t>
            </a:r>
          </a:p>
        </p:txBody>
      </p:sp>
      <p:sp>
        <p:nvSpPr>
          <p:cNvPr id="110" name="sp10"/>
          <p:cNvSpPr txBox="1"/>
          <p:nvPr/>
        </p:nvSpPr>
        <p:spPr>
          <a:xfrm>
            <a:off x="10368000" y="4662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7D3C98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institution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lat · lon</a:t>
            </a:r>
          </a:p>
        </p:txBody>
      </p:sp>
      <p:sp>
        <p:nvSpPr>
          <p:cNvPr id="111" name="sp11"/>
          <p:cNvSpPr txBox="1"/>
          <p:nvPr/>
        </p:nvSpPr>
        <p:spPr>
          <a:xfrm>
            <a:off x="1800000" y="4392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935116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publication_topics</a:t>
            </a:r>
          </a:p>
        </p:txBody>
      </p:sp>
      <p:sp>
        <p:nvSpPr>
          <p:cNvPr id="112" name="sp12"/>
          <p:cNvSpPr txBox="1"/>
          <p:nvPr/>
        </p:nvSpPr>
        <p:spPr>
          <a:xfrm>
            <a:off x="1800000" y="4662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935116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publication_id →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topic · score</a:t>
            </a:r>
          </a:p>
        </p:txBody>
      </p:sp>
      <p:sp>
        <p:nvSpPr>
          <p:cNvPr id="113" name="sp13"/>
          <p:cNvSpPr txBox="1"/>
          <p:nvPr/>
        </p:nvSpPr>
        <p:spPr>
          <a:xfrm>
            <a:off x="1800000" y="2700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935116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publication_keywords</a:t>
            </a:r>
          </a:p>
        </p:txBody>
      </p:sp>
      <p:sp>
        <p:nvSpPr>
          <p:cNvPr id="114" name="sp14"/>
          <p:cNvSpPr txBox="1"/>
          <p:nvPr/>
        </p:nvSpPr>
        <p:spPr>
          <a:xfrm>
            <a:off x="1800000" y="2970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935116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publication_id →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keyword · score</a:t>
            </a:r>
          </a:p>
        </p:txBody>
      </p:sp>
      <p:sp>
        <p:nvSpPr>
          <p:cNvPr id="115" name="sp15"/>
          <p:cNvSpPr txBox="1"/>
          <p:nvPr/>
        </p:nvSpPr>
        <p:spPr>
          <a:xfrm>
            <a:off x="6048000" y="2232000"/>
            <a:ext cx="540000" cy="1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800" b="0">
                <a:solidFill>
                  <a:srgbClr val="88AACC"/>
                </a:solidFill>
              </a:rPr>
              <a:t>1 : N</a:t>
            </a:r>
          </a:p>
        </p:txBody>
      </p:sp>
      <p:sp>
        <p:nvSpPr>
          <p:cNvPr id="116" name="sp16"/>
          <p:cNvSpPr txBox="1"/>
          <p:nvPr/>
        </p:nvSpPr>
        <p:spPr>
          <a:xfrm>
            <a:off x="7380000" y="3240000"/>
            <a:ext cx="540000" cy="1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800" b="0">
                <a:solidFill>
                  <a:srgbClr val="88AACC"/>
                </a:solidFill>
              </a:rPr>
              <a:t>1 : N</a:t>
            </a:r>
          </a:p>
        </p:txBody>
      </p:sp>
      <p:sp>
        <p:nvSpPr>
          <p:cNvPr id="117" name="sp17"/>
          <p:cNvSpPr txBox="1"/>
          <p:nvPr/>
        </p:nvSpPr>
        <p:spPr>
          <a:xfrm>
            <a:off x="9180000" y="4031999"/>
            <a:ext cx="540000" cy="1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800" b="0">
                <a:solidFill>
                  <a:srgbClr val="88AACC"/>
                </a:solidFill>
              </a:rPr>
              <a:t>N : 1</a:t>
            </a:r>
          </a:p>
        </p:txBody>
      </p:sp>
      <p:sp>
        <p:nvSpPr>
          <p:cNvPr id="118" name="sp18"/>
          <p:cNvSpPr txBox="1"/>
          <p:nvPr/>
        </p:nvSpPr>
        <p:spPr>
          <a:xfrm>
            <a:off x="4068000" y="3240000"/>
            <a:ext cx="540000" cy="1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800" b="0">
                <a:solidFill>
                  <a:srgbClr val="88AACC"/>
                </a:solidFill>
              </a:rPr>
              <a:t>1 : N</a:t>
            </a:r>
          </a:p>
        </p:txBody>
      </p:sp>
      <p:sp>
        <p:nvSpPr>
          <p:cNvPr id="119" name="sp19"/>
          <p:cNvSpPr txBox="1"/>
          <p:nvPr/>
        </p:nvSpPr>
        <p:spPr>
          <a:xfrm>
            <a:off x="4068000" y="4031999"/>
            <a:ext cx="540000" cy="1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800" b="0">
                <a:solidFill>
                  <a:srgbClr val="88AACC"/>
                </a:solidFill>
              </a:rPr>
              <a:t>1 : N</a:t>
            </a:r>
          </a:p>
        </p:txBody>
      </p:sp>
      <p:sp>
        <p:nvSpPr>
          <p:cNvPr id="2080" name="pb8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81" name="pb81"/>
          <p:cNvSpPr txBox="1"/>
          <p:nvPr/>
        </p:nvSpPr>
        <p:spPr>
          <a:xfrm>
            <a:off x="0" y="6660000"/>
            <a:ext cx="6966857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82" name="pb82"/>
          <p:cNvSpPr txBox="1"/>
          <p:nvPr/>
        </p:nvSpPr>
        <p:spPr>
          <a:xfrm>
            <a:off x="6426857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183" name="pbn83"/>
          <p:cNvSpPr txBox="1"/>
          <p:nvPr/>
        </p:nvSpPr>
        <p:spPr>
          <a:xfrm>
            <a:off x="6318857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Результаты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9 994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
загружено из OpenAlex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7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199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7 таблиц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199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реляционная БД
PostgreSQL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7492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 с
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6091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0664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режимов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графа связей
(SVG, без библиотек)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9264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73836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признаков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3836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алгоритм поиска
похожих статей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47472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/>
              <a:t>Загружено 9 994 публикаций из OpenAlex
Создана реляционная БД из 7 таблиц PostgreSQL
Геокодировано 80,8% публикаций (точные координаты организаций)
Реализованы карта, граф с 5 режимами и фасетные фильтры
Разработан алгоритм поиска похожих статей по 5 признакам
Создан REST API с gzip-сжатием и веб-интерфейс с тёмной темой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029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FE0D6"/>
                </a:solidFill>
                <a:latin typeface="Calibri"/>
              </a:rPr>
              <a:t>REST API  ·  Фасетные фильтры  ·  Тёмная тема  ·  gzip-сжатие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5943600"/>
            <a:ext cx="12188952" cy="9144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603504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Веб-приложение: http://127.0.0.1:8000  |  Запуск: python openalex_server.py</a:t>
            </a:r>
          </a:p>
        </p:txBody>
      </p:sp>
      <p:sp>
        <p:nvSpPr>
          <p:cNvPr id="3000" name="pb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3001" name="pb1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3002" name="pb2"/>
          <p:cNvSpPr txBox="1"/>
          <p:nvPr/>
        </p:nvSpPr>
        <p:spPr>
          <a:xfrm>
            <a:off x="11652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3103" name="pbn3"/>
          <p:cNvSpPr txBox="1"/>
          <p:nvPr/>
        </p:nvSpPr>
        <p:spPr>
          <a:xfrm>
            <a:off x="11544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913</Words>
  <Application>Microsoft Office PowerPoint</Application>
  <PresentationFormat>Произвольный</PresentationFormat>
  <Paragraphs>303</Paragraphs>
  <Slides>13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Varvara Surnova</cp:lastModifiedBy>
  <cp:revision>2</cp:revision>
  <dcterms:created xsi:type="dcterms:W3CDTF">2013-01-27T09:14:16Z</dcterms:created>
  <dcterms:modified xsi:type="dcterms:W3CDTF">2026-05-21T05:09:54Z</dcterms:modified>
  <cp:category/>
</cp:coreProperties>
</file>