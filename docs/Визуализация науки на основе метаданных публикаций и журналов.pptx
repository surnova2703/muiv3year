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20"/>
    <p:sldId id="274" r:id="rId21"/>
    <p:sldId id="257" r:id="rId4"/>
    <p:sldId id="269" r:id="rId5"/>
    <p:sldId id="259" r:id="rId7"/>
    <p:sldId id="260" r:id="rId8"/>
    <p:sldId id="271" r:id="rId6"/>
    <p:sldId id="261" r:id="rId9"/>
    <p:sldId id="262" r:id="rId10"/>
    <p:sldId id="263" r:id="rId11"/>
    <p:sldId id="272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5.xml"/><Relationship Id="rId5" Type="http://schemas.openxmlformats.org/officeDocument/2006/relationships/slide" Target="slides/slide6.xml"/><Relationship Id="rId6" Type="http://schemas.openxmlformats.org/officeDocument/2006/relationships/slide" Target="slides/slide9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9010" name="pb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1" name="pb11"/>
          <p:cNvSpPr txBox="1"/>
          <p:nvPr/>
        </p:nvSpPr>
        <p:spPr>
          <a:xfrm>
            <a:off x="0" y="6660000"/>
            <a:ext cx="8128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2" name="pb12"/>
          <p:cNvSpPr txBox="1"/>
          <p:nvPr/>
        </p:nvSpPr>
        <p:spPr>
          <a:xfrm>
            <a:off x="2728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3" name="pb13"/>
          <p:cNvSpPr txBox="1"/>
          <p:nvPr/>
        </p:nvSpPr>
        <p:spPr>
          <a:xfrm>
            <a:off x="1648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9020" name="pb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1" name="pb21"/>
          <p:cNvSpPr txBox="1"/>
          <p:nvPr/>
        </p:nvSpPr>
        <p:spPr>
          <a:xfrm>
            <a:off x="0" y="6660000"/>
            <a:ext cx="16256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2" name="pb22"/>
          <p:cNvSpPr txBox="1"/>
          <p:nvPr/>
        </p:nvSpPr>
        <p:spPr>
          <a:xfrm>
            <a:off x="10856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3" name="pb23"/>
          <p:cNvSpPr txBox="1"/>
          <p:nvPr/>
        </p:nvSpPr>
        <p:spPr>
          <a:xfrm>
            <a:off x="9776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030" name="pb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1" name="pb31"/>
          <p:cNvSpPr txBox="1"/>
          <p:nvPr/>
        </p:nvSpPr>
        <p:spPr>
          <a:xfrm>
            <a:off x="0" y="6660000"/>
            <a:ext cx="24384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2" name="pb32"/>
          <p:cNvSpPr txBox="1"/>
          <p:nvPr/>
        </p:nvSpPr>
        <p:spPr>
          <a:xfrm>
            <a:off x="18984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3" name="pb33"/>
          <p:cNvSpPr txBox="1"/>
          <p:nvPr/>
        </p:nvSpPr>
        <p:spPr>
          <a:xfrm>
            <a:off x="17904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s2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Почему публикации после 2020 хуже представлены в базах?</a:t>
            </a:r>
          </a:p>
        </p:txBody>
      </p:sp>
      <p:sp>
        <p:nvSpPr>
          <p:cNvPr id="121" name="s21"/>
          <p:cNvSpPr txBox="1"/>
          <p:nvPr/>
        </p:nvSpPr>
        <p:spPr>
          <a:xfrm>
            <a:off x="360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3A2A"/>
                </a:solidFill>
              </a:rPr>
              <a:t>2022</a:t>
            </a:r>
          </a:p>
        </p:txBody>
      </p:sp>
      <p:sp>
        <p:nvSpPr>
          <p:cNvPr id="122" name="s22"/>
          <p:cNvSpPr txBox="1"/>
          <p:nvPr/>
        </p:nvSpPr>
        <p:spPr>
          <a:xfrm>
            <a:off x="360000" y="1692000"/>
            <a:ext cx="2808000" cy="792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Санкции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международных баз</a:t>
            </a:r>
          </a:p>
        </p:txBody>
      </p:sp>
      <p:sp>
        <p:nvSpPr>
          <p:cNvPr id="123" name="s23"/>
          <p:cNvSpPr txBox="1"/>
          <p:nvPr/>
        </p:nvSpPr>
        <p:spPr>
          <a:xfrm>
            <a:off x="360000" y="2484000"/>
            <a:ext cx="2808000" cy="244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Scopus и Web of Science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приостановили индексацию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российских журналов.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~500 изданий удалено из Scopus.</a:t>
            </a:r>
          </a:p>
        </p:txBody>
      </p:sp>
      <p:sp>
        <p:nvSpPr>
          <p:cNvPr id="124" name="s24"/>
          <p:cNvSpPr txBox="1"/>
          <p:nvPr/>
        </p:nvSpPr>
        <p:spPr>
          <a:xfrm>
            <a:off x="3311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5C3A"/>
                </a:solidFill>
              </a:rPr>
              <a:t>6–18 мес</a:t>
            </a:r>
          </a:p>
        </p:txBody>
      </p:sp>
      <p:sp>
        <p:nvSpPr>
          <p:cNvPr id="125" name="s25"/>
          <p:cNvSpPr txBox="1"/>
          <p:nvPr/>
        </p:nvSpPr>
        <p:spPr>
          <a:xfrm>
            <a:off x="3311999" y="1692000"/>
            <a:ext cx="2808000" cy="792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Задержка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индексации OpenAlex</a:t>
            </a:r>
          </a:p>
        </p:txBody>
      </p:sp>
      <p:sp>
        <p:nvSpPr>
          <p:cNvPr id="126" name="s26"/>
          <p:cNvSpPr txBox="1"/>
          <p:nvPr/>
        </p:nvSpPr>
        <p:spPr>
          <a:xfrm>
            <a:off x="3311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Новые статьи появляются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в OpenAlex через 6–18 месяцев.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Данные за 2023–2024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заведомо неполные.</a:t>
            </a:r>
          </a:p>
        </p:txBody>
      </p:sp>
      <p:sp>
        <p:nvSpPr>
          <p:cNvPr id="127" name="s27"/>
          <p:cNvSpPr txBox="1"/>
          <p:nvPr/>
        </p:nvSpPr>
        <p:spPr>
          <a:xfrm>
            <a:off x="6263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2D5544"/>
                </a:solidFill>
              </a:rPr>
              <a:t>РИНЦ</a:t>
            </a:r>
          </a:p>
        </p:txBody>
      </p:sp>
      <p:sp>
        <p:nvSpPr>
          <p:cNvPr id="128" name="s28"/>
          <p:cNvSpPr txBox="1"/>
          <p:nvPr/>
        </p:nvSpPr>
        <p:spPr>
          <a:xfrm>
            <a:off x="6263999" y="1692000"/>
            <a:ext cx="2808000" cy="792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Уход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в отечественные базы</a:t>
            </a:r>
          </a:p>
        </p:txBody>
      </p:sp>
      <p:sp>
        <p:nvSpPr>
          <p:cNvPr id="129" name="s29"/>
          <p:cNvSpPr txBox="1"/>
          <p:nvPr/>
        </p:nvSpPr>
        <p:spPr>
          <a:xfrm>
            <a:off x="6263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Часть российских журналов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переориентировалась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на eLIBRARY/РИНЦ,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который не связан с OpenAlex.</a:t>
            </a:r>
          </a:p>
        </p:txBody>
      </p:sp>
      <p:sp>
        <p:nvSpPr>
          <p:cNvPr id="130" name="s30"/>
          <p:cNvSpPr txBox="1"/>
          <p:nvPr/>
        </p:nvSpPr>
        <p:spPr>
          <a:xfrm>
            <a:off x="9216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3A6B55"/>
                </a:solidFill>
              </a:rPr>
              <a:t>↓ ID</a:t>
            </a:r>
          </a:p>
        </p:txBody>
      </p:sp>
      <p:sp>
        <p:nvSpPr>
          <p:cNvPr id="131" name="s31"/>
          <p:cNvSpPr txBox="1"/>
          <p:nvPr/>
        </p:nvSpPr>
        <p:spPr>
          <a:xfrm>
            <a:off x="9216000" y="1692000"/>
            <a:ext cx="2808000" cy="792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Фрагментация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аффилиаций</a:t>
            </a:r>
          </a:p>
        </p:txBody>
      </p:sp>
      <p:sp>
        <p:nvSpPr>
          <p:cNvPr id="132" name="s32"/>
          <p:cNvSpPr txBox="1"/>
          <p:nvPr/>
        </p:nvSpPr>
        <p:spPr>
          <a:xfrm>
            <a:off x="9216000" y="2484000"/>
            <a:ext cx="2808000" cy="2448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Авторы меняют или не указывают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российскую принадлежность.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Идентификаторы организаций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пропадают из метаданных.</a:t>
            </a:r>
          </a:p>
        </p:txBody>
      </p:sp>
      <p:sp>
        <p:nvSpPr>
          <p:cNvPr id="133" name="s33"/>
          <p:cNvSpPr txBox="1"/>
          <p:nvPr/>
        </p:nvSpPr>
        <p:spPr>
          <a:xfrm>
            <a:off x="360000" y="4824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0">
                <a:solidFill>
                  <a:srgbClr val="E8F5ED"/>
                </a:solidFill>
              </a:rPr>
              <a:t>Спад после 2020 на графике — не падение науки, а ограничения индексации и санкционное давление.</a:t>
            </a:r>
          </a:p>
        </p:txBody>
      </p:sp>
      <p:sp>
        <p:nvSpPr>
          <p:cNvPr id="9040" name="pb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1" name="pb41"/>
          <p:cNvSpPr txBox="1"/>
          <p:nvPr/>
        </p:nvSpPr>
        <p:spPr>
          <a:xfrm>
            <a:off x="0" y="6660000"/>
            <a:ext cx="32512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2" name="pb42"/>
          <p:cNvSpPr txBox="1"/>
          <p:nvPr/>
        </p:nvSpPr>
        <p:spPr>
          <a:xfrm>
            <a:off x="27112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3" name="pb43"/>
          <p:cNvSpPr txBox="1"/>
          <p:nvPr/>
        </p:nvSpPr>
        <p:spPr>
          <a:xfrm>
            <a:off x="26032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9050" name="pb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1" name="pb51"/>
          <p:cNvSpPr txBox="1"/>
          <p:nvPr/>
        </p:nvSpPr>
        <p:spPr>
          <a:xfrm>
            <a:off x="0" y="6660000"/>
            <a:ext cx="406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2" name="pb52"/>
          <p:cNvSpPr txBox="1"/>
          <p:nvPr/>
        </p:nvSpPr>
        <p:spPr>
          <a:xfrm>
            <a:off x="352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3" name="pb53"/>
          <p:cNvSpPr txBox="1"/>
          <p:nvPr/>
        </p:nvSpPr>
        <p:spPr>
          <a:xfrm>
            <a:off x="341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000" y="680000"/>
          <a:ext cx="1209200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0000">
                  <a:extLst>
                    <a:ext uri="{9D8B030D-6E8A-4147-A177-3AD203B41FA5}" cx="12092000">
                      <a16:colId xmlns:a16="http://schemas.microsoft.com/office/drawing/2014/main" val="20000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1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2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3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4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5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6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7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8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9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точкам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1" name="pb1"/>
          <p:cNvSpPr txBox="1"/>
          <p:nvPr/>
        </p:nvSpPr>
        <p:spPr>
          <a:xfrm>
            <a:off x="0" y="6660000"/>
            <a:ext cx="48768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2" name="pb2"/>
          <p:cNvSpPr txBox="1"/>
          <p:nvPr/>
        </p:nvSpPr>
        <p:spPr>
          <a:xfrm>
            <a:off x="43368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3" name="pb3"/>
          <p:cNvSpPr txBox="1"/>
          <p:nvPr/>
        </p:nvSpPr>
        <p:spPr>
          <a:xfrm>
            <a:off x="42288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9070" name="pb7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1" name="pb71"/>
          <p:cNvSpPr txBox="1"/>
          <p:nvPr/>
        </p:nvSpPr>
        <p:spPr>
          <a:xfrm>
            <a:off x="0" y="6660000"/>
            <a:ext cx="56896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2" name="pb72"/>
          <p:cNvSpPr txBox="1"/>
          <p:nvPr/>
        </p:nvSpPr>
        <p:spPr>
          <a:xfrm>
            <a:off x="51496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3" name="pb73"/>
          <p:cNvSpPr txBox="1"/>
          <p:nvPr/>
        </p:nvSpPr>
        <p:spPr>
          <a:xfrm>
            <a:off x="50416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88000" y="1080000"/>
          <a:ext cx="792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7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Ключевые поля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journals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Научные журналы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name, issn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Статьи и метаданные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title, doi, year, journal_id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persons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Авторы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full_name, orcid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affiliations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Организации + 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institution, latitude, longitude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publication_authors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Публикация ↔ Автор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publication_id, person_id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publication_topics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Тематические классификаторы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topic_name, score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publication_keywords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Ключевые слова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keyword_name, 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080" name="pb8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81" name="pb81"/>
          <p:cNvSpPr txBox="1"/>
          <p:nvPr/>
        </p:nvSpPr>
        <p:spPr>
          <a:xfrm>
            <a:off x="0" y="6660000"/>
            <a:ext cx="65024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82" name="pb82"/>
          <p:cNvSpPr txBox="1"/>
          <p:nvPr/>
        </p:nvSpPr>
        <p:spPr>
          <a:xfrm>
            <a:off x="59624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83" name="pb83"/>
          <p:cNvSpPr txBox="1"/>
          <p:nvPr/>
        </p:nvSpPr>
        <p:spPr>
          <a:xfrm>
            <a:off x="58544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101" name="sp1"/>
          <p:cNvSpPr txBox="1"/>
          <p:nvPr/>
        </p:nvSpPr>
        <p:spPr>
          <a:xfrm>
            <a:off x="4968000" y="108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journals</a:t>
            </a:r>
          </a:p>
        </p:txBody>
      </p:sp>
      <p:sp>
        <p:nvSpPr>
          <p:cNvPr id="102" name="sp2"/>
          <p:cNvSpPr txBox="1"/>
          <p:nvPr/>
        </p:nvSpPr>
        <p:spPr>
          <a:xfrm>
            <a:off x="4968000" y="135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name · issn</a:t>
            </a:r>
          </a:p>
        </p:txBody>
      </p:sp>
      <p:sp>
        <p:nvSpPr>
          <p:cNvPr id="103" name="sp3"/>
          <p:cNvSpPr txBox="1"/>
          <p:nvPr/>
        </p:nvSpPr>
        <p:spPr>
          <a:xfrm>
            <a:off x="4968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publications</a:t>
            </a:r>
          </a:p>
        </p:txBody>
      </p:sp>
      <p:sp>
        <p:nvSpPr>
          <p:cNvPr id="104" name="sp4"/>
          <p:cNvSpPr txBox="1"/>
          <p:nvPr/>
        </p:nvSpPr>
        <p:spPr>
          <a:xfrm>
            <a:off x="4968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3A2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id · title · doi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year · journal_id →</a:t>
            </a:r>
          </a:p>
        </p:txBody>
      </p:sp>
      <p:sp>
        <p:nvSpPr>
          <p:cNvPr id="105" name="sp5"/>
          <p:cNvSpPr txBox="1"/>
          <p:nvPr/>
        </p:nvSpPr>
        <p:spPr>
          <a:xfrm>
            <a:off x="81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publication_authors</a:t>
            </a:r>
          </a:p>
        </p:txBody>
      </p:sp>
      <p:sp>
        <p:nvSpPr>
          <p:cNvPr id="106" name="sp6"/>
          <p:cNvSpPr txBox="1"/>
          <p:nvPr/>
        </p:nvSpPr>
        <p:spPr>
          <a:xfrm>
            <a:off x="81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person_id →</a:t>
            </a:r>
          </a:p>
        </p:txBody>
      </p:sp>
      <p:sp>
        <p:nvSpPr>
          <p:cNvPr id="107" name="sp7"/>
          <p:cNvSpPr txBox="1"/>
          <p:nvPr/>
        </p:nvSpPr>
        <p:spPr>
          <a:xfrm>
            <a:off x="81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persons</a:t>
            </a:r>
          </a:p>
        </p:txBody>
      </p:sp>
      <p:sp>
        <p:nvSpPr>
          <p:cNvPr id="108" name="sp8"/>
          <p:cNvSpPr txBox="1"/>
          <p:nvPr/>
        </p:nvSpPr>
        <p:spPr>
          <a:xfrm>
            <a:off x="81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full_name · orcid</a:t>
            </a:r>
          </a:p>
        </p:txBody>
      </p:sp>
      <p:sp>
        <p:nvSpPr>
          <p:cNvPr id="109" name="sp9"/>
          <p:cNvSpPr txBox="1"/>
          <p:nvPr/>
        </p:nvSpPr>
        <p:spPr>
          <a:xfrm>
            <a:off x="10368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affiliations</a:t>
            </a:r>
          </a:p>
        </p:txBody>
      </p:sp>
      <p:sp>
        <p:nvSpPr>
          <p:cNvPr id="110" name="sp10"/>
          <p:cNvSpPr txBox="1"/>
          <p:nvPr/>
        </p:nvSpPr>
        <p:spPr>
          <a:xfrm>
            <a:off x="10368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2D5544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institution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lat · lon</a:t>
            </a:r>
          </a:p>
        </p:txBody>
      </p:sp>
      <p:sp>
        <p:nvSpPr>
          <p:cNvPr id="111" name="sp11"/>
          <p:cNvSpPr txBox="1"/>
          <p:nvPr/>
        </p:nvSpPr>
        <p:spPr>
          <a:xfrm>
            <a:off x="18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publication_topics</a:t>
            </a:r>
          </a:p>
        </p:txBody>
      </p:sp>
      <p:sp>
        <p:nvSpPr>
          <p:cNvPr id="112" name="sp12"/>
          <p:cNvSpPr txBox="1"/>
          <p:nvPr/>
        </p:nvSpPr>
        <p:spPr>
          <a:xfrm>
            <a:off x="18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3A6B55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topic · score</a:t>
            </a:r>
          </a:p>
        </p:txBody>
      </p:sp>
      <p:sp>
        <p:nvSpPr>
          <p:cNvPr id="113" name="sp13"/>
          <p:cNvSpPr txBox="1"/>
          <p:nvPr/>
        </p:nvSpPr>
        <p:spPr>
          <a:xfrm>
            <a:off x="18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publication_keywords</a:t>
            </a:r>
          </a:p>
        </p:txBody>
      </p:sp>
      <p:sp>
        <p:nvSpPr>
          <p:cNvPr id="114" name="sp14"/>
          <p:cNvSpPr txBox="1"/>
          <p:nvPr/>
        </p:nvSpPr>
        <p:spPr>
          <a:xfrm>
            <a:off x="18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3A6B55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keyword · score</a:t>
            </a:r>
          </a:p>
        </p:txBody>
      </p:sp>
      <p:sp>
        <p:nvSpPr>
          <p:cNvPr id="115" name="sp15"/>
          <p:cNvSpPr txBox="1"/>
          <p:nvPr/>
        </p:nvSpPr>
        <p:spPr>
          <a:xfrm>
            <a:off x="6048000" y="2232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6" name="sp16"/>
          <p:cNvSpPr txBox="1"/>
          <p:nvPr/>
        </p:nvSpPr>
        <p:spPr>
          <a:xfrm>
            <a:off x="7380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7" name="sp17"/>
          <p:cNvSpPr txBox="1"/>
          <p:nvPr/>
        </p:nvSpPr>
        <p:spPr>
          <a:xfrm>
            <a:off x="9180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N : 1</a:t>
            </a:r>
          </a:p>
        </p:txBody>
      </p:sp>
      <p:sp>
        <p:nvSpPr>
          <p:cNvPr id="118" name="sp18"/>
          <p:cNvSpPr txBox="1"/>
          <p:nvPr/>
        </p:nvSpPr>
        <p:spPr>
          <a:xfrm>
            <a:off x="4068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9" name="sp19"/>
          <p:cNvSpPr txBox="1"/>
          <p:nvPr/>
        </p:nvSpPr>
        <p:spPr>
          <a:xfrm>
            <a:off x="4068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9090" name="pb9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91" name="pb91"/>
          <p:cNvSpPr txBox="1"/>
          <p:nvPr/>
        </p:nvSpPr>
        <p:spPr>
          <a:xfrm>
            <a:off x="0" y="6660000"/>
            <a:ext cx="73152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92" name="pb92"/>
          <p:cNvSpPr txBox="1"/>
          <p:nvPr/>
        </p:nvSpPr>
        <p:spPr>
          <a:xfrm>
            <a:off x="67752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93" name="pb93"/>
          <p:cNvSpPr txBox="1"/>
          <p:nvPr/>
        </p:nvSpPr>
        <p:spPr>
          <a:xfrm>
            <a:off x="66672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s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200" b="1">
                <a:solidFill>
                  <a:srgbClr val="FFFFFF"/>
                </a:solidFill>
              </a:rPr>
              <a:t>Географическая привязка</a:t>
            </a:r>
          </a:p>
        </p:txBody>
      </p:sp>
      <p:sp>
        <p:nvSpPr>
          <p:cNvPr id="201" name="s1"/>
          <p:cNvSpPr txBox="1"/>
          <p:nvPr/>
        </p:nvSpPr>
        <p:spPr>
          <a:xfrm>
            <a:off x="360000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1 — Приоритизация</a:t>
            </a:r>
          </a:p>
        </p:txBody>
      </p:sp>
      <p:sp>
        <p:nvSpPr>
          <p:cNvPr id="202" name="s2"/>
          <p:cNvSpPr txBox="1"/>
          <p:nvPr/>
        </p:nvSpPr>
        <p:spPr>
          <a:xfrm>
            <a:off x="360000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Организации сортируются по числу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зависимых публикаций.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Первыми обрабатываются те,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что «разблокируют» наибольшее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количество записей без координат.</a:t>
            </a:r>
          </a:p>
        </p:txBody>
      </p:sp>
      <p:sp>
        <p:nvSpPr>
          <p:cNvPr id="203" name="s3"/>
          <p:cNvSpPr txBox="1"/>
          <p:nvPr/>
        </p:nvSpPr>
        <p:spPr>
          <a:xfrm>
            <a:off x="4211999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2 — OpenAlex API</a:t>
            </a:r>
          </a:p>
        </p:txBody>
      </p:sp>
      <p:sp>
        <p:nvSpPr>
          <p:cNvPr id="204" name="s4"/>
          <p:cNvSpPr txBox="1"/>
          <p:nvPr/>
        </p:nvSpPr>
        <p:spPr>
          <a:xfrm>
            <a:off x="4211999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Запрос координат по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идентификатору организации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через API OpenAlex.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78% публикаций с координатами.</a:t>
            </a:r>
          </a:p>
        </p:txBody>
      </p:sp>
      <p:sp>
        <p:nvSpPr>
          <p:cNvPr id="205" name="s5"/>
          <p:cNvSpPr txBox="1"/>
          <p:nvPr/>
        </p:nvSpPr>
        <p:spPr>
          <a:xfrm>
            <a:off x="8063998" y="1080000"/>
            <a:ext cx="3311999" cy="576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3 — Photon</a:t>
            </a:r>
          </a:p>
        </p:txBody>
      </p:sp>
      <p:sp>
        <p:nvSpPr>
          <p:cNvPr id="206" name="s6"/>
          <p:cNvSpPr txBox="1"/>
          <p:nvPr/>
        </p:nvSpPr>
        <p:spPr>
          <a:xfrm>
            <a:off x="8063998" y="1656000"/>
            <a:ext cx="3311999" cy="3204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Для аффилиаций без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идентификатора — геокодирование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по строке названия через Photon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(OpenStreetMap).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 +2,8% публикаций.</a:t>
            </a:r>
          </a:p>
        </p:txBody>
      </p:sp>
      <p:sp>
        <p:nvSpPr>
          <p:cNvPr id="207" name="s7"/>
          <p:cNvSpPr txBox="1"/>
          <p:nvPr/>
        </p:nvSpPr>
        <p:spPr>
          <a:xfrm>
            <a:off x="3743999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8" name="s8"/>
          <p:cNvSpPr txBox="1"/>
          <p:nvPr/>
        </p:nvSpPr>
        <p:spPr>
          <a:xfrm>
            <a:off x="7595998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9" name="s9"/>
          <p:cNvSpPr txBox="1"/>
          <p:nvPr/>
        </p:nvSpPr>
        <p:spPr>
          <a:xfrm>
            <a:off x="360000" y="5040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400" b="1">
                <a:solidFill>
                  <a:srgbClr val="FFFFFF"/>
                </a:solidFill>
              </a:rPr>
              <a:t>Итог: 80,8% публикаций с координатами (порог — 75%)</a:t>
            </a:r>
          </a:p>
        </p:txBody>
      </p:sp>
      <p:sp>
        <p:nvSpPr>
          <p:cNvPr id="9100" name="pb10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1" name="pb101"/>
          <p:cNvSpPr txBox="1"/>
          <p:nvPr/>
        </p:nvSpPr>
        <p:spPr>
          <a:xfrm>
            <a:off x="0" y="6660000"/>
            <a:ext cx="812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2" name="pb102"/>
          <p:cNvSpPr txBox="1"/>
          <p:nvPr/>
        </p:nvSpPr>
        <p:spPr>
          <a:xfrm>
            <a:off x="758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3" name="pb103"/>
          <p:cNvSpPr txBox="1"/>
          <p:nvPr/>
        </p:nvSpPr>
        <p:spPr>
          <a:xfrm>
            <a:off x="748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557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5940000"/>
            <a:ext cx="115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FE0D6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9110" name="pb1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1" name="pb111"/>
          <p:cNvSpPr txBox="1"/>
          <p:nvPr/>
        </p:nvSpPr>
        <p:spPr>
          <a:xfrm>
            <a:off x="0" y="6660000"/>
            <a:ext cx="89408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2" name="pb112"/>
          <p:cNvSpPr txBox="1"/>
          <p:nvPr/>
        </p:nvSpPr>
        <p:spPr>
          <a:xfrm>
            <a:off x="84008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3" name="pb113"/>
          <p:cNvSpPr txBox="1"/>
          <p:nvPr/>
        </p:nvSpPr>
        <p:spPr>
          <a:xfrm>
            <a:off x="82928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2268000"/>
            <a:ext cx="502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2736000"/>
            <a:ext cx="530352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0" y="2268000"/>
            <a:ext cx="5943600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080000"/>
            <a:ext cx="114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Этап 1 — Нормализация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512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все строки приводятся к нижнему регистру и обрезаются пробелы.
«MIT» и «mit» считаются одним значением. score = 0 — статья не показывается.</a:t>
            </a:r>
          </a:p>
        </p:txBody>
      </p:sp>
      <p:sp>
        <p:nvSpPr>
          <p:cNvPr id="9120" name="pb1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1" name="pb121"/>
          <p:cNvSpPr txBox="1"/>
          <p:nvPr/>
        </p:nvSpPr>
        <p:spPr>
          <a:xfrm>
            <a:off x="0" y="6660000"/>
            <a:ext cx="97536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2" name="pb122"/>
          <p:cNvSpPr txBox="1"/>
          <p:nvPr/>
        </p:nvSpPr>
        <p:spPr>
          <a:xfrm>
            <a:off x="92136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3" name="pb123"/>
          <p:cNvSpPr txBox="1"/>
          <p:nvPr/>
        </p:nvSpPr>
        <p:spPr>
          <a:xfrm>
            <a:off x="91056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Загружено 9 994 публикаций из OpenAlex
Создана реляционная БД из 7 таблиц PostgreSQL
Геокодировано 80,8% публикаций (точные координаты организаций)
Реализованы карта, граф с 5 режимами и фасетные фильтры
Разработан алгоритм поиска похожих статей по 5 признакам
Создан REST API с gzip-сжатием и веб-интерфейс с тёмной темой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  <p:sp>
        <p:nvSpPr>
          <p:cNvPr id="9150" name="pb1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1" name="pb151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2" name="pb152"/>
          <p:cNvSpPr txBox="1"/>
          <p:nvPr/>
        </p:nvSpPr>
        <p:spPr>
          <a:xfrm>
            <a:off x="1165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3" name="pb153"/>
          <p:cNvSpPr txBox="1"/>
          <p:nvPr/>
        </p:nvSpPr>
        <p:spPr>
          <a:xfrm>
            <a:off x="1154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