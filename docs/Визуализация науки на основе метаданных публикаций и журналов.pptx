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AED6F1"/>
            </a:solidFill>
          </c:spPr>
          <c:cat>
            <c:strRef>
              <c:f>Sheet1!$A$2:$A$5</c:f>
              <c:strCache>
                <c:ptCount val="4"/>
                <c:pt idx="0">
                  <c:v>Neural Nets</c:v>
                </c:pt>
                <c:pt idx="1">
                  <c:v>COVID-19</c:v>
                </c:pt>
                <c:pt idx="2">
                  <c:v>Domain Adapt.</c:v>
                </c:pt>
                <c:pt idx="3">
                  <c:v>Cancer Screen.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Sheet1!$A$2:$A$5</c:f>
              <c:strCache>
                <c:ptCount val="4"/>
                <c:pt idx="0">
                  <c:v>Neural Nets</c:v>
                </c:pt>
                <c:pt idx="1">
                  <c:v>COVID-19</c:v>
                </c:pt>
                <c:pt idx="2">
                  <c:v>Domain Adapt.</c:v>
                </c:pt>
                <c:pt idx="3">
                  <c:v>Cancer Screen.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10</c:v>
                </c:pt>
                <c:pt idx="2">
                  <c:v>15</c:v>
                </c:pt>
                <c:pt idx="3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F5B7B1"/>
            </a:solidFill>
          </c:spPr>
          <c:cat>
            <c:strRef>
              <c:f>Sheet1!$A$2:$A$5</c:f>
              <c:strCache>
                <c:ptCount val="4"/>
                <c:pt idx="0">
                  <c:v>Chem. Physics</c:v>
                </c:pt>
                <c:pt idx="1">
                  <c:v>Graphene</c:v>
                </c:pt>
                <c:pt idx="2">
                  <c:v>Battery Mat.</c:v>
                </c:pt>
                <c:pt idx="3">
                  <c:v>Genomics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Sheet1!$A$2:$A$5</c:f>
              <c:strCache>
                <c:ptCount val="4"/>
                <c:pt idx="0">
                  <c:v>Chem. Physics</c:v>
                </c:pt>
                <c:pt idx="1">
                  <c:v>Graphene</c:v>
                </c:pt>
                <c:pt idx="2">
                  <c:v>Battery Mat.</c:v>
                </c:pt>
                <c:pt idx="3">
                  <c:v>Genomics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AED6F1"/>
            </a:solidFill>
          </c:spPr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10</c:v>
                </c:pt>
                <c:pt idx="2">
                  <c:v>15</c:v>
                </c:pt>
                <c:pt idx="3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F5B7B1"/>
            </a:solidFill>
          </c:spPr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Загружено 9 994 публикаций из API OpenAlex (cursor pagination, батчи по 200)
• Спроектирована и заполнена БД PostgreSQL из 7 таблиц (9 994 записи без ошибок)
• Геокодированы аффилиации авторов двумя методами — покрытие 80,8%
• Реализована интерактивная карта (Plotly) с точными координатами организаций
• Построен граф связей в SVG с 5 режимами без внешних библиотек
• Разработан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</a:tblGrid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80000" y="4392000"/>
            <a:ext cx="594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7AE60"/>
                </a:solidFill>
              </a:rPr>
              <a:t>Растущие темы (2000–2012 vs 2013–2024)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2000" y="4392000"/>
            <a:ext cx="576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74C3C"/>
                </a:solidFill>
              </a:rPr>
              <a:t>Угасающие темы (2000–2012 vs 2013–2024)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8000" y="4644000"/>
          <a:ext cx="6012000" cy="2088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120000" y="4644000"/>
          <a:ext cx="5940000" cy="2088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3240000"/>
                <a:gridCol w="2700000"/>
              </a:tblGrid>
              <a:tr h="60750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</a:tr>
              <a:tr h="6075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