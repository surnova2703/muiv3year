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0" r:id="rId20"/>
    <p:sldId id="257" r:id="rId4"/>
    <p:sldId id="269" r:id="rId5"/>
    <p:sldId id="259" r:id="rId7"/>
    <p:sldId id="260" r:id="rId8"/>
    <p:sldId id="271" r:id="rId6"/>
    <p:sldId id="261" r:id="rId9"/>
    <p:sldId id="262" r:id="rId10"/>
    <p:sldId id="263" r:id="rId11"/>
    <p:sldId id="264" r:id="rId12"/>
    <p:sldId id="265" r:id="rId13"/>
    <p:sldId id="266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1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3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/>
              <a:t>Охват геокодирования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Публикации (%)</c:v>
                </c:pt>
              </c:strCache>
            </c:strRef>
          </c:tx>
          <c:dPt>
            <c:idx val="0"/>
            <c:spPr>
              <a:solidFill>
                <a:srgbClr val="276FBF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BDC3C7"/>
              </a:solidFill>
            </c:spPr>
          </c:dPt>
          <c:cat>
            <c:strRef>
              <c:f>Sheet1!$A$2:$A$4</c:f>
              <c:strCache>
                <c:ptCount val="3"/>
                <c:pt idx="0">
                  <c:v>Этап 1: OpenAlex API</c:v>
                </c:pt>
                <c:pt idx="1">
                  <c:v>Этап 2: Photon (OSM)</c:v>
                </c:pt>
                <c:pt idx="2">
                  <c:v>Без координат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2.8</c:v>
                </c:pt>
                <c:pt idx="2">
                  <c:v>19.2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Динамика публикационной активности (из базы данных)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0" y="6757200"/>
            <a:ext cx="870630" cy="100800"/>
          </a:xfrm>
          <a:noFill/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08630" y="6645600"/>
            <a:ext cx="324000" cy="324000"/>
          </a:xfrm>
          <a:noFill/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0" y="6757200"/>
            <a:ext cx="1741260" cy="100800"/>
          </a:xfrm>
          <a:noFill/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579260" y="6645600"/>
            <a:ext cx="324000" cy="324000"/>
          </a:xfrm>
          <a:noFill/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0" y="6757200"/>
            <a:ext cx="2611891" cy="100800"/>
          </a:xfrm>
          <a:noFill/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449891" y="6645600"/>
            <a:ext cx="324000" cy="324000"/>
          </a:xfrm>
          <a:noFill/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0" y="6757200"/>
            <a:ext cx="3482521" cy="100800"/>
          </a:xfrm>
          <a:noFill/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320521" y="6645600"/>
            <a:ext cx="324000" cy="324000"/>
          </a:xfrm>
          <a:noFill/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000" y="680000"/>
          <a:ext cx="1198895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графов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карт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режимов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признаков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0" y="6757200"/>
            <a:ext cx="4353151" cy="100800"/>
          </a:xfrm>
          <a:noFill/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191151" y="6645600"/>
            <a:ext cx="324000" cy="324000"/>
          </a:xfrm>
          <a:noFill/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703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Геокодирование аффилиаций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160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Этап 1: OpenAlex /institutions API — батчи по 100 ID → 78% покрытие
Этап 2: Photon (OpenStreetMap) по строке названия → итого 80,8%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0" y="6757200"/>
            <a:ext cx="5223782" cy="100800"/>
          </a:xfrm>
          <a:noFill/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061782" y="6645600"/>
            <a:ext cx="324000" cy="324000"/>
          </a:xfrm>
          <a:noFill/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88000" y="1080000"/>
          <a:ext cx="7920000" cy="48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7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Ключевые поля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journals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Научные журналы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name, issn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Статьи и метаданные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title, doi, year, journal_id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persons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Авторы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full_name, orcid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affiliations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Организации + координаты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institution, latitude, longitude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publication_authors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Публикация ↔ Автор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publication_id, person_id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publication_topics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Тематические классификаторы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topic_name, score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publication_keywords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Ключевые слова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keyword_name, 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0" y="6757200"/>
            <a:ext cx="6094412" cy="100800"/>
          </a:xfrm>
          <a:noFill/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32412" y="6645600"/>
            <a:ext cx="324000" cy="324000"/>
          </a:xfrm>
          <a:noFill/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Географическая привязка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1 — OpenAlex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GET /institutions?filter=ids.openalex:I1|I2|...
• Батчи по 100 institution_id
• Пауза 0,5 сек между запросами
• Кэш: geo_cache.json
Результат: 7 822 / 9 994 публикаций (78%)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828800"/>
            <a:ext cx="822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77166"/>
                </a:solidFill>
                <a:latin typeface="Calibri"/>
              </a:rPr>
              <a:t>→
не хватает
22%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0" y="11887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Photon (OpenStreetMap)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916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Для строк без institution_id:
GET photon.komoot.io/api/?q=&lt;название&gt;
Стратегия сокращения строки:
полная → последние 3 части → 2 части
Координаты GeoJSON: [lon, lat] → переставить
Результат: +255 публикаций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39"/>
            <a:ext cx="11430000" cy="64008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3822191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Итог: 8 077 из 9 994 публикаций с координатами — 80,8% покрытие карты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77166"/>
                </a:solidFill>
                <a:latin typeface="Calibri"/>
              </a:rPr>
              <a:t>Примечание: Nominatim заблокировал IP (HTTP 403) после нескольких прогонов — переключились на Photon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663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Приоритизация: первыми обрабатываются организации, которые «разблокируют» наибольшее число публикаций без координат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0" y="6757200"/>
            <a:ext cx="7835673" cy="100800"/>
          </a:xfrm>
          <a:noFill/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673673" y="6645600"/>
            <a:ext cx="324000" cy="324000"/>
          </a:xfrm>
          <a:noFill/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C1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5940000"/>
            <a:ext cx="115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AACCFF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0" y="6757200"/>
            <a:ext cx="8706303" cy="100800"/>
          </a:xfrm>
          <a:noFill/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544303" y="6645600"/>
            <a:ext cx="324000" cy="324000"/>
          </a:xfrm>
          <a:noFill/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0972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114300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Нормализация: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— lowercase + trim пробелов.
«MIT» и «mit» = одно и то же. score = 0 → статья не показывается.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2120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Где видно:
Правая панель + режим графа «Похожие статьи»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0" y="6757200"/>
            <a:ext cx="9576933" cy="100800"/>
          </a:xfrm>
          <a:noFill/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414933" y="6645600"/>
            <a:ext cx="324000" cy="324000"/>
          </a:xfrm>
          <a:noFill/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0" y="6757200"/>
            <a:ext cx="10447564" cy="100800"/>
          </a:xfrm>
          <a:noFill/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85564" y="6645600"/>
            <a:ext cx="324000" cy="324000"/>
          </a:xfrm>
          <a:noFill/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0" y="6757200"/>
            <a:ext cx="11318194" cy="100800"/>
          </a:xfrm>
          <a:noFill/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156194" y="6645600"/>
            <a:ext cx="324000" cy="324000"/>
          </a:xfrm>
          <a:noFill/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60000" y="1080000"/>
            <a:ext cx="2232000" cy="288000"/>
          </a:xfrm>
          <a:prstGeom prst="rect">
            <a:avLst/>
          </a:prstGeom>
          <a:noFill/>
          <a:solidFill>
            <a:srgbClr val="1A5276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journals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0000" y="1386000"/>
            <a:ext cx="2232000" cy="846000"/>
          </a:xfrm>
          <a:prstGeom prst="rect">
            <a:avLst/>
          </a:prstGeom>
          <a:noFill/>
          <a:ln w="12700">
            <a:solidFill>
              <a:srgbClr val="1A5276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name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issn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0000" y="2700000"/>
            <a:ext cx="2232000" cy="288000"/>
          </a:xfrm>
          <a:prstGeom prst="rect">
            <a:avLst/>
          </a:prstGeom>
          <a:noFill/>
          <a:solidFill>
            <a:srgbClr val="154360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publications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0000" y="3006000"/>
            <a:ext cx="2232000" cy="846000"/>
          </a:xfrm>
          <a:prstGeom prst="rect">
            <a:avLst/>
          </a:prstGeom>
          <a:noFill/>
          <a:ln w="12700">
            <a:solidFill>
              <a:srgbClr val="154360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id  title  doi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year  abstract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journal_id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0" y="2700000"/>
            <a:ext cx="2232000" cy="288000"/>
          </a:xfrm>
          <a:prstGeom prst="rect">
            <a:avLst/>
          </a:prstGeom>
          <a:noFill/>
          <a:solidFill>
            <a:srgbClr val="1A5C3A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publication_authors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0" y="3006000"/>
            <a:ext cx="2232000" cy="486000"/>
          </a:xfrm>
          <a:prstGeom prst="rect">
            <a:avLst/>
          </a:prstGeom>
          <a:noFill/>
          <a:ln w="12700">
            <a:solidFill>
              <a:srgbClr val="1A5C3A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person_id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0" y="4500000"/>
            <a:ext cx="2232000" cy="288000"/>
          </a:xfrm>
          <a:prstGeom prst="rect">
            <a:avLst/>
          </a:prstGeom>
          <a:noFill/>
          <a:solidFill>
            <a:srgbClr val="1A5C3A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persons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0" y="4806000"/>
            <a:ext cx="2232000" cy="846000"/>
          </a:xfrm>
          <a:prstGeom prst="rect">
            <a:avLst/>
          </a:prstGeom>
          <a:noFill/>
          <a:ln w="12700">
            <a:solidFill>
              <a:srgbClr val="1A5C3A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full_name  orcid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0000" y="2700000"/>
            <a:ext cx="2232000" cy="288000"/>
          </a:xfrm>
          <a:prstGeom prst="rect">
            <a:avLst/>
          </a:prstGeom>
          <a:noFill/>
          <a:solidFill>
            <a:srgbClr val="7D3C98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affiliations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0000" y="3006000"/>
            <a:ext cx="2232000" cy="846000"/>
          </a:xfrm>
          <a:prstGeom prst="rect">
            <a:avLst/>
          </a:prstGeom>
          <a:noFill/>
          <a:ln w="12700">
            <a:solidFill>
              <a:srgbClr val="7D3C98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institution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latitude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longitude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00000" y="4500000"/>
            <a:ext cx="2232000" cy="288000"/>
          </a:xfrm>
          <a:prstGeom prst="rect">
            <a:avLst/>
          </a:prstGeom>
          <a:noFill/>
          <a:solidFill>
            <a:srgbClr val="935116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publication_topics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0000" y="4806000"/>
            <a:ext cx="2232000" cy="846000"/>
          </a:xfrm>
          <a:prstGeom prst="rect">
            <a:avLst/>
          </a:prstGeom>
          <a:noFill/>
          <a:ln w="12700">
            <a:solidFill>
              <a:srgbClr val="935116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topic_name  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0000" y="2700000"/>
            <a:ext cx="2232000" cy="288000"/>
          </a:xfrm>
          <a:prstGeom prst="rect">
            <a:avLst/>
          </a:prstGeom>
          <a:noFill/>
          <a:solidFill>
            <a:srgbClr val="935116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publication_keywords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00000" y="3006000"/>
            <a:ext cx="2232000" cy="846000"/>
          </a:xfrm>
          <a:prstGeom prst="rect">
            <a:avLst/>
          </a:prstGeom>
          <a:noFill/>
          <a:ln w="12700">
            <a:solidFill>
              <a:srgbClr val="935116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keyword_name  score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76000" y="2232000"/>
            <a:ext cx="0" cy="468000"/>
          </a:xfrm>
          <a:prstGeom prst="line">
            <a:avLst/>
          </a:prstGeom>
          <a:ln w="19050">
            <a:solidFill>
              <a:srgbClr val="88A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88000" y="2322000"/>
            <a:ext cx="576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88AACC"/>
                </a:solidFill>
              </a:rPr>
              <a:t>1 : 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92000" y="3096000"/>
            <a:ext cx="828000" cy="0"/>
          </a:xfrm>
          <a:prstGeom prst="line">
            <a:avLst/>
          </a:prstGeom>
          <a:ln w="19050">
            <a:solidFill>
              <a:srgbClr val="88A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218000" y="2952000"/>
            <a:ext cx="576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88AACC"/>
                </a:solidFill>
              </a:rPr>
              <a:t>1 : 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36000" y="3492000"/>
            <a:ext cx="0" cy="1008000"/>
          </a:xfrm>
          <a:prstGeom prst="line">
            <a:avLst/>
          </a:prstGeom>
          <a:ln w="19050">
            <a:solidFill>
              <a:srgbClr val="88A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748000" y="3852000"/>
            <a:ext cx="576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88AACC"/>
                </a:solidFill>
              </a:rPr>
              <a:t>N : 1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10152000" y="3600000"/>
            <a:ext cx="108000" cy="1296000"/>
          </a:xfrm>
          <a:prstGeom prst="line">
            <a:avLst/>
          </a:prstGeom>
          <a:ln w="19050">
            <a:solidFill>
              <a:srgbClr val="88A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4032000" y="3240000"/>
            <a:ext cx="828000" cy="1800000"/>
          </a:xfrm>
          <a:prstGeom prst="line">
            <a:avLst/>
          </a:prstGeom>
          <a:ln w="19050">
            <a:solidFill>
              <a:srgbClr val="88A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158000" y="3996000"/>
            <a:ext cx="576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88AACC"/>
                </a:solidFill>
              </a:rPr>
              <a:t>1 : N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4032000" y="3060000"/>
            <a:ext cx="828000" cy="0"/>
          </a:xfrm>
          <a:prstGeom prst="line">
            <a:avLst/>
          </a:prstGeom>
          <a:ln w="19050">
            <a:solidFill>
              <a:srgbClr val="88A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158000" y="2916000"/>
            <a:ext cx="576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88AACC"/>
                </a:solidFill>
              </a:rPr>
              <a:t>1 : 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0" y="6757200"/>
            <a:ext cx="6965042" cy="100800"/>
          </a:xfrm>
          <a:noFill/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803042" y="6645600"/>
            <a:ext cx="324000" cy="324000"/>
          </a:xfrm>
          <a:noFill/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1220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0" y="6757200"/>
            <a:ext cx="12188825" cy="100800"/>
          </a:xfrm>
          <a:noFill/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1864825" y="6645600"/>
            <a:ext cx="324000" cy="324000"/>
          </a:xfrm>
          <a:noFill/>
          <a:prstGeom prst="ellipse">
            <a:avLst/>
          </a:prstGeom>
          <a:solidFill>
            <a:srgbClr val="8BB29A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913</Words>
  <Application>Microsoft Office PowerPoint</Application>
  <PresentationFormat>Произвольный</PresentationFormat>
  <Paragraphs>303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Varvara Surnova</cp:lastModifiedBy>
  <cp:revision>2</cp:revision>
  <dcterms:created xsi:type="dcterms:W3CDTF">2013-01-27T09:14:16Z</dcterms:created>
  <dcterms:modified xsi:type="dcterms:W3CDTF">2026-05-21T05:09:54Z</dcterms:modified>
  <cp:category/>
</cp:coreProperties>
</file>