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fntdata" ContentType="application/x-fontdata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Figtree SemiBold" pitchFamily="2" charset="0"/>
      <p:regular r:id="rId19"/>
    </p:embeddedFont>
    <p:embeddedFont>
      <p:font typeface="Figtree Bold" pitchFamily="2" charset="0"/>
      <p:regular r:id="rId20"/>
    </p:embeddedFont>
    <p:embeddedFont>
      <p:font typeface="Figtree Regular" pitchFamily="2" charset="0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
    <Relationship Id="rId19" Type="http://schemas.openxmlformats.org/officeDocument/2006/relationships/font" Target="fonts/font1.fntdata"/>
    <Relationship Id="rId20" Type="http://schemas.openxmlformats.org/officeDocument/2006/relationships/font" Target="fonts/font2.fntdata"/>
    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16dd8d1adf8331e0f74e52f295bcdbf317bc662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d6d4579495ce0337b08d82a6432f2605e9754da9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2f8ecc391bf6573ef7b82c7d4f9e63b6689e6a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7540e46927dc2b372a86fe64f72ec5ceb322203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blipFill>
            <a:blip r:embed="rId1"/>
            <a:srcRect/>
            <a:stretch>
              <a:fillRect l="0" r="0" t="-9236" b="-9236"/>
            </a:stretch>
          </a:blip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3108960"/>
            <a:ext cx="12192000" cy="3749040"/>
          </a:xfrm>
          <a:prstGeom prst="rect">
            <a:avLst/>
          </a:prstGeom>
          <a:gradFill>
            <a:gsLst>
              <a:gs pos="15000">
                <a:srgbClr val="000000">
                  <a:alpha val="100000"/>
                </a:srgbClr>
              </a:gs>
              <a:gs pos="100000">
                <a:srgbClr val="000000">
                  <a:alpha val="0"/>
                </a:srgbClr>
              </a:gs>
            </a:gsLst>
            <a:lin ang="16200000"/>
          </a:gra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1519" y="5473446"/>
            <a:ext cx="10728960" cy="9525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1723241"/>
            <a:ext cx="10728960" cy="35292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Визуализация науки на основе метаданных публикаций и журналов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95836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1520" y="5712716"/>
            <a:ext cx="10728960" cy="823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Как метаданные научных публикаций и журналов используются для визуализации научного знания, оценки публикационной активности и выявления связей в российском академическом пространстве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441159" y="0"/>
            <a:ext cx="2750841" cy="6858000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0080" y="1159605"/>
            <a:ext cx="8321040" cy="9525"/>
          </a:xfrm>
          <a:custGeom>
            <a:avLst/>
            <a:gdLst/>
            <a:ahLst/>
            <a:cxnLst/>
            <a:rect l="l" t="t" r="r" b="b"/>
            <a:pathLst>
              <a:path w="8321040" h="9525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70559" y="1"/>
            <a:ext cx="8321040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Актуальность исследования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7765" y="6309360"/>
            <a:ext cx="737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79" y="1481359"/>
            <a:ext cx="6309360" cy="565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Визуализация публикационной активности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79" y="2268486"/>
            <a:ext cx="6309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Метаданные публикаций помогают быстро анализировать рост научных данных и выявлять ключевые тенденции в российской академической среде.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1164617"/>
            <a:ext cx="10874394" cy="10672"/>
          </a:xfrm>
          <a:custGeom>
            <a:avLst/>
            <a:gdLst/>
            <a:ahLst/>
            <a:cxnLst/>
            <a:rect l="l" t="t" r="r" b="b"/>
            <a:pathLst>
              <a:path w="10874394" h="10672">
                <a:moveTo>
                  <a:pt x="0" y="0"/>
                </a:moveTo>
                <a:lnTo>
                  <a:pt x="10874394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0079" y="1"/>
            <a:ext cx="10908453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Цель и задачи исследования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57765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588394" y="4488705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974"/>
              </a:spcBef>
              <a:buNone/>
            </a:pPr>
            <a:r>
              <a:rPr lang="en-US" sz="1559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Практическое применение</a:t>
            </a:r>
            <a:endParaRPr lang="en-US" sz="1559" dirty="0"/>
          </a:p>
          <a:p>
            <a:pPr algn="l" marL="142875" indent="0">
              <a:lnSpc>
                <a:spcPct val="100000"/>
              </a:lnSpc>
              <a:spcBef>
                <a:spcPts val="974"/>
              </a:spcBef>
              <a:buNone/>
            </a:pPr>
            <a:r>
              <a:rPr lang="en-US" sz="1325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Формулирование рекомендаций для научных и образовательных организаций. Особое внимание уделяется отражению публикационной активности, предметной структуры и журнальной инфраструктуры.</a:t>
            </a:r>
            <a:endParaRPr lang="en-US" sz="1559" dirty="0"/>
          </a:p>
        </p:txBody>
      </p:sp>
      <p:sp>
        <p:nvSpPr>
          <p:cNvPr id="10" name="Text 8"/>
          <p:cNvSpPr/>
          <p:nvPr/>
        </p:nvSpPr>
        <p:spPr>
          <a:xfrm>
            <a:off x="8588394" y="1958697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Определение задач</a:t>
            </a:r>
            <a:endParaRPr lang="en-US" sz="1600" dirty="0"/>
          </a:p>
          <a:p>
            <a:pPr algn="l" marL="142875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36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Выбор ключевых метаданных и информативных показателей для анализа. Анализ источников данных и сравнение форм визуализации для выявления оптимальных методов.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7097" y="2834525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Формулировка цели</a:t>
            </a:r>
            <a:endParaRPr lang="en-US" sz="1600" dirty="0"/>
          </a:p>
          <a:p>
            <a:pPr algn="r" marL="142875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136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Разработка и обоснование подходов к визуализации науки на основе метаданных публикаций и журналов в российском академическом контексте. Цель определяет направление всех последующих задач.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17231" y="1886693"/>
            <a:ext cx="2582739" cy="2708521"/>
          </a:xfrm>
          <a:custGeom>
            <a:avLst/>
            <a:gdLst/>
            <a:ahLst/>
            <a:cxnLst/>
            <a:rect l="l" t="t" r="r" b="b"/>
            <a:pathLst>
              <a:path w="2582739" h="2708521">
                <a:moveTo>
                  <a:pt x="2474496" y="1410571"/>
                </a:moveTo>
                <a:cubicBezTo>
                  <a:pt x="2118130" y="380276"/>
                  <a:pt x="1038287" y="-193930"/>
                  <a:pt x="0" y="59696"/>
                </a:cubicBezTo>
                <a:lnTo>
                  <a:pt x="415718" y="513996"/>
                </a:lnTo>
                <a:cubicBezTo>
                  <a:pt x="441390" y="542056"/>
                  <a:pt x="450068" y="581871"/>
                  <a:pt x="438368" y="618057"/>
                </a:cubicBezTo>
                <a:lnTo>
                  <a:pt x="292986" y="1068241"/>
                </a:lnTo>
                <a:cubicBezTo>
                  <a:pt x="829111" y="962581"/>
                  <a:pt x="1362601" y="1289148"/>
                  <a:pt x="1506098" y="1824703"/>
                </a:cubicBezTo>
                <a:cubicBezTo>
                  <a:pt x="1552717" y="1998672"/>
                  <a:pt x="1552691" y="2174211"/>
                  <a:pt x="1513614" y="2337914"/>
                </a:cubicBezTo>
                <a:lnTo>
                  <a:pt x="1872512" y="2703591"/>
                </a:lnTo>
                <a:cubicBezTo>
                  <a:pt x="1876721" y="2707844"/>
                  <a:pt x="1882868" y="2709577"/>
                  <a:pt x="1888757" y="2707979"/>
                </a:cubicBezTo>
                <a:lnTo>
                  <a:pt x="2539633" y="2535582"/>
                </a:lnTo>
                <a:lnTo>
                  <a:pt x="2540873" y="2540186"/>
                </a:lnTo>
                <a:cubicBezTo>
                  <a:pt x="2609444" y="2167981"/>
                  <a:pt x="2598080" y="1767960"/>
                  <a:pt x="2474548" y="1410760"/>
                </a:cubicBezTo>
                <a:lnTo>
                  <a:pt x="2474496" y="1410571"/>
                </a:lnTo>
              </a:path>
            </a:pathLst>
          </a:custGeom>
          <a:solidFill>
            <a:srgbClr val="0C53B7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739907" y="4322669"/>
            <a:ext cx="3396882" cy="1754746"/>
          </a:xfrm>
          <a:custGeom>
            <a:avLst/>
            <a:gdLst/>
            <a:ahLst/>
            <a:cxnLst/>
            <a:rect l="l" t="t" r="r" b="b"/>
            <a:pathLst>
              <a:path w="3396882" h="1754746">
                <a:moveTo>
                  <a:pt x="2788874" y="358038"/>
                </a:moveTo>
                <a:cubicBezTo>
                  <a:pt x="2752120" y="367882"/>
                  <a:pt x="2712716" y="356915"/>
                  <a:pt x="2686220" y="329840"/>
                </a:cubicBezTo>
                <a:lnTo>
                  <a:pt x="2362463" y="-18"/>
                </a:lnTo>
                <a:cubicBezTo>
                  <a:pt x="2252880" y="317942"/>
                  <a:pt x="1992305" y="577610"/>
                  <a:pt x="1642970" y="671208"/>
                </a:cubicBezTo>
                <a:cubicBezTo>
                  <a:pt x="1293601" y="764823"/>
                  <a:pt x="930610" y="668102"/>
                  <a:pt x="676319" y="442389"/>
                </a:cubicBezTo>
                <a:lnTo>
                  <a:pt x="603932" y="462235"/>
                </a:lnTo>
                <a:lnTo>
                  <a:pt x="186115" y="577118"/>
                </a:lnTo>
                <a:cubicBezTo>
                  <a:pt x="180374" y="578645"/>
                  <a:pt x="175789" y="583278"/>
                  <a:pt x="174430" y="589174"/>
                </a:cubicBezTo>
                <a:lnTo>
                  <a:pt x="11991" y="1228217"/>
                </a:lnTo>
                <a:lnTo>
                  <a:pt x="8560" y="1241746"/>
                </a:lnTo>
                <a:lnTo>
                  <a:pt x="1936" y="1239974"/>
                </a:lnTo>
                <a:lnTo>
                  <a:pt x="442" y="1239605"/>
                </a:lnTo>
                <a:lnTo>
                  <a:pt x="-34" y="1242343"/>
                </a:lnTo>
                <a:cubicBezTo>
                  <a:pt x="291079" y="1494640"/>
                  <a:pt x="596968" y="1643442"/>
                  <a:pt x="975245" y="1716369"/>
                </a:cubicBezTo>
                <a:cubicBezTo>
                  <a:pt x="2063640" y="1926412"/>
                  <a:pt x="3117624" y="1252941"/>
                  <a:pt x="3396848" y="197076"/>
                </a:cubicBezTo>
                <a:lnTo>
                  <a:pt x="2789078" y="358091"/>
                </a:lnTo>
                <a:lnTo>
                  <a:pt x="2788874" y="358038"/>
                </a:lnTo>
              </a:path>
            </a:pathLst>
          </a:custGeom>
          <a:solidFill>
            <a:srgbClr val="08387A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16828" y="1973514"/>
            <a:ext cx="1954699" cy="3530111"/>
          </a:xfrm>
          <a:custGeom>
            <a:avLst/>
            <a:gdLst/>
            <a:ahLst/>
            <a:cxnLst/>
            <a:rect l="l" t="t" r="r" b="b"/>
            <a:pathLst>
              <a:path w="1954699" h="3530111">
                <a:moveTo>
                  <a:pt x="1083216" y="2279852"/>
                </a:moveTo>
                <a:cubicBezTo>
                  <a:pt x="936457" y="1732120"/>
                  <a:pt x="1252493" y="1169596"/>
                  <a:pt x="1791423" y="1006717"/>
                </a:cubicBezTo>
                <a:lnTo>
                  <a:pt x="1953878" y="503817"/>
                </a:lnTo>
                <a:cubicBezTo>
                  <a:pt x="1955735" y="498099"/>
                  <a:pt x="1954366" y="491815"/>
                  <a:pt x="1950262" y="487402"/>
                </a:cubicBezTo>
                <a:lnTo>
                  <a:pt x="1504297" y="0"/>
                </a:lnTo>
                <a:lnTo>
                  <a:pt x="1410159" y="28770"/>
                </a:lnTo>
                <a:cubicBezTo>
                  <a:pt x="1046057" y="154619"/>
                  <a:pt x="764385" y="345316"/>
                  <a:pt x="511955" y="636514"/>
                </a:cubicBezTo>
                <a:cubicBezTo>
                  <a:pt x="-225826" y="1487554"/>
                  <a:pt x="-155829" y="2763865"/>
                  <a:pt x="654863" y="3530111"/>
                </a:cubicBezTo>
                <a:lnTo>
                  <a:pt x="810750" y="2916507"/>
                </a:lnTo>
                <a:cubicBezTo>
                  <a:pt x="820113" y="2879688"/>
                  <a:pt x="848613" y="2850530"/>
                  <a:pt x="885322" y="2840504"/>
                </a:cubicBezTo>
                <a:lnTo>
                  <a:pt x="1325501" y="2719492"/>
                </a:lnTo>
                <a:cubicBezTo>
                  <a:pt x="1213751" y="2598691"/>
                  <a:pt x="1128819" y="2449897"/>
                  <a:pt x="1083275" y="2279922"/>
                </a:cubicBezTo>
                <a:lnTo>
                  <a:pt x="1083216" y="2279852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581079" y="5116999"/>
            <a:ext cx="578531" cy="571710"/>
          </a:xfrm>
          <a:custGeom>
            <a:avLst/>
            <a:gdLst/>
            <a:ahLst/>
            <a:cxnLst/>
            <a:rect l="l" t="t" r="r" b="b"/>
            <a:pathLst>
              <a:path w="578531" h="571710">
                <a:moveTo>
                  <a:pt x="448830" y="30689"/>
                </a:moveTo>
                <a:cubicBezTo>
                  <a:pt x="439823" y="11411"/>
                  <a:pt x="421437" y="800"/>
                  <a:pt x="402612" y="0"/>
                </a:cubicBezTo>
                <a:cubicBezTo>
                  <a:pt x="293448" y="181095"/>
                  <a:pt x="158211" y="346399"/>
                  <a:pt x="6" y="489710"/>
                </a:cubicBezTo>
                <a:cubicBezTo>
                  <a:pt x="6688" y="499149"/>
                  <a:pt x="16297" y="506884"/>
                  <a:pt x="28903" y="510274"/>
                </a:cubicBezTo>
                <a:lnTo>
                  <a:pt x="510172" y="569618"/>
                </a:lnTo>
                <a:cubicBezTo>
                  <a:pt x="554430" y="582069"/>
                  <a:pt x="592879" y="536687"/>
                  <a:pt x="573296" y="495164"/>
                </a:cubicBezTo>
                <a:lnTo>
                  <a:pt x="448830" y="30689"/>
                </a:lnTo>
              </a:path>
            </a:pathLst>
          </a:custGeom>
          <a:solidFill>
            <a:srgbClr val="08387A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545422" y="2254263"/>
            <a:ext cx="563173" cy="575169"/>
          </a:xfrm>
          <a:custGeom>
            <a:avLst/>
            <a:gdLst/>
            <a:ahLst/>
            <a:cxnLst/>
            <a:rect l="l" t="t" r="r" b="b"/>
            <a:pathLst>
              <a:path w="563173" h="575169">
                <a:moveTo>
                  <a:pt x="454002" y="546434"/>
                </a:moveTo>
                <a:lnTo>
                  <a:pt x="559417" y="73202"/>
                </a:lnTo>
                <a:cubicBezTo>
                  <a:pt x="576042" y="30363"/>
                  <a:pt x="534587" y="-12228"/>
                  <a:pt x="491442" y="3238"/>
                </a:cubicBezTo>
                <a:lnTo>
                  <a:pt x="17098" y="82307"/>
                </a:lnTo>
                <a:cubicBezTo>
                  <a:pt x="10571" y="84659"/>
                  <a:pt x="4838" y="88168"/>
                  <a:pt x="0" y="92223"/>
                </a:cubicBezTo>
                <a:cubicBezTo>
                  <a:pt x="167910" y="232403"/>
                  <a:pt x="311395" y="395688"/>
                  <a:pt x="427612" y="575164"/>
                </a:cubicBezTo>
                <a:cubicBezTo>
                  <a:pt x="439089" y="569607"/>
                  <a:pt x="448810" y="559899"/>
                  <a:pt x="454002" y="546434"/>
                </a:cubicBezTo>
                <a:lnTo>
                  <a:pt x="454002" y="546434"/>
                </a:lnTo>
              </a:path>
            </a:pathLst>
          </a:custGeom>
          <a:solidFill>
            <a:srgbClr val="0C53B7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95665" y="2681953"/>
            <a:ext cx="553809" cy="581555"/>
          </a:xfrm>
          <a:custGeom>
            <a:avLst/>
            <a:gdLst/>
            <a:ahLst/>
            <a:cxnLst/>
            <a:rect l="l" t="t" r="r" b="b"/>
            <a:pathLst>
              <a:path w="553809" h="581555">
                <a:moveTo>
                  <a:pt x="553615" y="4647"/>
                </a:moveTo>
                <a:cubicBezTo>
                  <a:pt x="547911" y="2105"/>
                  <a:pt x="541730" y="494"/>
                  <a:pt x="535156" y="0"/>
                </a:cubicBezTo>
                <a:lnTo>
                  <a:pt x="57303" y="54044"/>
                </a:lnTo>
                <a:cubicBezTo>
                  <a:pt x="11386" y="51043"/>
                  <a:pt x="-16819" y="103383"/>
                  <a:pt x="11109" y="140091"/>
                </a:cubicBezTo>
                <a:lnTo>
                  <a:pt x="242286" y="566277"/>
                </a:lnTo>
                <a:cubicBezTo>
                  <a:pt x="247514" y="573076"/>
                  <a:pt x="253810" y="578077"/>
                  <a:pt x="260711" y="581555"/>
                </a:cubicBezTo>
                <a:cubicBezTo>
                  <a:pt x="293723" y="482371"/>
                  <a:pt x="334102" y="384413"/>
                  <a:pt x="382521" y="288341"/>
                </a:cubicBezTo>
                <a:cubicBezTo>
                  <a:pt x="430941" y="192262"/>
                  <a:pt x="490464" y="93305"/>
                  <a:pt x="553814" y="4583"/>
                </a:cubicBezTo>
                <a:lnTo>
                  <a:pt x="553615" y="4647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251832" y="3156472"/>
            <a:ext cx="731520" cy="731520"/>
          </a:xfrm>
          <a:custGeom>
            <a:avLst/>
            <a:gdLst/>
            <a:ahLst/>
            <a:cxnLst/>
            <a:rect l="l" t="t" r="r" b="b"/>
            <a:pathLst>
              <a:path w="731520" h="731520">
                <a:moveTo>
                  <a:pt x="0" y="365760"/>
                </a:moveTo>
                <a:cubicBezTo>
                  <a:pt x="0" y="163758"/>
                  <a:pt x="163758" y="0"/>
                  <a:pt x="365760" y="0"/>
                </a:cubicBezTo>
                <a:cubicBezTo>
                  <a:pt x="567762" y="0"/>
                  <a:pt x="731520" y="163758"/>
                  <a:pt x="731520" y="365760"/>
                </a:cubicBezTo>
                <a:cubicBezTo>
                  <a:pt x="731520" y="567762"/>
                  <a:pt x="567762" y="731520"/>
                  <a:pt x="365760" y="731520"/>
                </a:cubicBezTo>
                <a:cubicBezTo>
                  <a:pt x="163758" y="731520"/>
                  <a:pt x="0" y="567762"/>
                  <a:pt x="0" y="365760"/>
                </a:cubicBezTo>
              </a:path>
            </a:pathLst>
          </a:custGeom>
          <a:solidFill>
            <a:srgbClr val="FFFFFF"/>
          </a:solidFill>
          <a:ln w="9525">
            <a:solidFill>
              <a:srgbClr val="D0E2FC"/>
            </a:solidFill>
          </a:ln>
          <a:effectLst>
            <a:outerShdw sx="100000" sy="100000" kx="0" ky="0" algn="bl" rotWithShape="0" blurRad="266700" dist="13" dir="16200000">
              <a:srgbClr val="08387A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251832" y="31564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8387A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82602" y="2686150"/>
            <a:ext cx="731520" cy="731520"/>
          </a:xfrm>
          <a:custGeom>
            <a:avLst/>
            <a:gdLst/>
            <a:ahLst/>
            <a:cxnLst/>
            <a:rect l="l" t="t" r="r" b="b"/>
            <a:pathLst>
              <a:path w="731520" h="731520">
                <a:moveTo>
                  <a:pt x="0" y="365760"/>
                </a:moveTo>
                <a:cubicBezTo>
                  <a:pt x="0" y="163758"/>
                  <a:pt x="163758" y="0"/>
                  <a:pt x="365760" y="0"/>
                </a:cubicBezTo>
                <a:cubicBezTo>
                  <a:pt x="567762" y="0"/>
                  <a:pt x="731520" y="163758"/>
                  <a:pt x="731520" y="365760"/>
                </a:cubicBezTo>
                <a:cubicBezTo>
                  <a:pt x="731520" y="567762"/>
                  <a:pt x="567762" y="731520"/>
                  <a:pt x="365760" y="731520"/>
                </a:cubicBezTo>
                <a:cubicBezTo>
                  <a:pt x="163758" y="731520"/>
                  <a:pt x="0" y="567762"/>
                  <a:pt x="0" y="365760"/>
                </a:cubicBezTo>
              </a:path>
            </a:pathLst>
          </a:custGeom>
          <a:solidFill>
            <a:srgbClr val="FFFFFF"/>
          </a:solidFill>
          <a:ln w="9525">
            <a:solidFill>
              <a:srgbClr val="D0E2FC"/>
            </a:solidFill>
          </a:ln>
          <a:effectLst>
            <a:outerShdw sx="100000" sy="100000" kx="0" ky="0" algn="bl" rotWithShape="0" blurRad="266700" dist="13" dir="16200000">
              <a:srgbClr val="08387A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602" y="268615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8387A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68616" y="5046005"/>
            <a:ext cx="731520" cy="731520"/>
          </a:xfrm>
          <a:custGeom>
            <a:avLst/>
            <a:gdLst/>
            <a:ahLst/>
            <a:cxnLst/>
            <a:rect l="l" t="t" r="r" b="b"/>
            <a:pathLst>
              <a:path w="731520" h="731520">
                <a:moveTo>
                  <a:pt x="0" y="365760"/>
                </a:moveTo>
                <a:cubicBezTo>
                  <a:pt x="0" y="163758"/>
                  <a:pt x="163758" y="0"/>
                  <a:pt x="365760" y="0"/>
                </a:cubicBezTo>
                <a:cubicBezTo>
                  <a:pt x="567762" y="0"/>
                  <a:pt x="731520" y="163758"/>
                  <a:pt x="731520" y="365760"/>
                </a:cubicBezTo>
                <a:cubicBezTo>
                  <a:pt x="731520" y="567762"/>
                  <a:pt x="567762" y="731520"/>
                  <a:pt x="365760" y="731520"/>
                </a:cubicBezTo>
                <a:cubicBezTo>
                  <a:pt x="163758" y="731520"/>
                  <a:pt x="0" y="567762"/>
                  <a:pt x="0" y="365760"/>
                </a:cubicBezTo>
              </a:path>
            </a:pathLst>
          </a:custGeom>
          <a:solidFill>
            <a:srgbClr val="FFFFFF"/>
          </a:solidFill>
          <a:ln w="9525">
            <a:solidFill>
              <a:srgbClr val="D0E2FC"/>
            </a:solidFill>
          </a:ln>
          <a:effectLst>
            <a:outerShdw sx="100000" sy="100000" kx="0" ky="0" algn="bl" rotWithShape="0" blurRad="266700" dist="13" dir="16200000">
              <a:srgbClr val="08387A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68616" y="50460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8387A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75" y="1605869"/>
            <a:ext cx="10918305" cy="534939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5996" y="2143743"/>
            <a:ext cx="9525" cy="3657600"/>
          </a:xfrm>
          <a:custGeom>
            <a:avLst/>
            <a:gdLst/>
            <a:ahLst/>
            <a:cxnLst/>
            <a:rect l="l" t="t" r="r" b="b"/>
            <a:pathLst>
              <a:path w="9525" h="3657600">
                <a:moveTo>
                  <a:pt x="0" y="0"/>
                </a:moveTo>
                <a:lnTo>
                  <a:pt x="9525" y="3657600"/>
                </a:lnTo>
              </a:path>
            </a:pathLst>
          </a:custGeom>
          <a:noFill/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79" y="2143743"/>
            <a:ext cx="10911840" cy="9525"/>
          </a:xfrm>
          <a:custGeom>
            <a:avLst/>
            <a:gdLst/>
            <a:ahLst/>
            <a:cxnLst/>
            <a:rect l="l" t="t" r="r" b="b"/>
            <a:pathLst>
              <a:path w="10911840" h="9525">
                <a:moveTo>
                  <a:pt x="0" y="0"/>
                </a:moveTo>
                <a:lnTo>
                  <a:pt x="10911840" y="9525"/>
                </a:lnTo>
              </a:path>
            </a:pathLst>
          </a:custGeom>
          <a:noFill/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164617"/>
            <a:ext cx="10881360" cy="10672"/>
          </a:xfrm>
          <a:custGeom>
            <a:avLst/>
            <a:gdLst/>
            <a:ahLst/>
            <a:cxnLst/>
            <a:rect l="l" t="t" r="r" b="b"/>
            <a:pathLst>
              <a:path w="10881360" h="10672">
                <a:moveTo>
                  <a:pt x="0" y="0"/>
                </a:moveTo>
                <a:lnTo>
                  <a:pt x="1088136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79" y="1"/>
            <a:ext cx="10915441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Объект и предмет исследования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57765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4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78876" y="2315048"/>
            <a:ext cx="4815843" cy="335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82880" indent="-182880">
              <a:lnSpc>
                <a:spcPct val="100000"/>
              </a:lnSpc>
              <a:spcAft>
                <a:spcPts val="2400"/>
              </a:spcAft>
              <a:buSzPct val="120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Метаданные публикаций и журналов как источник для анализа научного знания, тематических кластеров, динамики активности и взаимосвязей авторов и организаций.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59" y="2326623"/>
            <a:ext cx="4815840" cy="3338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82880" indent="-182880">
              <a:lnSpc>
                <a:spcPct val="100000"/>
              </a:lnSpc>
              <a:spcAft>
                <a:spcPts val="2400"/>
              </a:spcAft>
              <a:buSzPct val="120000"/>
              <a:buFont typeface="Arial"/>
              <a:buChar char="•"/>
            </a:pPr>
            <a:r>
              <a:rPr lang="en-US" sz="1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Массив научных публикаций и журналов из российских и международных библиографических баз.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81747" y="1743030"/>
            <a:ext cx="3884430" cy="251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9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Предмет исследования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32285" y="1743030"/>
            <a:ext cx="3871508" cy="251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9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Объект исследования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76014" y="1424763"/>
            <a:ext cx="839972" cy="839972"/>
          </a:xfrm>
          <a:custGeom>
            <a:avLst/>
            <a:gdLst/>
            <a:ahLst/>
            <a:cxnLst/>
            <a:rect l="l" t="t" r="r" b="b"/>
            <a:pathLst>
              <a:path w="839972" h="839972">
                <a:moveTo>
                  <a:pt x="0" y="419986"/>
                </a:moveTo>
                <a:cubicBezTo>
                  <a:pt x="0" y="188036"/>
                  <a:pt x="188036" y="0"/>
                  <a:pt x="419986" y="0"/>
                </a:cubicBezTo>
                <a:cubicBezTo>
                  <a:pt x="651936" y="0"/>
                  <a:pt x="839972" y="188036"/>
                  <a:pt x="839972" y="419986"/>
                </a:cubicBezTo>
                <a:cubicBezTo>
                  <a:pt x="839972" y="651936"/>
                  <a:pt x="651936" y="839972"/>
                  <a:pt x="419986" y="839972"/>
                </a:cubicBezTo>
                <a:cubicBezTo>
                  <a:pt x="188036" y="839972"/>
                  <a:pt x="0" y="651936"/>
                  <a:pt x="0" y="419986"/>
                </a:cubicBezTo>
              </a:path>
            </a:pathLst>
          </a:custGeom>
          <a:solidFill>
            <a:srgbClr val="FFFFFF"/>
          </a:solidFill>
          <a:ln w="28575">
            <a:solidFill>
              <a:srgbClr val="F2F2F2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766014" y="1471563"/>
            <a:ext cx="659972" cy="74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Bold" pitchFamily="34" charset="0"/>
                <a:ea typeface="Figtree Bold" pitchFamily="34" charset="-122"/>
                <a:cs typeface="Figtree Bold" pitchFamily="34" charset="-120"/>
              </a:rPr>
              <a:t>VS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655241" y="0"/>
            <a:ext cx="536759" cy="6858000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0080" y="1164617"/>
            <a:ext cx="10698480" cy="10672"/>
          </a:xfrm>
          <a:custGeom>
            <a:avLst/>
            <a:gdLst/>
            <a:ahLst/>
            <a:cxnLst/>
            <a:rect l="l" t="t" r="r" b="b"/>
            <a:pathLst>
              <a:path w="10698480" h="10672">
                <a:moveTo>
                  <a:pt x="0" y="0"/>
                </a:moveTo>
                <a:lnTo>
                  <a:pt x="1069848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79" y="1"/>
            <a:ext cx="10698480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Ключевые теоретические положения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40080" y="1473200"/>
            <a:ext cx="3200400" cy="4572000"/>
          </a:xfrm>
          <a:prstGeom prst="rect">
            <a:avLst/>
          </a:prstGeom>
          <a:blipFill>
            <a:blip r:embed="rId1"/>
            <a:srcRect/>
            <a:stretch>
              <a:fillRect l="-104964" r="-104964" t="0" b="0"/>
            </a:stretch>
          </a:blip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57765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5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297679" y="2233906"/>
            <a:ext cx="6309360" cy="397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4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Метаданные — это структурированные сведения о документе, обеспечивающие поиск, идентификацию и аналитическую обработку.</a:t>
            </a:r>
            <a:endParaRPr lang="en-US" sz="1400" dirty="0"/>
          </a:p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4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 наукометрии они служат для построения карт тем, анализа цитирования и оценки журналов.</a:t>
            </a:r>
            <a:endParaRPr lang="en-US" sz="1400" dirty="0"/>
          </a:p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4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Важны параметры: автор, название, год, журнал, организация, ключевые слова и библиографические ссылки.</a:t>
            </a:r>
            <a:endParaRPr lang="en-US" sz="1400" dirty="0"/>
          </a:p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4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 российской практике основными источниками являются РИНЦ, eLIBRARY.ru, перечни ВАК и данные о журналах, прошедших экспертизу.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97679" y="1481359"/>
            <a:ext cx="6309360" cy="565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18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Метаданные в наукометрии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1164617"/>
            <a:ext cx="10881360" cy="10672"/>
          </a:xfrm>
          <a:custGeom>
            <a:avLst/>
            <a:gdLst/>
            <a:ahLst/>
            <a:cxnLst/>
            <a:rect l="l" t="t" r="r" b="b"/>
            <a:pathLst>
              <a:path w="10881360" h="10672">
                <a:moveTo>
                  <a:pt x="0" y="0"/>
                </a:moveTo>
                <a:lnTo>
                  <a:pt x="1088136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0079" y="1"/>
            <a:ext cx="10915441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Источники данных и анализируемые показатели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57765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186159" y="62856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79" y="1563065"/>
          <a:ext cx="10911840" cy="4130320"/>
        </p:xfrm>
        <a:graphic>
          <a:graphicData uri="http://schemas.openxmlformats.org/drawingml/2006/table">
            <a:tbl>
              <a:tblPr/>
              <a:tblGrid>
                <a:gridCol w="5455920"/>
                <a:gridCol w="5455920"/>
              </a:tblGrid>
              <a:tr h="688387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Figtree Bold" pitchFamily="34" charset="0"/>
                          <a:ea typeface="Figtree Bold" pitchFamily="34" charset="-122"/>
                          <a:cs typeface="Figtree Bold" pitchFamily="34" charset="-120"/>
                        </a:rPr>
                        <a:t>Группа показателей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70E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Figtree Bold" pitchFamily="34" charset="0"/>
                          <a:ea typeface="Figtree Bold" pitchFamily="34" charset="-122"/>
                          <a:cs typeface="Figtree Bold" pitchFamily="34" charset="-120"/>
                        </a:rPr>
                        <a:t>Значение и интерпретация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70EF"/>
                    </a:solidFill>
                  </a:tcPr>
                </a:tc>
              </a:tr>
              <a:tr h="688387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Общие количественные показатели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Объем науки: публикации, журналы; динамика развития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387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Тематическое распределение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Приоритетные направления исследований по предметам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</a:tr>
              <a:tr h="688387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Временные показатели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Доля статей по годам; изменение активности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8387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Качественные индексы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Индекс цитирования: влияние и признание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</a:tr>
              <a:tr h="688387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Аналитические характеристики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Ключевые слова, аффилиации, состав коллективов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57765" y="6309360"/>
            <a:ext cx="5238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79" y="1447800"/>
            <a:ext cx="10915441" cy="4490260"/>
          </a:xfrm>
          <a:prstGeom prst="rect">
            <a:avLst/>
          </a:prstGeom>
          <a:blipFill>
            <a:blip r:embed="rId1"/>
            <a:srcRect/>
            <a:stretch>
              <a:fillRect l="0" r="0" t="2" b="2"/>
            </a:stretch>
          </a:blip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0080" y="1164617"/>
            <a:ext cx="10881360" cy="10672"/>
          </a:xfrm>
          <a:custGeom>
            <a:avLst/>
            <a:gdLst/>
            <a:ahLst/>
            <a:cxnLst/>
            <a:rect l="l" t="t" r="r" b="b"/>
            <a:pathLst>
              <a:path w="10881360" h="10672">
                <a:moveTo>
                  <a:pt x="0" y="0"/>
                </a:moveTo>
                <a:lnTo>
                  <a:pt x="1088136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0079" y="1"/>
            <a:ext cx="10915441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Масштаб российской научной базы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186159" y="62856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63289" y="1552352"/>
          <a:ext cx="8321040" cy="4029740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  <a:gridCol w="2080260"/>
                <a:gridCol w="2080260"/>
              </a:tblGrid>
              <a:tr h="8059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Figtree Bold" pitchFamily="34" charset="0"/>
                          <a:ea typeface="Figtree Bold" pitchFamily="34" charset="-122"/>
                          <a:cs typeface="Figtree Bold" pitchFamily="34" charset="-120"/>
                        </a:rPr>
                        <a:t>Источник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70E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Figtree Bold" pitchFamily="34" charset="0"/>
                          <a:ea typeface="Figtree Bold" pitchFamily="34" charset="-122"/>
                          <a:cs typeface="Figtree Bold" pitchFamily="34" charset="-120"/>
                        </a:rPr>
                        <a:t>Назначение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70E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Figtree Bold" pitchFamily="34" charset="0"/>
                          <a:ea typeface="Figtree Bold" pitchFamily="34" charset="-122"/>
                          <a:cs typeface="Figtree Bold" pitchFamily="34" charset="-120"/>
                        </a:rPr>
                        <a:t>Охват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70E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FFFF"/>
                          </a:solidFill>
                          <a:latin typeface="Figtree Bold" pitchFamily="34" charset="0"/>
                          <a:ea typeface="Figtree Bold" pitchFamily="34" charset="-122"/>
                          <a:cs typeface="Figtree Bold" pitchFamily="34" charset="-120"/>
                        </a:rPr>
                        <a:t>Практическая польза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70EF"/>
                    </a:solidFill>
                  </a:tcPr>
                </a:tc>
              </a:tr>
              <a:tr h="8059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РИНЦ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Анализ отечественного потока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Российские публикации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Изучение динамики российских исследований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59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eLIBRARY.ru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Доступ к карточкам публикаций и журналов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Российские публикации и журналы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Поиск библиографических данных и информации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</a:tr>
              <a:tr h="8059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Перечень ВАК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Статус изданий для аттестации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Издания для научной аттестации РФ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Подтверждение качества публикаций для диссертаций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59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Международные базы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Сравнение с внешней средой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Международные публикации и базы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83333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000000"/>
                          </a:solidFill>
                          <a:latin typeface="Figtree Regular" pitchFamily="34" charset="0"/>
                          <a:ea typeface="Figtree Regular" pitchFamily="34" charset="-122"/>
                          <a:cs typeface="Figtree Regular" pitchFamily="34" charset="-120"/>
                        </a:rPr>
                        <a:t>Оценка конкурентоспособности исследований за рубежом</a:t>
                      </a:r>
                      <a:endParaRPr lang="en-US" sz="1200" dirty="0"/>
                    </a:p>
                  </a:txBody>
                  <a:tcPr marL="68400" marR="68400" marT="68400" marB="68400" anchor="ctr">
                    <a:lnL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1C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2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0" y="0"/>
            <a:ext cx="2750841" cy="6858000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3263288" y="1"/>
            <a:ext cx="8321040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Сравнение ключевых источников научных метаданных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3342119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023620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8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450495" y="6309360"/>
            <a:ext cx="7204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55319" y="1265349"/>
            <a:ext cx="10911840" cy="4937760"/>
          </a:xfrm>
          <a:prstGeom prst="rect">
            <a:avLst/>
          </a:prstGeom>
          <a:solidFill>
            <a:srgbClr val="D0E2FC">
              <a:alpha val="50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7765" y="6309360"/>
            <a:ext cx="5238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82039" y="1676829"/>
            <a:ext cx="10058400" cy="4114800"/>
          </a:xfrm>
          <a:prstGeom prst="rect">
            <a:avLst/>
          </a:prstGeom>
          <a:blipFill>
            <a:blip r:embed="rId1"/>
            <a:srcRect/>
            <a:stretch>
              <a:fillRect l="0" r="0" t="0" b="0"/>
            </a:stretch>
          </a:blip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0079" y="1164617"/>
            <a:ext cx="10972800" cy="10672"/>
          </a:xfrm>
          <a:custGeom>
            <a:avLst/>
            <a:gdLst/>
            <a:ahLst/>
            <a:cxnLst/>
            <a:rect l="l" t="t" r="r" b="b"/>
            <a:pathLst>
              <a:path w="10972800" h="10672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0079" y="1"/>
            <a:ext cx="10915441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Визуализация публикационной активности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186159" y="62856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44879" y="1164617"/>
            <a:ext cx="10607040" cy="10672"/>
          </a:xfrm>
          <a:custGeom>
            <a:avLst/>
            <a:gdLst/>
            <a:ahLst/>
            <a:cxnLst/>
            <a:rect l="l" t="t" r="r" b="b"/>
            <a:pathLst>
              <a:path w="10607040" h="10672">
                <a:moveTo>
                  <a:pt x="0" y="0"/>
                </a:moveTo>
                <a:lnTo>
                  <a:pt x="10607040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63378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-7641" y="0"/>
            <a:ext cx="536759" cy="6858000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4879" y="2652566"/>
            <a:ext cx="201168" cy="246937"/>
          </a:xfrm>
          <a:custGeom>
            <a:avLst/>
            <a:gdLst/>
            <a:ahLst/>
            <a:cxnLst/>
            <a:rect l="l" t="t" r="r" b="b"/>
            <a:pathLst>
              <a:path w="201168" h="246937">
                <a:moveTo>
                  <a:pt x="201168" y="0"/>
                </a:moveTo>
                <a:lnTo>
                  <a:pt x="0" y="0"/>
                </a:lnTo>
                <a:lnTo>
                  <a:pt x="201168" y="246937"/>
                </a:lnTo>
                <a:lnTo>
                  <a:pt x="201168" y="0"/>
                </a:lnTo>
              </a:path>
            </a:pathLst>
          </a:custGeom>
          <a:solidFill>
            <a:srgbClr val="0C53B7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93644" y="2652566"/>
            <a:ext cx="201168" cy="246937"/>
          </a:xfrm>
          <a:custGeom>
            <a:avLst/>
            <a:gdLst/>
            <a:ahLst/>
            <a:cxnLst/>
            <a:rect l="l" t="t" r="r" b="b"/>
            <a:pathLst>
              <a:path w="201168" h="246937">
                <a:moveTo>
                  <a:pt x="201168" y="0"/>
                </a:moveTo>
                <a:lnTo>
                  <a:pt x="0" y="0"/>
                </a:lnTo>
                <a:lnTo>
                  <a:pt x="201168" y="246937"/>
                </a:lnTo>
                <a:lnTo>
                  <a:pt x="201168" y="0"/>
                </a:lnTo>
              </a:path>
            </a:pathLst>
          </a:custGeom>
          <a:solidFill>
            <a:srgbClr val="0C53B7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41791" y="2652566"/>
            <a:ext cx="201168" cy="246937"/>
          </a:xfrm>
          <a:custGeom>
            <a:avLst/>
            <a:gdLst/>
            <a:ahLst/>
            <a:cxnLst/>
            <a:rect l="l" t="t" r="r" b="b"/>
            <a:pathLst>
              <a:path w="201168" h="246937">
                <a:moveTo>
                  <a:pt x="201168" y="0"/>
                </a:moveTo>
                <a:lnTo>
                  <a:pt x="0" y="0"/>
                </a:lnTo>
                <a:lnTo>
                  <a:pt x="201168" y="246937"/>
                </a:lnTo>
                <a:lnTo>
                  <a:pt x="201168" y="0"/>
                </a:lnTo>
              </a:path>
            </a:pathLst>
          </a:custGeom>
          <a:solidFill>
            <a:srgbClr val="0C53B7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44879" y="1"/>
            <a:ext cx="10607040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Ключевые результаты анализа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753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44879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10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442959" y="2201966"/>
            <a:ext cx="31089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0E2FC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25839" y="2750606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Неоднородность метаданных снижает точность анализа и влияет на качество визуализации.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41173" y="1922950"/>
            <a:ext cx="3108960" cy="731520"/>
          </a:xfrm>
          <a:custGeom>
            <a:avLst/>
            <a:gdLst/>
            <a:ahLst/>
            <a:cxnLst/>
            <a:rect l="l" t="t" r="r" b="b"/>
            <a:pathLst>
              <a:path w="3108960" h="731520">
                <a:moveTo>
                  <a:pt x="0" y="0"/>
                </a:moveTo>
                <a:lnTo>
                  <a:pt x="2743191" y="0"/>
                </a:lnTo>
                <a:lnTo>
                  <a:pt x="3108960" y="365760"/>
                </a:lnTo>
                <a:lnTo>
                  <a:pt x="2743191" y="731520"/>
                </a:lnTo>
                <a:lnTo>
                  <a:pt x="0" y="731520"/>
                </a:lnTo>
                <a:lnTo>
                  <a:pt x="0" y="0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24053" y="201439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Качество исходных данных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94812" y="2201966"/>
            <a:ext cx="31089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0E2FC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77692" y="2750606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Основная масса публикаций сосредоточена в ограниченном числе журналов и центров.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93026" y="1922950"/>
            <a:ext cx="3108960" cy="731520"/>
          </a:xfrm>
          <a:custGeom>
            <a:avLst/>
            <a:gdLst/>
            <a:ahLst/>
            <a:cxnLst/>
            <a:rect l="l" t="t" r="r" b="b"/>
            <a:pathLst>
              <a:path w="3108960" h="731520">
                <a:moveTo>
                  <a:pt x="0" y="0"/>
                </a:moveTo>
                <a:lnTo>
                  <a:pt x="2743191" y="0"/>
                </a:lnTo>
                <a:lnTo>
                  <a:pt x="3108960" y="365760"/>
                </a:lnTo>
                <a:lnTo>
                  <a:pt x="2743191" y="731520"/>
                </a:lnTo>
                <a:lnTo>
                  <a:pt x="0" y="731520"/>
                </a:lnTo>
                <a:lnTo>
                  <a:pt x="0" y="0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775906" y="201439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Концентрация публикаций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46665" y="2201966"/>
            <a:ext cx="31089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D0E2FC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329545" y="2750606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Научная визуализация эффективна при наличии временной, журнальной и тематической организации данных.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44879" y="1922950"/>
            <a:ext cx="3108960" cy="731520"/>
          </a:xfrm>
          <a:custGeom>
            <a:avLst/>
            <a:gdLst/>
            <a:ahLst/>
            <a:cxnLst/>
            <a:rect l="l" t="t" r="r" b="b"/>
            <a:pathLst>
              <a:path w="3108960" h="731520">
                <a:moveTo>
                  <a:pt x="0" y="0"/>
                </a:moveTo>
                <a:lnTo>
                  <a:pt x="2743191" y="0"/>
                </a:lnTo>
                <a:lnTo>
                  <a:pt x="3108960" y="365760"/>
                </a:lnTo>
                <a:lnTo>
                  <a:pt x="2743191" y="731520"/>
                </a:lnTo>
                <a:lnTo>
                  <a:pt x="0" y="731520"/>
                </a:lnTo>
                <a:lnTo>
                  <a:pt x="0" y="0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27759" y="201439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Структурированность данных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80" y="1506600"/>
            <a:ext cx="2651760" cy="4572000"/>
          </a:xfrm>
          <a:prstGeom prst="rect">
            <a:avLst/>
          </a:prstGeom>
          <a:solidFill>
            <a:srgbClr val="0E2841">
              <a:alpha val="3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393440" y="1506600"/>
            <a:ext cx="2651760" cy="4572000"/>
          </a:xfrm>
          <a:prstGeom prst="rect">
            <a:avLst/>
          </a:prstGeom>
          <a:solidFill>
            <a:srgbClr val="0E2841">
              <a:alpha val="3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46800" y="1506600"/>
            <a:ext cx="2651760" cy="4572000"/>
          </a:xfrm>
          <a:prstGeom prst="rect">
            <a:avLst/>
          </a:prstGeom>
          <a:solidFill>
            <a:srgbClr val="0E2841">
              <a:alpha val="3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900160" y="1506600"/>
            <a:ext cx="2651760" cy="4572000"/>
          </a:xfrm>
          <a:prstGeom prst="rect">
            <a:avLst/>
          </a:prstGeom>
          <a:solidFill>
            <a:srgbClr val="0E2841">
              <a:alpha val="3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0079" y="1164795"/>
            <a:ext cx="10911841" cy="45719"/>
          </a:xfrm>
          <a:custGeom>
            <a:avLst/>
            <a:gdLst/>
            <a:ahLst/>
            <a:cxnLst/>
            <a:rect l="l" t="t" r="r" b="b"/>
            <a:pathLst>
              <a:path w="10911841" h="45719">
                <a:moveTo>
                  <a:pt x="0" y="0"/>
                </a:moveTo>
                <a:lnTo>
                  <a:pt x="10911841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68680" y="1816693"/>
            <a:ext cx="457200" cy="457200"/>
          </a:xfrm>
          <a:prstGeom prst="rect">
            <a:avLst/>
          </a:prstGeom>
          <a:solidFill>
            <a:srgbClr val="1570EF">
              <a:alpha val="5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68680" y="18166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570E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22040" y="1816693"/>
            <a:ext cx="457200" cy="457200"/>
          </a:xfrm>
          <a:prstGeom prst="rect">
            <a:avLst/>
          </a:prstGeom>
          <a:solidFill>
            <a:srgbClr val="1570EF">
              <a:alpha val="5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22040" y="18166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570E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75400" y="1816693"/>
            <a:ext cx="457200" cy="457200"/>
          </a:xfrm>
          <a:prstGeom prst="rect">
            <a:avLst/>
          </a:prstGeom>
          <a:solidFill>
            <a:srgbClr val="1570EF">
              <a:alpha val="5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75400" y="18166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570E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28760" y="1816693"/>
            <a:ext cx="457200" cy="457200"/>
          </a:xfrm>
          <a:prstGeom prst="rect">
            <a:avLst/>
          </a:prstGeom>
          <a:solidFill>
            <a:srgbClr val="1570EF">
              <a:alpha val="5000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128760" y="18166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570EF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79" y="1"/>
            <a:ext cx="10915441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Выводы по задачам исследования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7765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128760" y="3299287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Демонстрирована роль визуализации для понимания структуры и динамики науки.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28760" y="2504653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Практическая ценность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75400" y="3299287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Сопоставлены данные из РИНЦ и ВАК-журналов для целостности модели.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75400" y="2504653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Российские источники данных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22040" y="3299287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Выделены показатели, наиболее полно отражающие научную активность.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22040" y="2504653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Информативные показатели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3299287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Определены основные свойства и характеристики публикаций для анализа.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8680" y="2504653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Ключевые метаданные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36074" y="1538836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914400"/>
                </a:moveTo>
                <a:cubicBezTo>
                  <a:pt x="0" y="409395"/>
                  <a:pt x="409395" y="0"/>
                  <a:pt x="914400" y="0"/>
                </a:cubicBezTo>
                <a:cubicBezTo>
                  <a:pt x="1419405" y="0"/>
                  <a:pt x="1828800" y="409395"/>
                  <a:pt x="1828800" y="914400"/>
                </a:cubicBezTo>
                <a:cubicBezTo>
                  <a:pt x="1828800" y="1419405"/>
                  <a:pt x="1419405" y="1828800"/>
                  <a:pt x="914400" y="1828800"/>
                </a:cubicBezTo>
                <a:cubicBezTo>
                  <a:pt x="409395" y="1828800"/>
                  <a:pt x="0" y="1419405"/>
                  <a:pt x="0" y="914400"/>
                </a:cubicBezTo>
              </a:path>
            </a:pathLst>
          </a:custGeom>
          <a:solidFill>
            <a:srgbClr val="1570EF">
              <a:alpha val="10196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128759" y="1538836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914400"/>
                </a:moveTo>
                <a:cubicBezTo>
                  <a:pt x="0" y="409395"/>
                  <a:pt x="409395" y="0"/>
                  <a:pt x="914400" y="0"/>
                </a:cubicBezTo>
                <a:cubicBezTo>
                  <a:pt x="1419405" y="0"/>
                  <a:pt x="1828800" y="409395"/>
                  <a:pt x="1828800" y="914400"/>
                </a:cubicBezTo>
                <a:cubicBezTo>
                  <a:pt x="1828800" y="1419405"/>
                  <a:pt x="1419405" y="1828800"/>
                  <a:pt x="914400" y="1828800"/>
                </a:cubicBezTo>
                <a:cubicBezTo>
                  <a:pt x="409395" y="1828800"/>
                  <a:pt x="0" y="1419405"/>
                  <a:pt x="0" y="914400"/>
                </a:cubicBezTo>
              </a:path>
            </a:pathLst>
          </a:custGeom>
          <a:solidFill>
            <a:srgbClr val="1570EF">
              <a:alpha val="10196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43388" y="1538836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914400"/>
                </a:moveTo>
                <a:cubicBezTo>
                  <a:pt x="0" y="409395"/>
                  <a:pt x="409395" y="0"/>
                  <a:pt x="914400" y="0"/>
                </a:cubicBezTo>
                <a:cubicBezTo>
                  <a:pt x="1419405" y="0"/>
                  <a:pt x="1828800" y="409395"/>
                  <a:pt x="1828800" y="914400"/>
                </a:cubicBezTo>
                <a:cubicBezTo>
                  <a:pt x="1828800" y="1419405"/>
                  <a:pt x="1419405" y="1828800"/>
                  <a:pt x="914400" y="1828800"/>
                </a:cubicBezTo>
                <a:cubicBezTo>
                  <a:pt x="409395" y="1828800"/>
                  <a:pt x="0" y="1419405"/>
                  <a:pt x="0" y="914400"/>
                </a:cubicBezTo>
              </a:path>
            </a:pathLst>
          </a:custGeom>
          <a:solidFill>
            <a:srgbClr val="1570EF">
              <a:alpha val="10196"/>
            </a:srgbClr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390" y="6318000"/>
            <a:ext cx="1083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 /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7765" y="6309360"/>
            <a:ext cx="78773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80808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Визуализация науки: Метаданные как инструмент анализа публикационной активности и структурных связей в российском академическом пространстве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0891" y="6308725"/>
            <a:ext cx="287113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8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12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34399" y="4199241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Использование дашбордов и карт публикационной активности для удобства научного анализа и сопоставления данных.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534399" y="357897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Рекомендации для исследовательских команд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494519" y="1904596"/>
            <a:ext cx="1097280" cy="1097280"/>
          </a:xfrm>
          <a:custGeom>
            <a:avLst/>
            <a:gdLst/>
            <a:ahLst/>
            <a:cxnLst/>
            <a:rect l="l" t="t" r="r" b="b"/>
            <a:pathLst>
              <a:path w="1097280" h="1097280">
                <a:moveTo>
                  <a:pt x="587824" y="117563"/>
                </a:moveTo>
                <a:lnTo>
                  <a:pt x="587824" y="979706"/>
                </a:lnTo>
                <a:lnTo>
                  <a:pt x="509445" y="979706"/>
                </a:lnTo>
                <a:lnTo>
                  <a:pt x="509445" y="117563"/>
                </a:lnTo>
                <a:lnTo>
                  <a:pt x="587824" y="117563"/>
                </a:lnTo>
                <a:moveTo>
                  <a:pt x="509456" y="0"/>
                </a:moveTo>
                <a:cubicBezTo>
                  <a:pt x="444552" y="0"/>
                  <a:pt x="391894" y="52658"/>
                  <a:pt x="391894" y="117563"/>
                </a:cubicBezTo>
                <a:lnTo>
                  <a:pt x="391894" y="979706"/>
                </a:lnTo>
                <a:cubicBezTo>
                  <a:pt x="391894" y="1044611"/>
                  <a:pt x="444552" y="1097269"/>
                  <a:pt x="509456" y="1097269"/>
                </a:cubicBezTo>
                <a:lnTo>
                  <a:pt x="587835" y="1097269"/>
                </a:lnTo>
                <a:cubicBezTo>
                  <a:pt x="652739" y="1097269"/>
                  <a:pt x="705397" y="1044611"/>
                  <a:pt x="705397" y="979706"/>
                </a:cubicBezTo>
                <a:lnTo>
                  <a:pt x="705397" y="117563"/>
                </a:lnTo>
                <a:cubicBezTo>
                  <a:pt x="705397" y="52658"/>
                  <a:pt x="652739" y="0"/>
                  <a:pt x="587835" y="0"/>
                </a:cubicBezTo>
                <a:lnTo>
                  <a:pt x="509456" y="0"/>
                </a:lnTo>
                <a:moveTo>
                  <a:pt x="195941" y="587824"/>
                </a:moveTo>
                <a:lnTo>
                  <a:pt x="195941" y="979706"/>
                </a:lnTo>
                <a:lnTo>
                  <a:pt x="117563" y="979706"/>
                </a:lnTo>
                <a:lnTo>
                  <a:pt x="117563" y="587824"/>
                </a:lnTo>
                <a:lnTo>
                  <a:pt x="195941" y="587824"/>
                </a:lnTo>
                <a:moveTo>
                  <a:pt x="117563" y="470261"/>
                </a:moveTo>
                <a:cubicBezTo>
                  <a:pt x="52658" y="470261"/>
                  <a:pt x="0" y="522920"/>
                  <a:pt x="0" y="587824"/>
                </a:cubicBezTo>
                <a:lnTo>
                  <a:pt x="0" y="979706"/>
                </a:lnTo>
                <a:cubicBezTo>
                  <a:pt x="0" y="1044611"/>
                  <a:pt x="52658" y="1097269"/>
                  <a:pt x="117563" y="1097269"/>
                </a:cubicBezTo>
                <a:lnTo>
                  <a:pt x="195941" y="1097269"/>
                </a:lnTo>
                <a:cubicBezTo>
                  <a:pt x="260845" y="1097269"/>
                  <a:pt x="313504" y="1044611"/>
                  <a:pt x="313504" y="979706"/>
                </a:cubicBezTo>
                <a:lnTo>
                  <a:pt x="313504" y="587824"/>
                </a:lnTo>
                <a:cubicBezTo>
                  <a:pt x="313504" y="522920"/>
                  <a:pt x="260845" y="470261"/>
                  <a:pt x="195941" y="470261"/>
                </a:cubicBezTo>
                <a:lnTo>
                  <a:pt x="117563" y="470261"/>
                </a:lnTo>
                <a:moveTo>
                  <a:pt x="901339" y="274320"/>
                </a:moveTo>
                <a:lnTo>
                  <a:pt x="979717" y="274320"/>
                </a:lnTo>
                <a:lnTo>
                  <a:pt x="979717" y="979717"/>
                </a:lnTo>
                <a:lnTo>
                  <a:pt x="901339" y="979717"/>
                </a:lnTo>
                <a:lnTo>
                  <a:pt x="901339" y="274320"/>
                </a:lnTo>
                <a:moveTo>
                  <a:pt x="783776" y="274320"/>
                </a:moveTo>
                <a:lnTo>
                  <a:pt x="783776" y="979717"/>
                </a:lnTo>
                <a:cubicBezTo>
                  <a:pt x="783776" y="1044622"/>
                  <a:pt x="836435" y="1097280"/>
                  <a:pt x="901339" y="1097280"/>
                </a:cubicBezTo>
                <a:lnTo>
                  <a:pt x="979717" y="1097280"/>
                </a:lnTo>
                <a:cubicBezTo>
                  <a:pt x="1044622" y="1097280"/>
                  <a:pt x="1097280" y="1044622"/>
                  <a:pt x="1097280" y="979717"/>
                </a:cubicBezTo>
                <a:lnTo>
                  <a:pt x="1097280" y="274320"/>
                </a:lnTo>
                <a:cubicBezTo>
                  <a:pt x="1097280" y="209416"/>
                  <a:pt x="1044622" y="156757"/>
                  <a:pt x="979717" y="156757"/>
                </a:cubicBezTo>
                <a:lnTo>
                  <a:pt x="901339" y="156757"/>
                </a:lnTo>
                <a:cubicBezTo>
                  <a:pt x="836435" y="156757"/>
                  <a:pt x="783776" y="209416"/>
                  <a:pt x="783776" y="274320"/>
                </a:cubicBezTo>
                <a:lnTo>
                  <a:pt x="783776" y="274320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741714" y="4199241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Поддержка единообразия метаданных и прозрачности библиографических описаний для повышения видимости в поисковых системах.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41714" y="357897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Рекомендации для журналов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36124" y="1904596"/>
            <a:ext cx="1028700" cy="1097280"/>
          </a:xfrm>
          <a:custGeom>
            <a:avLst/>
            <a:gdLst/>
            <a:ahLst/>
            <a:cxnLst/>
            <a:rect l="l" t="t" r="r" b="b"/>
            <a:pathLst>
              <a:path w="1028700" h="1097280">
                <a:moveTo>
                  <a:pt x="514350" y="102870"/>
                </a:moveTo>
                <a:lnTo>
                  <a:pt x="891543" y="102870"/>
                </a:lnTo>
                <a:cubicBezTo>
                  <a:pt x="910400" y="102870"/>
                  <a:pt x="925830" y="118298"/>
                  <a:pt x="925830" y="137160"/>
                </a:cubicBezTo>
                <a:lnTo>
                  <a:pt x="925830" y="960120"/>
                </a:lnTo>
                <a:cubicBezTo>
                  <a:pt x="925830" y="978982"/>
                  <a:pt x="910399" y="994410"/>
                  <a:pt x="891543" y="994410"/>
                </a:cubicBezTo>
                <a:lnTo>
                  <a:pt x="514350" y="994410"/>
                </a:lnTo>
                <a:lnTo>
                  <a:pt x="514350" y="102870"/>
                </a:lnTo>
                <a:moveTo>
                  <a:pt x="411480" y="102870"/>
                </a:moveTo>
                <a:lnTo>
                  <a:pt x="411480" y="994410"/>
                </a:lnTo>
                <a:lnTo>
                  <a:pt x="274323" y="994410"/>
                </a:lnTo>
                <a:cubicBezTo>
                  <a:pt x="255467" y="994410"/>
                  <a:pt x="240037" y="978982"/>
                  <a:pt x="240037" y="960120"/>
                </a:cubicBezTo>
                <a:lnTo>
                  <a:pt x="240037" y="891540"/>
                </a:lnTo>
                <a:lnTo>
                  <a:pt x="291472" y="891540"/>
                </a:lnTo>
                <a:cubicBezTo>
                  <a:pt x="319977" y="891540"/>
                  <a:pt x="342907" y="868607"/>
                  <a:pt x="342907" y="840111"/>
                </a:cubicBezTo>
                <a:cubicBezTo>
                  <a:pt x="342907" y="811603"/>
                  <a:pt x="319977" y="788681"/>
                  <a:pt x="291472" y="788681"/>
                </a:cubicBezTo>
                <a:lnTo>
                  <a:pt x="240037" y="788681"/>
                </a:lnTo>
                <a:lnTo>
                  <a:pt x="240037" y="600092"/>
                </a:lnTo>
                <a:lnTo>
                  <a:pt x="291472" y="600092"/>
                </a:lnTo>
                <a:cubicBezTo>
                  <a:pt x="319977" y="600092"/>
                  <a:pt x="342907" y="577158"/>
                  <a:pt x="342907" y="548662"/>
                </a:cubicBezTo>
                <a:cubicBezTo>
                  <a:pt x="342907" y="520155"/>
                  <a:pt x="319977" y="497233"/>
                  <a:pt x="291472" y="497233"/>
                </a:cubicBezTo>
                <a:lnTo>
                  <a:pt x="240037" y="497233"/>
                </a:lnTo>
                <a:lnTo>
                  <a:pt x="240037" y="308643"/>
                </a:lnTo>
                <a:lnTo>
                  <a:pt x="291472" y="308643"/>
                </a:lnTo>
                <a:cubicBezTo>
                  <a:pt x="319977" y="308643"/>
                  <a:pt x="342907" y="285710"/>
                  <a:pt x="342907" y="257214"/>
                </a:cubicBezTo>
                <a:cubicBezTo>
                  <a:pt x="342907" y="228706"/>
                  <a:pt x="319977" y="205784"/>
                  <a:pt x="291472" y="205784"/>
                </a:cubicBezTo>
                <a:lnTo>
                  <a:pt x="240037" y="205784"/>
                </a:lnTo>
                <a:lnTo>
                  <a:pt x="240037" y="137204"/>
                </a:lnTo>
                <a:cubicBezTo>
                  <a:pt x="240037" y="118342"/>
                  <a:pt x="255467" y="102914"/>
                  <a:pt x="274323" y="102914"/>
                </a:cubicBezTo>
                <a:lnTo>
                  <a:pt x="411480" y="102870"/>
                </a:lnTo>
                <a:moveTo>
                  <a:pt x="137157" y="891540"/>
                </a:moveTo>
                <a:lnTo>
                  <a:pt x="137157" y="960120"/>
                </a:lnTo>
                <a:cubicBezTo>
                  <a:pt x="137157" y="1035777"/>
                  <a:pt x="198663" y="1097280"/>
                  <a:pt x="274313" y="1097280"/>
                </a:cubicBezTo>
                <a:lnTo>
                  <a:pt x="891533" y="1097280"/>
                </a:lnTo>
                <a:cubicBezTo>
                  <a:pt x="967184" y="1097280"/>
                  <a:pt x="1028690" y="1035777"/>
                  <a:pt x="1028690" y="960120"/>
                </a:cubicBezTo>
                <a:lnTo>
                  <a:pt x="1028690" y="137160"/>
                </a:lnTo>
                <a:cubicBezTo>
                  <a:pt x="1028690" y="61503"/>
                  <a:pt x="967184" y="0"/>
                  <a:pt x="891533" y="0"/>
                </a:cubicBezTo>
                <a:lnTo>
                  <a:pt x="274313" y="0"/>
                </a:lnTo>
                <a:cubicBezTo>
                  <a:pt x="198663" y="0"/>
                  <a:pt x="137157" y="61503"/>
                  <a:pt x="137157" y="137160"/>
                </a:cubicBezTo>
                <a:lnTo>
                  <a:pt x="137157" y="205740"/>
                </a:lnTo>
                <a:lnTo>
                  <a:pt x="51435" y="205740"/>
                </a:lnTo>
                <a:cubicBezTo>
                  <a:pt x="22930" y="205740"/>
                  <a:pt x="0" y="228673"/>
                  <a:pt x="0" y="257181"/>
                </a:cubicBezTo>
                <a:cubicBezTo>
                  <a:pt x="0" y="285688"/>
                  <a:pt x="22930" y="308621"/>
                  <a:pt x="51435" y="308621"/>
                </a:cubicBezTo>
                <a:lnTo>
                  <a:pt x="137157" y="308621"/>
                </a:lnTo>
                <a:lnTo>
                  <a:pt x="137157" y="497222"/>
                </a:lnTo>
                <a:lnTo>
                  <a:pt x="51435" y="497222"/>
                </a:lnTo>
                <a:cubicBezTo>
                  <a:pt x="22930" y="497222"/>
                  <a:pt x="0" y="520155"/>
                  <a:pt x="0" y="548662"/>
                </a:cubicBezTo>
                <a:cubicBezTo>
                  <a:pt x="0" y="577169"/>
                  <a:pt x="22930" y="600103"/>
                  <a:pt x="51435" y="600103"/>
                </a:cubicBezTo>
                <a:lnTo>
                  <a:pt x="137157" y="600103"/>
                </a:lnTo>
                <a:lnTo>
                  <a:pt x="137157" y="788703"/>
                </a:lnTo>
                <a:lnTo>
                  <a:pt x="51435" y="788703"/>
                </a:lnTo>
                <a:cubicBezTo>
                  <a:pt x="22930" y="788703"/>
                  <a:pt x="0" y="811636"/>
                  <a:pt x="0" y="840144"/>
                </a:cubicBezTo>
                <a:cubicBezTo>
                  <a:pt x="0" y="868651"/>
                  <a:pt x="22930" y="891584"/>
                  <a:pt x="51435" y="891584"/>
                </a:cubicBezTo>
                <a:lnTo>
                  <a:pt x="137157" y="891540"/>
                </a:ln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49028" y="4199241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Figtree Regular" pitchFamily="34" charset="0"/>
                <a:ea typeface="Figtree Regular" pitchFamily="34" charset="-122"/>
                <a:cs typeface="Figtree Regular" pitchFamily="34" charset="-120"/>
              </a:rPr>
              <a:t>Регулярный мониторинг метаданных в РИНЦ и eLIBRARY.ru с проверкой аффилиаций и ключевых слов для анализа публикационной активности.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49028" y="357897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0" indent="0">
              <a:lnSpc>
                <a:spcPct val="9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Рекомендации для университетов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909148" y="2069122"/>
            <a:ext cx="1097280" cy="768228"/>
          </a:xfrm>
          <a:custGeom>
            <a:avLst/>
            <a:gdLst/>
            <a:ahLst/>
            <a:cxnLst/>
            <a:rect l="l" t="t" r="r" b="b"/>
            <a:pathLst>
              <a:path w="1097280" h="768228">
                <a:moveTo>
                  <a:pt x="548651" y="82293"/>
                </a:moveTo>
                <a:cubicBezTo>
                  <a:pt x="552941" y="82293"/>
                  <a:pt x="557221" y="82976"/>
                  <a:pt x="561335" y="84520"/>
                </a:cubicBezTo>
                <a:lnTo>
                  <a:pt x="935091" y="219452"/>
                </a:lnTo>
                <a:lnTo>
                  <a:pt x="561335" y="354384"/>
                </a:lnTo>
                <a:cubicBezTo>
                  <a:pt x="557221" y="355928"/>
                  <a:pt x="552930" y="356611"/>
                  <a:pt x="548651" y="356611"/>
                </a:cubicBezTo>
                <a:cubicBezTo>
                  <a:pt x="544361" y="356611"/>
                  <a:pt x="540081" y="355928"/>
                  <a:pt x="535966" y="354384"/>
                </a:cubicBezTo>
                <a:lnTo>
                  <a:pt x="317026" y="275348"/>
                </a:lnTo>
                <a:lnTo>
                  <a:pt x="558417" y="184828"/>
                </a:lnTo>
                <a:cubicBezTo>
                  <a:pt x="572648" y="179512"/>
                  <a:pt x="579847" y="163740"/>
                  <a:pt x="574536" y="149512"/>
                </a:cubicBezTo>
                <a:cubicBezTo>
                  <a:pt x="569225" y="135285"/>
                  <a:pt x="553446" y="128079"/>
                  <a:pt x="539214" y="133395"/>
                </a:cubicBezTo>
                <a:lnTo>
                  <a:pt x="265586" y="235923"/>
                </a:lnTo>
                <a:cubicBezTo>
                  <a:pt x="256676" y="239349"/>
                  <a:pt x="247930" y="243121"/>
                  <a:pt x="239350" y="247239"/>
                </a:cubicBezTo>
                <a:lnTo>
                  <a:pt x="162376" y="219467"/>
                </a:lnTo>
                <a:lnTo>
                  <a:pt x="536131" y="84536"/>
                </a:lnTo>
                <a:cubicBezTo>
                  <a:pt x="540246" y="82992"/>
                  <a:pt x="544536" y="82308"/>
                  <a:pt x="548816" y="82308"/>
                </a:cubicBezTo>
                <a:lnTo>
                  <a:pt x="548651" y="82293"/>
                </a:lnTo>
                <a:moveTo>
                  <a:pt x="27114" y="258194"/>
                </a:moveTo>
                <a:lnTo>
                  <a:pt x="159808" y="306024"/>
                </a:lnTo>
                <a:cubicBezTo>
                  <a:pt x="113173" y="355229"/>
                  <a:pt x="84886" y="420374"/>
                  <a:pt x="82483" y="490667"/>
                </a:cubicBezTo>
                <a:cubicBezTo>
                  <a:pt x="82307" y="491697"/>
                  <a:pt x="82307" y="492726"/>
                  <a:pt x="82307" y="493756"/>
                </a:cubicBezTo>
                <a:cubicBezTo>
                  <a:pt x="82307" y="542446"/>
                  <a:pt x="63796" y="592849"/>
                  <a:pt x="44078" y="632283"/>
                </a:cubicBezTo>
                <a:cubicBezTo>
                  <a:pt x="32929" y="654569"/>
                  <a:pt x="20245" y="676517"/>
                  <a:pt x="5497" y="696745"/>
                </a:cubicBezTo>
                <a:cubicBezTo>
                  <a:pt x="11" y="704120"/>
                  <a:pt x="-1536" y="713715"/>
                  <a:pt x="1558" y="722465"/>
                </a:cubicBezTo>
                <a:cubicBezTo>
                  <a:pt x="4642" y="731207"/>
                  <a:pt x="11840" y="737722"/>
                  <a:pt x="20761" y="739950"/>
                </a:cubicBezTo>
                <a:lnTo>
                  <a:pt x="130489" y="767383"/>
                </a:lnTo>
                <a:cubicBezTo>
                  <a:pt x="137687" y="769265"/>
                  <a:pt x="145401" y="767898"/>
                  <a:pt x="151743" y="763957"/>
                </a:cubicBezTo>
                <a:cubicBezTo>
                  <a:pt x="158085" y="760016"/>
                  <a:pt x="162540" y="753501"/>
                  <a:pt x="163912" y="746126"/>
                </a:cubicBezTo>
                <a:cubicBezTo>
                  <a:pt x="178659" y="672745"/>
                  <a:pt x="171285" y="606916"/>
                  <a:pt x="160313" y="559762"/>
                </a:cubicBezTo>
                <a:cubicBezTo>
                  <a:pt x="154826" y="535762"/>
                  <a:pt x="147453" y="511240"/>
                  <a:pt x="137336" y="488608"/>
                </a:cubicBezTo>
                <a:cubicBezTo>
                  <a:pt x="140594" y="425176"/>
                  <a:pt x="170254" y="367052"/>
                  <a:pt x="217404" y="327104"/>
                </a:cubicBezTo>
                <a:lnTo>
                  <a:pt x="508008" y="432028"/>
                </a:lnTo>
                <a:cubicBezTo>
                  <a:pt x="521032" y="436661"/>
                  <a:pt x="534748" y="439058"/>
                  <a:pt x="548640" y="439058"/>
                </a:cubicBezTo>
                <a:cubicBezTo>
                  <a:pt x="562532" y="439058"/>
                  <a:pt x="576248" y="436661"/>
                  <a:pt x="589272" y="432028"/>
                </a:cubicBezTo>
                <a:lnTo>
                  <a:pt x="1070177" y="258186"/>
                </a:lnTo>
                <a:cubicBezTo>
                  <a:pt x="1086461" y="252355"/>
                  <a:pt x="1097269" y="236753"/>
                  <a:pt x="1097269" y="219437"/>
                </a:cubicBezTo>
                <a:cubicBezTo>
                  <a:pt x="1097269" y="202121"/>
                  <a:pt x="1086472" y="186687"/>
                  <a:pt x="1070177" y="180687"/>
                </a:cubicBezTo>
                <a:lnTo>
                  <a:pt x="589272" y="7014"/>
                </a:lnTo>
                <a:cubicBezTo>
                  <a:pt x="576248" y="2382"/>
                  <a:pt x="562532" y="-15"/>
                  <a:pt x="548640" y="-15"/>
                </a:cubicBezTo>
                <a:cubicBezTo>
                  <a:pt x="534748" y="-15"/>
                  <a:pt x="521032" y="2382"/>
                  <a:pt x="508008" y="7014"/>
                </a:cubicBezTo>
                <a:lnTo>
                  <a:pt x="27103" y="180687"/>
                </a:lnTo>
                <a:cubicBezTo>
                  <a:pt x="10819" y="186687"/>
                  <a:pt x="11" y="202121"/>
                  <a:pt x="11" y="219437"/>
                </a:cubicBezTo>
                <a:cubicBezTo>
                  <a:pt x="11" y="236753"/>
                  <a:pt x="10808" y="252186"/>
                  <a:pt x="27103" y="258186"/>
                </a:cubicBezTo>
                <a:lnTo>
                  <a:pt x="27114" y="258194"/>
                </a:lnTo>
                <a:moveTo>
                  <a:pt x="851423" y="395353"/>
                </a:moveTo>
                <a:lnTo>
                  <a:pt x="771706" y="424154"/>
                </a:lnTo>
                <a:lnTo>
                  <a:pt x="793476" y="630746"/>
                </a:lnTo>
                <a:cubicBezTo>
                  <a:pt x="785247" y="636746"/>
                  <a:pt x="771531" y="644459"/>
                  <a:pt x="751297" y="652349"/>
                </a:cubicBezTo>
                <a:cubicBezTo>
                  <a:pt x="702951" y="671378"/>
                  <a:pt x="630947" y="685782"/>
                  <a:pt x="548651" y="685782"/>
                </a:cubicBezTo>
                <a:cubicBezTo>
                  <a:pt x="466355" y="685782"/>
                  <a:pt x="394351" y="671378"/>
                  <a:pt x="345830" y="652518"/>
                </a:cubicBezTo>
                <a:cubicBezTo>
                  <a:pt x="325596" y="644628"/>
                  <a:pt x="311880" y="636746"/>
                  <a:pt x="303650" y="630915"/>
                </a:cubicBezTo>
                <a:lnTo>
                  <a:pt x="325420" y="424323"/>
                </a:lnTo>
                <a:lnTo>
                  <a:pt x="245703" y="395522"/>
                </a:lnTo>
                <a:lnTo>
                  <a:pt x="219467" y="644636"/>
                </a:lnTo>
                <a:cubicBezTo>
                  <a:pt x="219467" y="705157"/>
                  <a:pt x="366908" y="768074"/>
                  <a:pt x="548640" y="768074"/>
                </a:cubicBezTo>
                <a:cubicBezTo>
                  <a:pt x="730371" y="768074"/>
                  <a:pt x="877813" y="705157"/>
                  <a:pt x="877813" y="644636"/>
                </a:cubicBezTo>
                <a:lnTo>
                  <a:pt x="851577" y="395353"/>
                </a:lnTo>
                <a:lnTo>
                  <a:pt x="851423" y="395353"/>
                </a:lnTo>
                <a:moveTo>
                  <a:pt x="801365" y="624062"/>
                </a:moveTo>
                <a:cubicBezTo>
                  <a:pt x="801365" y="624062"/>
                  <a:pt x="801190" y="624231"/>
                  <a:pt x="800850" y="624746"/>
                </a:cubicBezTo>
                <a:cubicBezTo>
                  <a:pt x="801190" y="624231"/>
                  <a:pt x="801365" y="624062"/>
                  <a:pt x="801365" y="624062"/>
                </a:cubicBezTo>
                <a:moveTo>
                  <a:pt x="295947" y="624062"/>
                </a:moveTo>
                <a:cubicBezTo>
                  <a:pt x="295947" y="624062"/>
                  <a:pt x="296123" y="624231"/>
                  <a:pt x="296463" y="624746"/>
                </a:cubicBezTo>
                <a:cubicBezTo>
                  <a:pt x="296123" y="624231"/>
                  <a:pt x="295947" y="624062"/>
                  <a:pt x="295947" y="624062"/>
                </a:cubicBezTo>
              </a:path>
            </a:pathLst>
          </a:cu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-7641" y="0"/>
            <a:ext cx="536759" cy="6858000"/>
          </a:xfrm>
          <a:prstGeom prst="rect">
            <a:avLst/>
          </a:prstGeom>
          <a:solidFill>
            <a:srgbClr val="1570EF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49028" y="1164617"/>
            <a:ext cx="10572412" cy="10672"/>
          </a:xfrm>
          <a:custGeom>
            <a:avLst/>
            <a:gdLst/>
            <a:ahLst/>
            <a:cxnLst/>
            <a:rect l="l" t="t" r="r" b="b"/>
            <a:pathLst>
              <a:path w="10572412" h="10672">
                <a:moveTo>
                  <a:pt x="0" y="0"/>
                </a:moveTo>
                <a:lnTo>
                  <a:pt x="10572412" y="0"/>
                </a:lnTo>
              </a:path>
            </a:pathLst>
          </a:custGeom>
          <a:noFill/>
          <a:ln w="25400">
            <a:solidFill>
              <a:srgbClr val="EAEC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49995" y="1"/>
            <a:ext cx="10605525" cy="103479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marL="0" indent="0">
              <a:lnSpc>
                <a:spcPct val="100000"/>
              </a:lnSpc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Figtree SemiBold" pitchFamily="34" charset="0"/>
                <a:ea typeface="Figtree SemiBold" pitchFamily="34" charset="-122"/>
                <a:cs typeface="Figtree SemiBold" pitchFamily="34" charset="-120"/>
              </a:rPr>
              <a:t>Практические рекомендации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1009743" y="6137907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SlideSpeak</dc:creator>
  <cp:lastModifiedBy>SlideSpeak</cp:lastModifiedBy>
  <cp:revision>1</cp:revision>
  <dcterms:created xsi:type="dcterms:W3CDTF">2026-04-22T04:50:44Z</dcterms:created>
  <dcterms:modified xsi:type="dcterms:W3CDTF">2026-04-22T04:50:44Z</dcterms:modified>
</cp:coreProperties>
</file>