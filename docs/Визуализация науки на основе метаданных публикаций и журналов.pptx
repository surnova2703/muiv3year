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64" r:id="rId12"/>
    <p:sldId id="265" r:id="rId13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8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2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11" name="pb11"/>
          <p:cNvSpPr txBox="1"/>
          <p:nvPr/>
        </p:nvSpPr>
        <p:spPr>
          <a:xfrm>
            <a:off x="0" y="6660000"/>
            <a:ext cx="870857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12" name="pb12"/>
          <p:cNvSpPr txBox="1"/>
          <p:nvPr/>
        </p:nvSpPr>
        <p:spPr>
          <a:xfrm>
            <a:off x="330857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13" name="pbn13"/>
          <p:cNvSpPr txBox="1"/>
          <p:nvPr/>
        </p:nvSpPr>
        <p:spPr>
          <a:xfrm>
            <a:off x="222857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2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21" name="pb21"/>
          <p:cNvSpPr txBox="1"/>
          <p:nvPr/>
        </p:nvSpPr>
        <p:spPr>
          <a:xfrm>
            <a:off x="0" y="6660000"/>
            <a:ext cx="1741714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22" name="pb22"/>
          <p:cNvSpPr txBox="1"/>
          <p:nvPr/>
        </p:nvSpPr>
        <p:spPr>
          <a:xfrm>
            <a:off x="1201714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23" name="pbn23"/>
          <p:cNvSpPr txBox="1"/>
          <p:nvPr/>
        </p:nvSpPr>
        <p:spPr>
          <a:xfrm>
            <a:off x="1093714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31" name="pb31"/>
          <p:cNvSpPr txBox="1"/>
          <p:nvPr/>
        </p:nvSpPr>
        <p:spPr>
          <a:xfrm>
            <a:off x="0" y="6660000"/>
            <a:ext cx="2612571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32" name="pb32"/>
          <p:cNvSpPr txBox="1"/>
          <p:nvPr/>
        </p:nvSpPr>
        <p:spPr>
          <a:xfrm>
            <a:off x="2072571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33" name="pbn33"/>
          <p:cNvSpPr txBox="1"/>
          <p:nvPr/>
        </p:nvSpPr>
        <p:spPr>
          <a:xfrm>
            <a:off x="1964571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2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41" name="pb41"/>
          <p:cNvSpPr txBox="1"/>
          <p:nvPr/>
        </p:nvSpPr>
        <p:spPr>
          <a:xfrm>
            <a:off x="0" y="6660000"/>
            <a:ext cx="3483428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42" name="pb42"/>
          <p:cNvSpPr txBox="1"/>
          <p:nvPr/>
        </p:nvSpPr>
        <p:spPr>
          <a:xfrm>
            <a:off x="2943428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43" name="pbn43"/>
          <p:cNvSpPr txBox="1"/>
          <p:nvPr/>
        </p:nvSpPr>
        <p:spPr>
          <a:xfrm>
            <a:off x="2835428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00000" y="680000"/>
          <a:ext cx="1198895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106389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Бесплатно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(ограничений нет)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графов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5 карт
в месяц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Хороплет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по странам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Хороплет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по странам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Хороплет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по странам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Хороплет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по странам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Соавторства,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цитирования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Цит. сети,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тренды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Цит.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окружение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Соавторства,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ключ. слова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Произвольные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сети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Цит. граф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PageRank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по цит.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Хронол.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граф цит.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режимов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Год, журнал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(ограничено)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Год, страна,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автор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Атрибуты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узлов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Год, тема,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тип документа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Граф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цитирований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Цит. +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семантика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PageRank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по цит.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По цитир.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Цит. +</a:t>
                    </a:r>
                  </a:p>
                  <a:p>
                    <a:pPr algn="ctr"/>
                    <a:r>
                      <a:rPr lang="ru-RU" sz="900" b="0">
                        <a:solidFill>
                          <a:srgbClr val="122017"/>
                        </a:solidFill>
                      </a:rPr>
                      <a:t>семантика</a:t>
                    </a:r>
                  </a:p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Да,
5 признаков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51" name="pb51"/>
          <p:cNvSpPr txBox="1"/>
          <p:nvPr/>
        </p:nvSpPr>
        <p:spPr>
          <a:xfrm>
            <a:off x="0" y="6660000"/>
            <a:ext cx="4354285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52" name="pb52"/>
          <p:cNvSpPr txBox="1"/>
          <p:nvPr/>
        </p:nvSpPr>
        <p:spPr>
          <a:xfrm>
            <a:off x="3814285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53" name="pbn53"/>
          <p:cNvSpPr txBox="1"/>
          <p:nvPr/>
        </p:nvSpPr>
        <p:spPr>
          <a:xfrm>
            <a:off x="3706285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2060" name="pb6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61" name="pb61"/>
          <p:cNvSpPr txBox="1"/>
          <p:nvPr/>
        </p:nvSpPr>
        <p:spPr>
          <a:xfrm>
            <a:off x="0" y="6660000"/>
            <a:ext cx="5225142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62" name="pb62"/>
          <p:cNvSpPr txBox="1"/>
          <p:nvPr/>
        </p:nvSpPr>
        <p:spPr>
          <a:xfrm>
            <a:off x="4685142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63" name="pbn63"/>
          <p:cNvSpPr txBox="1"/>
          <p:nvPr/>
        </p:nvSpPr>
        <p:spPr>
          <a:xfrm>
            <a:off x="4577142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71" name="pb71"/>
          <p:cNvSpPr txBox="1"/>
          <p:nvPr/>
        </p:nvSpPr>
        <p:spPr>
          <a:xfrm>
            <a:off x="0" y="6660000"/>
            <a:ext cx="6096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72" name="pb72"/>
          <p:cNvSpPr txBox="1"/>
          <p:nvPr/>
        </p:nvSpPr>
        <p:spPr>
          <a:xfrm>
            <a:off x="5556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73" name="pbn73"/>
          <p:cNvSpPr txBox="1"/>
          <p:nvPr/>
        </p:nvSpPr>
        <p:spPr>
          <a:xfrm>
            <a:off x="5448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3A2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2D5544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2080" name="pb8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81" name="pb81"/>
          <p:cNvSpPr txBox="1"/>
          <p:nvPr/>
        </p:nvSpPr>
        <p:spPr>
          <a:xfrm>
            <a:off x="0" y="6660000"/>
            <a:ext cx="6966857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82" name="pb82"/>
          <p:cNvSpPr txBox="1"/>
          <p:nvPr/>
        </p:nvSpPr>
        <p:spPr>
          <a:xfrm>
            <a:off x="6426857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83" name="pbn83"/>
          <p:cNvSpPr txBox="1"/>
          <p:nvPr/>
        </p:nvSpPr>
        <p:spPr>
          <a:xfrm>
            <a:off x="6318857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91" name="pb91"/>
          <p:cNvSpPr txBox="1"/>
          <p:nvPr/>
        </p:nvSpPr>
        <p:spPr>
          <a:xfrm>
            <a:off x="0" y="6660000"/>
            <a:ext cx="7837714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092" name="pb92"/>
          <p:cNvSpPr txBox="1"/>
          <p:nvPr/>
        </p:nvSpPr>
        <p:spPr>
          <a:xfrm>
            <a:off x="7297714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93" name="pbn93"/>
          <p:cNvSpPr txBox="1"/>
          <p:nvPr/>
        </p:nvSpPr>
        <p:spPr>
          <a:xfrm>
            <a:off x="7189714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5940000"/>
            <a:ext cx="11520000" cy="64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2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01" name="pb101"/>
          <p:cNvSpPr txBox="1"/>
          <p:nvPr/>
        </p:nvSpPr>
        <p:spPr>
          <a:xfrm>
            <a:off x="0" y="6660000"/>
            <a:ext cx="8708571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02" name="pb102"/>
          <p:cNvSpPr txBox="1"/>
          <p:nvPr/>
        </p:nvSpPr>
        <p:spPr>
          <a:xfrm>
            <a:off x="8168571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03" name="pbn103"/>
          <p:cNvSpPr txBox="1"/>
          <p:nvPr/>
        </p:nvSpPr>
        <p:spPr>
          <a:xfrm>
            <a:off x="8060571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2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11" name="pb111"/>
          <p:cNvSpPr txBox="1"/>
          <p:nvPr/>
        </p:nvSpPr>
        <p:spPr>
          <a:xfrm>
            <a:off x="0" y="6660000"/>
            <a:ext cx="9579428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12" name="pb112"/>
          <p:cNvSpPr txBox="1"/>
          <p:nvPr/>
        </p:nvSpPr>
        <p:spPr>
          <a:xfrm>
            <a:off x="9039428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13" name="pbn113"/>
          <p:cNvSpPr txBox="1"/>
          <p:nvPr/>
        </p:nvSpPr>
        <p:spPr>
          <a:xfrm>
            <a:off x="8931428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Веб-интерфейс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Левая панель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Фильтры (год, журнал,
автор, аффилиация)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Список статей (до 200)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Кнопки: Карта / Граф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База данных (внизу)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8912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Центр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Карта — Plotly scatter_geo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Граф — SVG, 5 режимов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Переключение кнопками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97280"/>
            <a:ext cx="3657600" cy="4572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21040" y="11887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Правая панель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169164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Детали статьи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Авторы, аффилиации,
темы, ключевые слова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Аннотация (по запросу)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22017"/>
                </a:solidFill>
                <a:latin typeface="Calibri"/>
              </a:rPr>
              <a:t>• Похожие статьи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8978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577166"/>
                </a:solidFill>
                <a:latin typeface="Calibri"/>
              </a:rPr>
              <a:t>Фасетные фильтры: каждый список показывает только доступные варианты с учётом остальных фильтров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58978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3613F"/>
                </a:solidFill>
                <a:latin typeface="Calibri"/>
              </a:rPr>
              <a:t>Тёмная / светлая тема</a:t>
            </a:r>
          </a:p>
        </p:txBody>
      </p:sp>
      <p:sp>
        <p:nvSpPr>
          <p:cNvPr id="2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21" name="pb121"/>
          <p:cNvSpPr txBox="1"/>
          <p:nvPr/>
        </p:nvSpPr>
        <p:spPr>
          <a:xfrm>
            <a:off x="0" y="6660000"/>
            <a:ext cx="10450285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22" name="pb122"/>
          <p:cNvSpPr txBox="1"/>
          <p:nvPr/>
        </p:nvSpPr>
        <p:spPr>
          <a:xfrm>
            <a:off x="9910285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23" name="pbn123"/>
          <p:cNvSpPr txBox="1"/>
          <p:nvPr/>
        </p:nvSpPr>
        <p:spPr>
          <a:xfrm>
            <a:off x="9802285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Проблемы и решения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Файл 201 МБ:  </a:t>
            </a:r>
            <a:r>
              <a:rPr sz="1400">
                <a:solidFill>
                  <a:srgbClr val="122017"/>
                </a:solidFill>
                <a:latin typeface="Calibri"/>
              </a:rPr>
              <a:t>GitHub отклонял push  →  git filter-branch + .gitignore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MemoryError:  </a:t>
            </a:r>
            <a:r>
              <a:rPr sz="1400">
                <a:solidFill>
                  <a:srgbClr val="122017"/>
                </a:solidFill>
                <a:latin typeface="Calibri"/>
              </a:rPr>
              <a:t>JSON не помещался в RAM  →  ijson — потоковое чтение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Браузер обрывал соединение:  </a:t>
            </a:r>
            <a:r>
              <a:rPr sz="1400">
                <a:solidFill>
                  <a:srgbClr val="122017"/>
                </a:solidFill>
                <a:latin typeface="Calibri"/>
              </a:rPr>
              <a:t>Большой JSON-ответ API  →  gzip-сжатие в сервере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Страница зависала:  </a:t>
            </a:r>
            <a:r>
              <a:rPr sz="1400">
                <a:solidFill>
                  <a:srgbClr val="122017"/>
                </a:solidFill>
                <a:latin typeface="Calibri"/>
              </a:rPr>
              <a:t>O(n²) подсчёт связей  →  Вычисление только по запросу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IP заблокирован:  </a:t>
            </a:r>
            <a:r>
              <a:rPr sz="1400">
                <a:solidFill>
                  <a:srgbClr val="122017"/>
                </a:solidFill>
                <a:latin typeface="Calibri"/>
              </a:rPr>
              <a:t>Nominatim HTTP 403  →  Переход на Photon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UnicodeDecodeError:  </a:t>
            </a:r>
            <a:r>
              <a:rPr sz="1400">
                <a:solidFill>
                  <a:srgbClr val="122017"/>
                </a:solidFill>
                <a:latin typeface="Calibri"/>
              </a:rPr>
              <a:t>cp1251 на Windows  →  client_encoding: utf8</a:t>
            </a:r>
          </a:p>
          <a:p>
            <a:pPr>
              <a:spcBef>
                <a:spcPts val="500"/>
              </a:spcBef>
            </a:pPr>
            <a:r>
              <a:rPr sz="1500" b="1">
                <a:solidFill>
                  <a:srgbClr val="23613F"/>
                </a:solidFill>
                <a:latin typeface="Calibri"/>
              </a:rPr>
              <a:t>Нет места на диске:  </a:t>
            </a:r>
            <a:r>
              <a:rPr sz="1400">
                <a:solidFill>
                  <a:srgbClr val="122017"/>
                </a:solidFill>
                <a:latin typeface="Calibri"/>
              </a:rPr>
              <a:t>git операции падали  →  Очистка %temp%</a:t>
            </a:r>
          </a:p>
          <a:p>
            <a:r>
              <a:rPr sz="1000">
                <a:solidFill>
                  <a:srgbClr val="557766"/>
                </a:solidFill>
              </a:rPr>
              <a:t>
Почему не 100%: часть аффилиаций — строки без топонима (напр. «Department of Physics»). Геокодер не может определить координаты без названия места.</a:t>
            </a:r>
          </a:p>
        </p:txBody>
      </p:sp>
      <p:sp>
        <p:nvSpPr>
          <p:cNvPr id="2130" name="pb1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31" name="pb131"/>
          <p:cNvSpPr txBox="1"/>
          <p:nvPr/>
        </p:nvSpPr>
        <p:spPr>
          <a:xfrm>
            <a:off x="0" y="6660000"/>
            <a:ext cx="11321142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132" name="pb132"/>
          <p:cNvSpPr txBox="1"/>
          <p:nvPr/>
        </p:nvSpPr>
        <p:spPr>
          <a:xfrm>
            <a:off x="10781142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2233" name="pbn133"/>
          <p:cNvSpPr txBox="1"/>
          <p:nvPr/>
        </p:nvSpPr>
        <p:spPr>
          <a:xfrm>
            <a:off x="10673142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3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3001" name="pb1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3002" name="pb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3103" name="pbn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