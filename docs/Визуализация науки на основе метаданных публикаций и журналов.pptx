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7" r:id="rId18"/>
    <p:sldId id="257" r:id="rId8"/>
    <p:sldId id="258" r:id="rId9"/>
    <p:sldId id="269" r:id="rId20"/>
    <p:sldId id="268" r:id="rId1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2.xml"/><Relationship Id="rId19" Type="http://schemas.openxmlformats.org/officeDocument/2006/relationships/slide" Target="slides/slide5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200000"/>
            <a:ext cx="11468952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1F497D"/>
                </a:solidFill>
              </a:rPr>
              <a:t>Глоссарий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0000" y="750000"/>
          <a:ext cx="5634476" cy="59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7238"/>
                <a:gridCol w="2817238"/>
              </a:tblGrid>
              <a:tr h="541636">
                <a:tc>
                  <a:txBody>
                    <a:bodyPr/>
                    <a:lstStyle/>
                    <a:p>
                      <a:r>
                        <a:t>Термин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Определение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Метаданные публикации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Название, авторы, год, журнал, DOI, темы — без полного текста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OpenAlex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Открытый бесплатный каталог научных публикаций; более 250 млн работ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API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Набор HTTP-запросов для получения данных из внешнего сервиса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DOI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Уникальный цифровой идентификатор научной публикации (10.XXXX/...)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Аффилиация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Организация, с которой связан автор на момент публикации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Геокодирование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Определение географических координат по названию места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Граф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Структура из узлов и рёбер; для визуализации отношений между объектами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REST API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Веб-сервис, где каждый ресурс доступен по URL через GET/POST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PostgreSQL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Реляционная СУБД с открытым исходным кодом</a:t>
                      </a:r>
                    </a:p>
                  </a:txBody>
                  <a:tcPr/>
                </a:tc>
              </a:tr>
              <a:tr h="541640">
                <a:tc>
                  <a:txBody>
                    <a:bodyPr wrap="square"/>
                    <a:lstStyle/>
                    <a:p>
                      <a:r>
                        <a:rPr sz="800" b="1"/>
                        <a:t>gzip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Алгоритм сжатия данных; уменьшает объём HTTP-ответов в 5–10 раз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94476" y="750000"/>
          <a:ext cx="5634476" cy="59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7238"/>
                <a:gridCol w="2817238"/>
              </a:tblGrid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Фасетная фильтрация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Выбор в одном фильтре ограничивает варианты в других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SVG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XML-формат векторной графики в браузере; используется для графа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Cursor pagination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Постраничный обход через токены-курсоры без пропусков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Библиометрия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Количественный анализ публикаций: цитирования, коавторства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Балл сходства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Числовая мера близости двух публикаций по взвешенным признакам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requestAnimationFrame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Браузерный API для тяжёлых операций между кадрами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ijson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Python-библиотека для потокового чтения JSON без загрузки в память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Savepoint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Частичный откат транзакции PostgreSQL без потери остальных данных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Force-directed layout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Физическая симуляция размещения узлов графа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Колоночная раскладка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Каждый тип узла занимает фиксированную вертикальную колонку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• Загрузить метаданные 10 000 публикаций из API OpenAlex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Спроектировать базу данных PostgreSQL (7 таблиц)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Геокодировать аффилиации авторов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Реализовать интерактивную карту (Plotly)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Реализовать граф связей (SVG, 5 режимов)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22017"/>
                </a:solidFill>
                <a:latin typeface="Calibri"/>
              </a:rPr>
              <a:t>  • Разработать REST API и браузерный интерфейс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0000" y="130000"/>
            <a:ext cx="1178895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Анализ публикационной активности (данные OpenAlex, n=1000)</a:t>
            </a:r>
          </a:p>
        </p:txBody>
      </p:sp>
      <p:sp>
        <p:nvSpPr>
          <p:cNvPr id="4" name="Rectangle 3"/>
          <p:cNvSpPr/>
          <p:nvPr/>
        </p:nvSpPr>
        <p:spPr>
          <a:xfrm>
            <a:off x="2000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00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1 000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0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публикаций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965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965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444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965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журнала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593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93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2 594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93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тем. записей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00000" y="1380000"/>
          <a:ext cx="10550000" cy="3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650000"/>
                <a:gridCol w="6600000"/>
                <a:gridCol w="800000"/>
              </a:tblGrid>
              <a:tr h="33888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Журнал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Публ.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Устойчивые темы (≥20%)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Перифер.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CA Cancer Journal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Global Cancer Incidence (100%), Colorectal Screening (79%)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Bioinformatics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&amp; Phylogenetic Studies (90%)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BMJ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Meta-analysis &amp; Systematic Reviews (91%)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Physical Review B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Advanced Chemical Physics Studies (85%)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J. Chemical Physics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Chemical Physics (62%), Spectroscopy (56%)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Nucleic Acids Res.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(54%), Bioinformatics Networks (31%)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Nature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51</a:t>
                      </a:r>
                    </a:p>
                  </a:txBody>
                  <a:tcPr/>
                </a:tc>
              </a:tr>
              <a:tr h="338896">
                <a:tc>
                  <a:txBody>
                    <a:bodyPr wrap="square"/>
                    <a:lstStyle/>
                    <a:p>
                      <a:r>
                        <a:rPr sz="850" b="0"/>
                        <a:t>Science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200000" y="4510000"/>
            <a:ext cx="5794476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493D"/>
                </a:solidFill>
              </a:rPr>
              <a:t>Растущие темы (2013–2024 vs 2000–2012)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0000" y="478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0000" y="481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Neural Network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000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0 →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0000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новая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0000" y="520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523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COVID-19 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000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0 →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0000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новая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0000" y="562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000" y="565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Domain Adaptation &amp; Few-Shot Learning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000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3 → 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000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×4.8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0000" y="604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607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Cancer Incidence &amp; Screening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000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3 → 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0000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×4.2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4476" y="4510000"/>
            <a:ext cx="5794476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83333"/>
                </a:solidFill>
              </a:rPr>
              <a:t>Угасающие темы (исчезли после 2012)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4476" y="478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76" y="481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Advanced Chemical Physics Studies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4476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10 → 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4476" y="520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54476" y="523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Graphene research and applications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54476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8 → 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4476" y="562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76" y="565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Advancements in Battery Materials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76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4 → 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4476" y="604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76" y="607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Genomics and Chromatin Dynamics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76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4 →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7033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Оптимизация производительности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16052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requestAnimationFrame — карта и граф не блокируют UI
• ijson — потоковое чтение 200 МБ JSON без MemoryError
• gzip-сжатие ответов API — объём меньше в 5–10 раз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7772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journals  </a:t>
            </a:r>
            <a:r>
              <a:rPr sz="1400">
                <a:solidFill>
                  <a:srgbClr val="122017"/>
                </a:solidFill>
                <a:latin typeface="Calibri"/>
              </a:rPr>
              <a:t>— Научные журналы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name, issn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Публикации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title, doi, year, abstract, journal_id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persons  </a:t>
            </a:r>
            <a:r>
              <a:rPr sz="1400">
                <a:solidFill>
                  <a:srgbClr val="122017"/>
                </a:solidFill>
                <a:latin typeface="Calibri"/>
              </a:rPr>
              <a:t>— Авторы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full_name, orcid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affiliations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Организации + координаты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institution, latitude, longitude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publication_authors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Публикация ↔ Автор (N:M)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publication_id, person_id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publication_topics  </a:t>
            </a:r>
            <a:r>
              <a:rPr sz="1400">
                <a:solidFill>
                  <a:srgbClr val="122017"/>
                </a:solidFill>
                <a:latin typeface="Calibri"/>
              </a:rPr>
              <a:t>— Тематические классификаторы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topic_name, score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publication_keywords  </a:t>
            </a:r>
            <a:r>
              <a:rPr sz="1400">
                <a:solidFill>
                  <a:srgbClr val="122017"/>
                </a:solidFill>
                <a:latin typeface="Calibri"/>
              </a:rPr>
              <a:t>— Ключевые слова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keyword_name,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Разработанная система позволяет перейти от плоского списка статей
к структурированному представлению научного ландшафта:
карте с географией исследований и графу авторских и тематических связей.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00000" y="720000"/>
          <a:ext cx="11788950" cy="603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0000"/>
                <a:gridCol w="968895"/>
                <a:gridCol w="968895"/>
                <a:gridCol w="968895"/>
                <a:gridCol w="968895"/>
                <a:gridCol w="968895"/>
                <a:gridCol w="968895"/>
                <a:gridCol w="968895"/>
                <a:gridCol w="968895"/>
                <a:gridCol w="968895"/>
                <a:gridCol w="968895"/>
              </a:tblGrid>
              <a:tr h="670888"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Десктоп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Десктоп
+Java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R-пакет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Десктоп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Веб
(freemium)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5 гр./мес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5 карт/мес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Установка 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Источник 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WoS/
Scopus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WoS/
Scopus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Semantic
Scholar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OpenAlex
и др.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Файлы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225 млн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Semantic
Scholar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OpenAlex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Semantic
Scholar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Карта 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Страны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Страны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Страны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Страны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 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Граф 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 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88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Фасет. 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Частично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✓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70896"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Похожие статьи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Цит.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Цит.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Цит.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0"/>
                        <a:t>Цит.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700" b="1">
                          <a:solidFill>
                            <a:srgbClr val="1F493D"/>
                          </a:solidFill>
                        </a:rPr>
                        <a:t>✓ 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