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8" r:id="rId9"/>
    <p:sldId id="257" r:id="rId8"/>
    <p:sldId id="269" r:id="rId20"/>
    <p:sldId id="268" r:id="rId1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3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9" Type="http://schemas.openxmlformats.org/officeDocument/2006/relationships/slide" Target="slides/slide6.xml"/><Relationship Id="rId20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FE0D6"/>
                </a:solidFill>
                <a:latin typeface="Calibri"/>
              </a:rPr>
              <a:t>OpenAlex  ·  PostgreSQL  ·  Python  ·  Plotly  ·  SVG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• Собраны данные из открытого API OpenAlex
• Спроектирована и наполнена реляционная база данных
• Выполнена географическая привязка организаций авторов
• Реализована интерактивная карта публикаций
• Построен граф связей между публикациями, авторами и журналами
• Разработаны серверный API и веб-интерфейс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500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500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0000" y="680000"/>
          <a:ext cx="1198895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0000"/>
                <a:gridCol w="1063895"/>
                <a:gridCol w="1063895"/>
                <a:gridCol w="1063895"/>
                <a:gridCol w="1063895"/>
                <a:gridCol w="1063895"/>
                <a:gridCol w="1063895"/>
                <a:gridCol w="1063895"/>
                <a:gridCol w="1063895"/>
                <a:gridCol w="1063895"/>
                <a:gridCol w="1063895"/>
              </a:tblGrid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2024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графов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карт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
и другие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Импорт
файлов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225 млн
статей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координаты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режимов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признаков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0000" y="130000"/>
            <a:ext cx="11788952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Анализ публикационной активности (данные OpenAlex, n=1000)</a:t>
            </a:r>
          </a:p>
        </p:txBody>
      </p:sp>
      <p:sp>
        <p:nvSpPr>
          <p:cNvPr id="4" name="Rectangle 3"/>
          <p:cNvSpPr/>
          <p:nvPr/>
        </p:nvSpPr>
        <p:spPr>
          <a:xfrm>
            <a:off x="20000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000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1 000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000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публикаций</a:t>
            </a:r>
          </a:p>
        </p:txBody>
      </p:sp>
      <p:sp>
        <p:nvSpPr>
          <p:cNvPr id="7" name="Rectangle 6"/>
          <p:cNvSpPr/>
          <p:nvPr/>
        </p:nvSpPr>
        <p:spPr>
          <a:xfrm>
            <a:off x="412965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965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444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965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журнала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5930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930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2 594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930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тем. записей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200000" y="1380000"/>
          <a:ext cx="10550000" cy="30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/>
                <a:gridCol w="650000"/>
                <a:gridCol w="6600000"/>
                <a:gridCol w="800000"/>
              </a:tblGrid>
              <a:tr h="338888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Журнал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Публ.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Устойчивые темы (≥20%)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Перифер.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CA Cancer Journal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Global Cancer Incidence (100%), Colorectal Screening (79%)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/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Bioinformatics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21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Genomics &amp; Phylogenetic Studies (90%)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BMJ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Meta-analysis &amp; Systematic Reviews (91%)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/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Physical Review B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Advanced Chemical Physics Studies (85%)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J. Chemical Physics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16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Chemical Physics (62%), Spectroscopy (56%)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/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Nucleic Acids Res.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Genomics (54%), Bioinformatics Networks (31%)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Nature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24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нет устойчивых тем — мультидисциплинарный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51</a:t>
                      </a:r>
                    </a:p>
                  </a:txBody>
                  <a:tcPr/>
                </a:tc>
              </a:tr>
              <a:tr h="338896">
                <a:tc>
                  <a:txBody>
                    <a:bodyPr wrap="square"/>
                    <a:lstStyle/>
                    <a:p>
                      <a:r>
                        <a:rPr sz="850" b="0"/>
                        <a:t>Science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17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нет устойчивых тем — мультидисциплинарный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35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200000" y="4510000"/>
            <a:ext cx="5794476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F493D"/>
                </a:solidFill>
              </a:rPr>
              <a:t>Растущие темы (2013–2024 vs 2000–2012)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0000" y="478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0000" y="481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Neural Network Applications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000" y="499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0 → 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0000" y="499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новая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0000" y="520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0000" y="523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COVID-19 Research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000" y="541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0 →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0000" y="541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новая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0000" y="562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0000" y="565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Domain Adaptation &amp; Few-Shot Learning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000" y="583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3 → 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0000" y="583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×4.8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0000" y="604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0000" y="607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Cancer Incidence &amp; Screening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000" y="625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3 → 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0000" y="625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×4.2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4476" y="4510000"/>
            <a:ext cx="5794476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883333"/>
                </a:solidFill>
              </a:rPr>
              <a:t>Угасающие темы (исчезли после 2012)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94476" y="478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54476" y="481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Advanced Chemical Physics Studies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54476" y="499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10 → 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94476" y="520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54476" y="523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Graphene research and applications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54476" y="541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8 → 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4476" y="562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76" y="565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Advancements in Battery Materials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54476" y="583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4 → 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94476" y="604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54476" y="607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Genomics and Chromatin Dynamics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54476" y="625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4 → 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3703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Геокодирование аффилиаций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1605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Этап 1: OpenAlex /institutions API — батчи по 100 ID → 78% покрытие
Этап 2: Photon (OpenStreetMap) по строке названия → итого 80,8%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370332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Оптимизация производительности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16052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/>
              <a:t>Обоснование технологий:
• PostgreSQL — реляционные связи и JOIN-запросы для фасетной фильтрации
• SVG без библиотек — нужна колоночная раскладка (force-directed даёт хаос при 70+ узлах)
• OpenAlex — единственный бесплатный источник с аффилиациями и API учреждений
• gzip — ответы API меньше в 5–10 раз; ijson — чтение 200 МБ без MemoryError
• requestAnimationFrame — отрисовка не блокирует интерфейс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База данных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7772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journals  </a:t>
            </a:r>
            <a:r>
              <a:rPr sz="1400">
                <a:solidFill>
                  <a:srgbClr val="122017"/>
                </a:solidFill>
                <a:latin typeface="Calibri"/>
              </a:rPr>
              <a:t>— Научные журналы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openalex_id, name, issn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publications  </a:t>
            </a:r>
            <a:r>
              <a:rPr sz="1400">
                <a:solidFill>
                  <a:srgbClr val="122017"/>
                </a:solidFill>
                <a:latin typeface="Calibri"/>
              </a:rPr>
              <a:t>— Публикации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title, doi, year, abstract, journal_id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persons  </a:t>
            </a:r>
            <a:r>
              <a:rPr sz="1400">
                <a:solidFill>
                  <a:srgbClr val="122017"/>
                </a:solidFill>
                <a:latin typeface="Calibri"/>
              </a:rPr>
              <a:t>— Авторы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openalex_id, full_name, orcid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affiliations  </a:t>
            </a:r>
            <a:r>
              <a:rPr sz="1400">
                <a:solidFill>
                  <a:srgbClr val="122017"/>
                </a:solidFill>
                <a:latin typeface="Calibri"/>
              </a:rPr>
              <a:t>— Организации + координаты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institution, latitude, longitude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publication_authors  </a:t>
            </a:r>
            <a:r>
              <a:rPr sz="1400">
                <a:solidFill>
                  <a:srgbClr val="122017"/>
                </a:solidFill>
                <a:latin typeface="Calibri"/>
              </a:rPr>
              <a:t>— Публикация ↔ Автор (N:M)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publication_id, person_id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publication_topics  </a:t>
            </a:r>
            <a:r>
              <a:rPr sz="1400">
                <a:solidFill>
                  <a:srgbClr val="122017"/>
                </a:solidFill>
                <a:latin typeface="Calibri"/>
              </a:rPr>
              <a:t>— Тематические классификаторы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topic_name, score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publication_keywords  </a:t>
            </a:r>
            <a:r>
              <a:rPr sz="1400">
                <a:solidFill>
                  <a:srgbClr val="122017"/>
                </a:solidFill>
                <a:latin typeface="Calibri"/>
              </a:rPr>
              <a:t>— Ключевые слова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keyword_name,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430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Конфигурация: pg_config.py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2017"/>
                </a:solidFill>
                <a:latin typeface="Calibri"/>
              </a:rPr>
              <a:t>PG_CONFIG = {
  "host": "localhost",
  "port": 5432,
  "dbname": "openalex_db",
  "client_encoding": "utf8"
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7166"/>
                </a:solidFill>
                <a:latin typeface="Calibri"/>
              </a:rPr>
              <a:t>client_encoding: utf8 — обязателен
на Windows (иначе UnicodeDecodeError)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989320"/>
            <a:ext cx="7772400" cy="5486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035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Загрузка: ijson (потоковое чтение 200 МБ) + SAVEPOINT при конфликтах DOI → 9 994 публикаций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Географическая привязка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39496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1 — OpenAlex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GET /institutions?filter=ids.openalex:I1|I2|...
• Батчи по 100 institution_id
• Пауза 0,5 сек между запросами
• Кэш: geo_cache.json
Результат: 7 822 / 9 994 публикаций (78%)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828800"/>
            <a:ext cx="822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77166"/>
                </a:solidFill>
                <a:latin typeface="Calibri"/>
              </a:rPr>
              <a:t>→
не хватает
22%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097280"/>
            <a:ext cx="50292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1887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Photon (OpenStreetMap)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69164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Для строк без institution_id:
GET photon.komoot.io/api/?q=&lt;название&gt;
Стратегия сокращения строки:
полная → последние 3 части → 2 части
Координаты GeoJSON: [lon, lat] → переставить
Результат: +255 публикаций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49039"/>
            <a:ext cx="11430000" cy="64008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822191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Итог: 8 077 из 9 994 публикаций с координатами — 80,8% покрытие карты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5262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77166"/>
                </a:solidFill>
                <a:latin typeface="Calibri"/>
              </a:rPr>
              <a:t>Примечание: Nominatim заблокировал IP (HTTP 403) после нескольких прогонов — переключились на Photon</a:t>
            </a:r>
          </a:p>
          <a:p>
            <a:r>
              <a:rPr sz="1000">
                <a:solidFill>
                  <a:srgbClr val="557766"/>
                </a:solidFill>
              </a:rPr>
              <a:t>
Почему не 100%: часть аффилиаций — строки без топонима (напр. «Department of Physics»). Геокодер не может определить координаты без названия места.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1663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Приоритизация: первыми обрабатываются организации, которые «разблокируют» наибольшее число публикаций без координат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C1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09728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114300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Нормализация: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7315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— lowercase + trim пробелов.
«MIT» и «mit» = одно и то же. score = 0 → статья не показывается.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21208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Где видно:
Правая панель + режим графа «Похожие статьи»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Веб-интерфейс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Левая панель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Фильтры (год, журнал,
автор, аффилиация)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Список статей (до 200)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Кнопки: Карта / Граф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База данных (внизу)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Центр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Карта — Plotly scatter_geo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Граф — SVG, 5 режимов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Переключение кнопками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Правая панель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Детали статьи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Авторы, аффилиации,
темы, ключевые слова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Аннотация (по запросу)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Похожие статьи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897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77166"/>
                </a:solidFill>
                <a:latin typeface="Calibri"/>
              </a:rPr>
              <a:t>Фасетные фильтры: каждый список показывает только доступные варианты с учётом остальных фильтров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8978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3613F"/>
                </a:solidFill>
                <a:latin typeface="Calibri"/>
              </a:rPr>
              <a:t>Тёмная / светлая тема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Проблемы и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Файл 201 МБ:  </a:t>
            </a:r>
            <a:r>
              <a:rPr sz="1400">
                <a:solidFill>
                  <a:srgbClr val="122017"/>
                </a:solidFill>
                <a:latin typeface="Calibri"/>
              </a:rPr>
              <a:t>GitHub отклонял push  →  git filter-branch + .gitignore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MemoryError:  </a:t>
            </a:r>
            <a:r>
              <a:rPr sz="1400">
                <a:solidFill>
                  <a:srgbClr val="122017"/>
                </a:solidFill>
                <a:latin typeface="Calibri"/>
              </a:rPr>
              <a:t>JSON не помещался в RAM  →  ijson — потоковое чтение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Браузер обрывал соединение:  </a:t>
            </a:r>
            <a:r>
              <a:rPr sz="1400">
                <a:solidFill>
                  <a:srgbClr val="122017"/>
                </a:solidFill>
                <a:latin typeface="Calibri"/>
              </a:rPr>
              <a:t>Большой JSON-ответ API  →  gzip-сжатие в сервере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Страница зависала:  </a:t>
            </a:r>
            <a:r>
              <a:rPr sz="1400">
                <a:solidFill>
                  <a:srgbClr val="122017"/>
                </a:solidFill>
                <a:latin typeface="Calibri"/>
              </a:rPr>
              <a:t>O(n²) подсчёт связей  →  Вычисление только по запросу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IP заблокирован:  </a:t>
            </a:r>
            <a:r>
              <a:rPr sz="1400">
                <a:solidFill>
                  <a:srgbClr val="122017"/>
                </a:solidFill>
                <a:latin typeface="Calibri"/>
              </a:rPr>
              <a:t>Nominatim HTTP 403  →  Переход на Photon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UnicodeDecodeError:  </a:t>
            </a:r>
            <a:r>
              <a:rPr sz="1400">
                <a:solidFill>
                  <a:srgbClr val="122017"/>
                </a:solidFill>
                <a:latin typeface="Calibri"/>
              </a:rPr>
              <a:t>cp1251 на Windows  →  client_encoding: utf8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Нет места на диске:  </a:t>
            </a:r>
            <a:r>
              <a:rPr sz="1400">
                <a:solidFill>
                  <a:srgbClr val="122017"/>
                </a:solidFill>
                <a:latin typeface="Calibri"/>
              </a:rPr>
              <a:t>git операции падали  →  Очистка %temp%</a:t>
            </a:r>
          </a:p>
          <a:p>
            <a:r>
              <a:rPr sz="1000">
                <a:solidFill>
                  <a:srgbClr val="557766"/>
                </a:solidFill>
              </a:rPr>
              <a:t>
Почему не 100%: часть аффилиаций — строки без топонима (напр. «Department of Physics»). Геокодер не может определить координаты без названия места.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Все 6 задач решены в полном объёме.
Разработанная система позволяет перейти от плоского списка статей
к структурированному представлению научного ландшафта:
карте с географией исследований и графу авторских и тематических связей.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0D6"/>
                </a:solidFill>
                <a:latin typeface="Calibri"/>
              </a:rPr>
              <a:t>REST API  ·  Фасетные фильтры  ·  Тёмная тема  ·  gzip-сжатие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Веб-приложение: http://127.0.0.1:8000  |  Запуск: python openalex_server.py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