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png" ContentType="image/pn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74" r:id="rId21"/>
    <p:sldId id="257" r:id="rId4"/>
    <p:sldId id="269" r:id="rId5"/>
    <p:sldId id="259" r:id="rId7"/>
    <p:sldId id="271" r:id="rId6"/>
    <p:sldId id="261" r:id="rId9"/>
    <p:sldId id="262" r:id="rId10"/>
    <p:sldId id="263" r:id="rId11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9.xml"/><Relationship Id="rId7" Type="http://schemas.openxmlformats.org/officeDocument/2006/relationships/slide" Target="slides/slide7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image" Target="../media/image_er.png"/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47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2" name="pb12"/>
          <p:cNvSpPr txBox="1"/>
          <p:nvPr/>
        </p:nvSpPr>
        <p:spPr>
          <a:xfrm>
            <a:off x="47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3" name="pb13"/>
          <p:cNvSpPr txBox="1"/>
          <p:nvPr/>
        </p:nvSpPr>
        <p:spPr>
          <a:xfrm>
            <a:off x="36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700" dirty="0" smtClean="0">
                <a:solidFill>
                  <a:srgbClr val="CFE0D6"/>
                </a:solidFill>
                <a:latin typeface="Calibri"/>
              </a:rPr>
              <a:t>Студент: Сурнова Варвара Сергеевна</a:t>
            </a:r>
          </a:p>
          <a:p>
            <a:pPr algn="ctr"/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Научный руководитель: </a:t>
            </a:r>
            <a:r>
              <a:rPr lang="ru-RU" sz="1700" b="0" i="0" dirty="0" err="1" smtClean="0">
                <a:solidFill>
                  <a:srgbClr val="CFE0D6"/>
                </a:solidFill>
                <a:latin typeface="Calibri"/>
              </a:rPr>
              <a:t>Атаева</a:t>
            </a:r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 Ольга Муратовна</a:t>
            </a:r>
            <a:endParaRPr sz="1700" b="0" i="0" dirty="0">
              <a:solidFill>
                <a:srgbClr val="CFE0D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4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2" name="pb22"/>
          <p:cNvSpPr txBox="1"/>
          <p:nvPr/>
        </p:nvSpPr>
        <p:spPr>
          <a:xfrm>
            <a:off x="149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3" name="pb23"/>
          <p:cNvSpPr txBox="1"/>
          <p:nvPr/>
        </p:nvSpPr>
        <p:spPr>
          <a:xfrm>
            <a:off x="138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50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2" name="pb32"/>
          <p:cNvSpPr txBox="1"/>
          <p:nvPr/>
        </p:nvSpPr>
        <p:spPr>
          <a:xfrm>
            <a:off x="250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3" name="pb33"/>
          <p:cNvSpPr txBox="1"/>
          <p:nvPr/>
        </p:nvSpPr>
        <p:spPr>
          <a:xfrm>
            <a:off x="240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4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после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52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2" name="pb4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3" name="pb4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2" name="pb52"/>
          <p:cNvSpPr txBox="1"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3" name="pb53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 cx="12092000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657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2" name="pb72"/>
          <p:cNvSpPr txBox="1"/>
          <p:nvPr/>
        </p:nvSpPr>
        <p:spPr>
          <a:xfrm>
            <a:off x="657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3" name="pb73"/>
          <p:cNvSpPr txBox="1"/>
          <p:nvPr/>
        </p:nvSpPr>
        <p:spPr>
          <a:xfrm>
            <a:off x="646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58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2" name="pb9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3" name="pb9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83" y="1005841"/>
            <a:ext cx="11093749" cy="568019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60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2" name="pb102"/>
          <p:cNvSpPr txBox="1"/>
          <p:nvPr/>
        </p:nvSpPr>
        <p:spPr>
          <a:xfrm>
            <a:off x="860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3" name="pb103"/>
          <p:cNvSpPr txBox="1"/>
          <p:nvPr/>
        </p:nvSpPr>
        <p:spPr>
          <a:xfrm>
            <a:off x="849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083600"/>
            <a:ext cx="115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962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2" name="pb112"/>
          <p:cNvSpPr txBox="1"/>
          <p:nvPr/>
        </p:nvSpPr>
        <p:spPr>
          <a:xfrm>
            <a:off x="962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3" name="pb113"/>
          <p:cNvSpPr txBox="1"/>
          <p:nvPr/>
        </p:nvSpPr>
        <p:spPr>
          <a:xfrm>
            <a:off x="951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9114" name="TextBox 9114"/>
          <p:cNvSpPr txBox="1"/>
          <p:nvPr/>
        </p:nvSpPr>
        <p:spPr>
          <a:xfrm>
            <a:off x="548640" y="556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latin typeface="Calibri"/>
                <a:solidFill>
                  <a:srgbClr val="FFFFFF"/>
                </a:solidFill>
              </a:rPr>
              <a:t>Типы связей:</a:t>
            </a:r>
          </a:p>
        </p:txBody>
      </p:sp>
      <p:sp>
        <p:nvSpPr>
          <p:cNvPr id="9115" name="TextBox 9115"/>
          <p:cNvSpPr txBox="1"/>
          <p:nvPr/>
        </p:nvSpPr>
        <p:spPr>
          <a:xfrm>
            <a:off x="246888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Год → Статья</a:t>
            </a:r>
          </a:p>
        </p:txBody>
      </p:sp>
      <p:sp>
        <p:nvSpPr>
          <p:cNvPr id="9116" name="TextBox 9116"/>
          <p:cNvSpPr txBox="1"/>
          <p:nvPr/>
        </p:nvSpPr>
        <p:spPr>
          <a:xfrm>
            <a:off x="438912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Журнал → Статья</a:t>
            </a:r>
          </a:p>
        </p:txBody>
      </p:sp>
      <p:sp>
        <p:nvSpPr>
          <p:cNvPr id="9117" name="TextBox 9117"/>
          <p:cNvSpPr txBox="1"/>
          <p:nvPr/>
        </p:nvSpPr>
        <p:spPr>
          <a:xfrm>
            <a:off x="630936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Статья → Автор</a:t>
            </a:r>
          </a:p>
        </p:txBody>
      </p:sp>
      <p:sp>
        <p:nvSpPr>
          <p:cNvPr id="9118" name="TextBox 9118"/>
          <p:cNvSpPr txBox="1"/>
          <p:nvPr/>
        </p:nvSpPr>
        <p:spPr>
          <a:xfrm>
            <a:off x="822960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Статья → Аффил.</a:t>
            </a:r>
          </a:p>
        </p:txBody>
      </p:sp>
      <p:sp>
        <p:nvSpPr>
          <p:cNvPr id="9119" name="TextBox 9119"/>
          <p:cNvSpPr txBox="1"/>
          <p:nvPr/>
        </p:nvSpPr>
        <p:spPr>
          <a:xfrm>
            <a:off x="1014984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Статья — Статья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1063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2" name="pb122"/>
          <p:cNvSpPr txBox="1"/>
          <p:nvPr/>
        </p:nvSpPr>
        <p:spPr>
          <a:xfrm>
            <a:off x="1063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3" name="pb123"/>
          <p:cNvSpPr txBox="1"/>
          <p:nvPr/>
        </p:nvSpPr>
        <p:spPr>
          <a:xfrm>
            <a:off x="1052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9124" name="TextBox 9124"/>
          <p:cNvSpPr txBox="1"/>
          <p:nvPr/>
        </p:nvSpPr>
        <p:spPr>
          <a:xfrm>
            <a:off x="360000" y="5900000"/>
            <a:ext cx="11448000" cy="42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</p:spPr>
        <p:txBody>
          <a:bodyPr wrap="square" lIns="91440" rIns="91440" tIns="45720" bIns="45720">
            <a:spAutoFit/>
          </a:bodyPr>
          <a:lstStyle/>
          <a:p>
            <a:pPr algn="l"/>
            <a:r>
              <a:rPr sz="1000" b="0" i="1">
                <a:solidFill>
                  <a:srgbClr val="CFE0D6"/>
                </a:solidFill>
                <a:latin typeface="Calibri"/>
              </a:rPr>
              <a:t>Балл сходства (score) — целое число близости двух статей по 5 признакам; чем выше — тем ближе. score = 0: статья не показывается.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4400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165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