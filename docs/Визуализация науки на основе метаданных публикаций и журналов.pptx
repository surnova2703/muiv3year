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7" r:id="rId18"/>
    <p:sldId id="258" r:id="rId9"/>
    <p:sldId id="257" r:id="rId8"/>
    <p:sldId id="269" r:id="rId20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2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200000"/>
            <a:ext cx="11468952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</a:rPr>
              <a:t>Глоссарий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41636">
                <a:tc>
                  <a:txBody>
                    <a:bodyPr/>
                    <a:lstStyle/>
                    <a:p>
                      <a:r>
                        <a:t>Термин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Определение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Метаданные публикации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Название, авторы, год, журнал, DOI, темы — без полного текста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OpenAlex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Открытый бесплатный каталог научных публикаций; более 250 млн работ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Набор HTTP-запросов для получения данных из внешнего сервиса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DOI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Уникальный цифровой идентификатор научной публикации (10.XXXX/...)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Аффилиация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Организация, с которой связан автор на момент публикации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Геокодирование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Определение географических координат по названию места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Граф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Структура из узлов и рёбер; для визуализации отношений между объектами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REST API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Веб-сервис, где каждый ресурс доступен по URL через GET/POST</a:t>
                      </a:r>
                    </a:p>
                  </a:txBody>
                  <a:tcPr/>
                </a:tc>
              </a:tr>
              <a:tr h="541636">
                <a:tc>
                  <a:txBody>
                    <a:bodyPr wrap="square"/>
                    <a:lstStyle/>
                    <a:p>
                      <a:r>
                        <a:rPr sz="800" b="1"/>
                        <a:t>PostgreSQL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Реляционная СУБД с открытым исходным кодом</a:t>
                      </a:r>
                    </a:p>
                  </a:txBody>
                  <a:tcPr/>
                </a:tc>
              </a:tr>
              <a:tr h="541640">
                <a:tc>
                  <a:txBody>
                    <a:bodyPr wrap="square"/>
                    <a:lstStyle/>
                    <a:p>
                      <a:r>
                        <a:rPr sz="800" b="1"/>
                        <a:t>gzip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 b="0"/>
                        <a:t>Алгоритм сжатия данных; уменьшает объём HTTP-ответов в 5–10 раз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94476" y="750000"/>
          <a:ext cx="5634476" cy="59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7238"/>
                <a:gridCol w="2817238"/>
              </a:tblGrid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Фасетная фильтрация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Выбор в одном фильтре ограничивает варианты в других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SVG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XML-формат векторной графики в браузере; используется для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Cursor pagination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Постраничный обход через токены-курсоры без пропусков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Библиометрия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Количественный анализ публикаций: цитирования, коавторства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Балл сходства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Числовая мера близости двух публикаций по взвешенным признакам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requestAnimationFrame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Браузерный API для тяжёлых операций между кадрами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ijson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Python-библиотека для потокового чтения JSON без загрузки в память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Savepoint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Частичный откат транзакции PostgreSQL без потери остальных данных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Force-directed layout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Физическая симуляция размещения узлов графа</a:t>
                      </a:r>
                    </a:p>
                  </a:txBody>
                  <a:tcPr/>
                </a:tc>
              </a:tr>
              <a:tr h="595800">
                <a:tc>
                  <a:txBody>
                    <a:bodyPr wrap="square"/>
                    <a:lstStyle/>
                    <a:p>
                      <a:r>
                        <a:rPr sz="800" b="1"/>
                        <a:t>Колоночная раскладка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00"/>
                        <a:t>Каждый тип узла занимает фиксированную вертикальную колонку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• Собраны данные из открытого API OpenAlex
• Спроектирована и наполнена реляционная база данных
• Выполнена географическая привязка организаций авторов
• Реализована интерактивная карта публикаций
• Построен граф связей между публикациями, авторами и журналами
• Разработаны серверный API и веб-интерфейс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500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40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  <a:gridCol w="1063895"/>
              </a:tblGrid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  <a:tr h="6128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650000"/>
                <a:gridCol w="6600000"/>
                <a:gridCol w="800000"/>
              </a:tblGrid>
              <a:tr h="33888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  <a:tr h="338888">
                <a:tc>
                  <a:txBody>
                    <a:bodyPr wrap="square"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</a:tr>
              <a:tr h="338896">
                <a:tc>
                  <a:txBody>
                    <a:bodyPr wrap="square"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200000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F493D"/>
                </a:solidFill>
              </a:rPr>
              <a:t>Растущие темы (2013–2024 vs 2000–2012)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000" y="478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000" y="481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Neural Network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000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000" y="520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523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COVID-19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0 →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0000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новая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0000" y="562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000" y="565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Domain Adaptation &amp; Few-Shot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000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0000" y="6040000"/>
            <a:ext cx="5794476" cy="39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6070000"/>
            <a:ext cx="54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F493D"/>
                </a:solidFill>
              </a:rPr>
              <a:t>Cancer Incidence &amp; Screening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3613F"/>
                </a:solidFill>
              </a:rPr>
              <a:t>3 → 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0000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AAD8A"/>
                </a:solidFill>
              </a:rPr>
              <a:t>×4.2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4476" y="4510000"/>
            <a:ext cx="5794476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883333"/>
                </a:solidFill>
              </a:rPr>
              <a:t>Угасающие темы (исчезли после 2012)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4476" y="478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76" y="481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Advanced Chemical Physics Studies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76" y="499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10 → 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4476" y="520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76" y="523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Graphene research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4476" y="541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8 → 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4476" y="562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76" y="565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Advancements in Battery Materials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4476" y="583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4476" y="6040000"/>
            <a:ext cx="5794476" cy="390000"/>
          </a:xfrm>
          <a:prstGeom prst="rect">
            <a:avLst/>
          </a:prstGeom>
          <a:solidFill>
            <a:srgbClr val="FB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76" y="6070000"/>
            <a:ext cx="5594476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2222"/>
                </a:solidFill>
              </a:rPr>
              <a:t>Genomics and Chromatin Dynamics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76" y="6250000"/>
            <a:ext cx="7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4444"/>
                </a:solidFill>
              </a:rPr>
              <a:t>4 →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requestAnimationFrame — карта и граф не блокируют UI
• ijson — потоковое чтение 200 МБ JSON без MemoryError
• gzip-сжатие ответов API — объём меньше в 5–10 раз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journals  </a:t>
            </a:r>
            <a:r>
              <a:rPr sz="1400">
                <a:solidFill>
                  <a:srgbClr val="122017"/>
                </a:solidFill>
                <a:latin typeface="Calibri"/>
              </a:rPr>
              <a:t>— Научные журналы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name, issn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Публикации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title, doi, year, abstract, journal_id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persons  </a:t>
            </a:r>
            <a:r>
              <a:rPr sz="1400">
                <a:solidFill>
                  <a:srgbClr val="122017"/>
                </a:solidFill>
                <a:latin typeface="Calibri"/>
              </a:rPr>
              <a:t>— Авторы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openalex_id, full_name, orcid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affiliations  </a:t>
            </a:r>
            <a:r>
              <a:rPr sz="1400">
                <a:solidFill>
                  <a:srgbClr val="122017"/>
                </a:solidFill>
                <a:latin typeface="Calibri"/>
              </a:rPr>
              <a:t>— Организации + координаты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institution, latitude, longitude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publication_authors  </a:t>
            </a:r>
            <a:r>
              <a:rPr sz="1400">
                <a:solidFill>
                  <a:srgbClr val="122017"/>
                </a:solidFill>
                <a:latin typeface="Calibri"/>
              </a:rPr>
              <a:t>— Публикация ↔ Автор (N:M)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publication_id, person_id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publication_topics  </a:t>
            </a:r>
            <a:r>
              <a:rPr sz="1400">
                <a:solidFill>
                  <a:srgbClr val="122017"/>
                </a:solidFill>
                <a:latin typeface="Calibri"/>
              </a:rPr>
              <a:t>— Тематические классификаторы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topic_name, score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publication_keywords  </a:t>
            </a:r>
            <a:r>
              <a:rPr sz="1400">
                <a:solidFill>
                  <a:srgbClr val="122017"/>
                </a:solidFill>
                <a:latin typeface="Calibri"/>
              </a:rPr>
              <a:t>— Ключевые слова</a:t>
            </a:r>
          </a:p>
          <a:p>
            <a:pPr>
              <a:spcBef>
                <a:spcPts val="0"/>
              </a:spcBef>
            </a:pPr>
            <a:r>
              <a:rPr sz="1200" i="1">
                <a:solidFill>
                  <a:srgbClr val="577166"/>
                </a:solidFill>
                <a:latin typeface="Calibri"/>
              </a:rPr>
              <a:t>    keyword_name,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b="1" sz="1400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b="1" sz="1800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b="1" sz="1500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Все 6 задач решены в полном объёме.
Разработанная система позволяет перейти от плоского списка статей
к структурированному представлению научного ландшафта:
карте с географией исследований и графу авторских и тематических связей.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